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0ceabcaf04e73" /><Relationship Type="http://schemas.openxmlformats.org/officeDocument/2006/relationships/extended-properties" Target="/docProps/app.xml" Id="R93737832cf3648da" /><Relationship Type="http://schemas.openxmlformats.org/officeDocument/2006/relationships/officeDocument" Target="/ppt/presentation.xml" Id="R1a38dffb3a3a42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88ecec57824339"/>
  </p:sldMasterIdLst>
  <p:notesMasterIdLst>
    <p:notesMasterId xmlns:r="http://schemas.openxmlformats.org/officeDocument/2006/relationships" r:id="Rfe69cdc4b375459c"/>
  </p:notesMasterIdLst>
  <p:sldIdLst>
    <p:sldId xmlns:r="http://schemas.openxmlformats.org/officeDocument/2006/relationships" id="256" r:id="R44d7d0eddf594827"/>
    <p:sldId xmlns:r="http://schemas.openxmlformats.org/officeDocument/2006/relationships" id="257" r:id="Rad97c4bb6da84e34"/>
    <p:sldId xmlns:r="http://schemas.openxmlformats.org/officeDocument/2006/relationships" id="258" r:id="R8d1133b690844b1f"/>
    <p:sldId xmlns:r="http://schemas.openxmlformats.org/officeDocument/2006/relationships" id="259" r:id="Rfa9770b545e84b30"/>
    <p:sldId xmlns:r="http://schemas.openxmlformats.org/officeDocument/2006/relationships" id="260" r:id="R02ce8631ffd242b8"/>
    <p:sldId xmlns:r="http://schemas.openxmlformats.org/officeDocument/2006/relationships" id="261" r:id="R2ccb598d3ff54579"/>
    <p:sldId xmlns:r="http://schemas.openxmlformats.org/officeDocument/2006/relationships" id="262" r:id="Rb9651fa6bfaa49ca"/>
    <p:sldId xmlns:r="http://schemas.openxmlformats.org/officeDocument/2006/relationships" id="263" r:id="Rade521c65eb34eea"/>
    <p:sldId xmlns:r="http://schemas.openxmlformats.org/officeDocument/2006/relationships" id="264" r:id="Rd1f71fe46cfd4b5f"/>
    <p:sldId xmlns:r="http://schemas.openxmlformats.org/officeDocument/2006/relationships" id="265" r:id="R9cf8dae3b01e4b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e337828c74612" /><Relationship Type="http://schemas.openxmlformats.org/officeDocument/2006/relationships/slideMaster" Target="/ppt/slideMasters/slideMaster1.xml" Id="R7188ecec57824339" /><Relationship Type="http://schemas.openxmlformats.org/officeDocument/2006/relationships/notesMaster" Target="/ppt/notesMasters/notesMaster1.xml" Id="Rfe69cdc4b375459c" /><Relationship Type="http://schemas.openxmlformats.org/officeDocument/2006/relationships/presProps" Target="/ppt/presProps.xml" Id="Rbaa2f40317994ab0" /><Relationship Type="http://schemas.openxmlformats.org/officeDocument/2006/relationships/tableStyles" Target="/ppt/tableStyles.xml" Id="Re3738c8a6f6547d7" /><Relationship Type="http://schemas.openxmlformats.org/officeDocument/2006/relationships/slide" Target="/ppt/slides/slide1.xml" Id="R44d7d0eddf594827" /><Relationship Type="http://schemas.openxmlformats.org/officeDocument/2006/relationships/slide" Target="/ppt/slides/slide2.xml" Id="Rad97c4bb6da84e34" /><Relationship Type="http://schemas.openxmlformats.org/officeDocument/2006/relationships/slide" Target="/ppt/slides/slide3.xml" Id="R8d1133b690844b1f" /><Relationship Type="http://schemas.openxmlformats.org/officeDocument/2006/relationships/slide" Target="/ppt/slides/slide4.xml" Id="Rfa9770b545e84b30" /><Relationship Type="http://schemas.openxmlformats.org/officeDocument/2006/relationships/slide" Target="/ppt/slides/slide5.xml" Id="R02ce8631ffd242b8" /><Relationship Type="http://schemas.openxmlformats.org/officeDocument/2006/relationships/slide" Target="/ppt/slides/slide6.xml" Id="R2ccb598d3ff54579" /><Relationship Type="http://schemas.openxmlformats.org/officeDocument/2006/relationships/slide" Target="/ppt/slides/slide7.xml" Id="Rb9651fa6bfaa49ca" /><Relationship Type="http://schemas.openxmlformats.org/officeDocument/2006/relationships/slide" Target="/ppt/slides/slide8.xml" Id="Rade521c65eb34eea" /><Relationship Type="http://schemas.openxmlformats.org/officeDocument/2006/relationships/slide" Target="/ppt/slides/slide9.xml" Id="Rd1f71fe46cfd4b5f" /><Relationship Type="http://schemas.openxmlformats.org/officeDocument/2006/relationships/slide" Target="/ppt/slides/slide10.xml" Id="R9cf8dae3b01e4b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7508cc1673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06f7bd8ff04430" /><Relationship Type="http://schemas.openxmlformats.org/officeDocument/2006/relationships/notesMaster" Target="/ppt/notesMasters/notesMaster1.xml" Id="Rc563dd783ce744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c68df33c840aa" /><Relationship Type="http://schemas.openxmlformats.org/officeDocument/2006/relationships/notesMaster" Target="/ppt/notesMasters/notesMaster1.xml" Id="R1bdabb2c964044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0af3576f6f4f75" /><Relationship Type="http://schemas.openxmlformats.org/officeDocument/2006/relationships/notesMaster" Target="/ppt/notesMasters/notesMaster1.xml" Id="R99aaf4394f5343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7de2d04e884885" /><Relationship Type="http://schemas.openxmlformats.org/officeDocument/2006/relationships/notesMaster" Target="/ppt/notesMasters/notesMaster1.xml" Id="Re038a82e8cb940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6280e1f85642c4" /><Relationship Type="http://schemas.openxmlformats.org/officeDocument/2006/relationships/notesMaster" Target="/ppt/notesMasters/notesMaster1.xml" Id="Ra931c783496a40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9bcbfe5d0494c" /><Relationship Type="http://schemas.openxmlformats.org/officeDocument/2006/relationships/notesMaster" Target="/ppt/notesMasters/notesMaster1.xml" Id="Rddcf8588f67a45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f87e18ad04b32" /><Relationship Type="http://schemas.openxmlformats.org/officeDocument/2006/relationships/notesMaster" Target="/ppt/notesMasters/notesMaster1.xml" Id="R79d3c7c37b4d40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623b8b6607469a" /><Relationship Type="http://schemas.openxmlformats.org/officeDocument/2006/relationships/notesMaster" Target="/ppt/notesMasters/notesMaster1.xml" Id="R9d256b4b06194b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d3a2712ce04afe" /><Relationship Type="http://schemas.openxmlformats.org/officeDocument/2006/relationships/notesMaster" Target="/ppt/notesMasters/notesMaster1.xml" Id="R516124c19de548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28e06b47e148de" /><Relationship Type="http://schemas.openxmlformats.org/officeDocument/2006/relationships/notesMaster" Target="/ppt/notesMasters/notesMaster1.xml" Id="R49c8c11524024e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开场直接回答 C1：SM100 值得利用，但不值得把 FlashKDA 整体机械改成 tcgen05。B300 上首要问题是 K2 只有 12 个 CTA 喂 148 个 SM。ValueSlice 先把 grid 扩到 96 CTA，随后 Phase-6 P4 和按初态合约选择的 Phase-1 lookahead 继续改善 CTA 内 load-use 调度。Job19934 中完整候选相对同作业 V128 的首段和续段 full-forward 分别降时 37.23% 和 45.52%。它默认关闭，而且无初态双流 joined pair 回归 1.52%，所以本次交付是有边界的低并发 latency 候选，不是普遍 serving 默认。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team-projects/kimi-kda/docs/c1-final/FINAL_REPORT.md</a:t>
            </a:r>
          </a:p>
          <a:p xmlns:a="http://schemas.openxmlformats.org/drawingml/2006/main">
            <a:r>
              <a:t>- team-projects/kimi-kda/experiments/final_campaign/data/raw/03_tcgen05_probe_17937.csv</a:t>
            </a:r>
          </a:p>
          <a:p xmlns:a="http://schemas.openxmlformats.org/drawingml/2006/main">
            <a:r>
              <a:t>- team-projects/kimi-kda/experiments/final_campaign/data/raw/05_dispatch_upgrade_17947.csv</a:t>
            </a:r>
          </a:p>
          <a:p xmlns:a="http://schemas.openxmlformats.org/drawingml/2006/main">
            <a:r>
              <a:t>- team-projects/kimi-kda/experiments/final_campaign/data/raw/05_targeted_ncu_summary_17965.csv</a:t>
            </a:r>
          </a:p>
          <a:p xmlns:a="http://schemas.openxmlformats.org/drawingml/2006/main">
            <a:r>
              <a:t>- team-projects/kimi-kda/experiments/mainline_20260905/data/clean_19934.log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第一阶段先避免在错误基线上优化。我们用官方 commit、官方 warmup 和 repeat 口径，在 B300 重跑 H96 与 H64 的 fixed、ragged6、8×1024。FlashKDA 比 FLA chunk KDA 快 1.79 到 3.42 倍；H96 fixed 是 1.0304 毫秒。也就是说官方实现已经很强，SM100 重写必须越过一个高基线，而不是只展示理论峰值。官方 worktree 与补丁扩展分离，后续 parity 也确认 baseline 没被污染。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team-projects/kimi-kda/experiments/final_campaign/data/raw/01_official_benchmark_17926.log</a:t>
            </a:r>
          </a:p>
          <a:p xmlns:a="http://schemas.openxmlformats.org/drawingml/2006/main">
            <a:r>
              <a:t>- 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反汇编确认题面：K2 里有 3640 条静态 HMMA.16816 BF16，没有 TCGEN 或 UTCMMA。但这只说明用了旧 MMA atom，不等于它就是瓶颈。K3 有 96 个 KDA heads；在 TP8 代表形状上每卡 H12，而官方 K2 grid 是 sequence 乘 head，所以单请求仅 12 CTA，最多覆盖 148 个 SM 的 8.1%。NCU 中 SM 与 DRAM throughput 只有 2.64% 和 1.24%。ValueSlice 扩到 96 CTA 后 duration 降 29%，所以首要边界是 grid underfill、chunk recurrence critical path 与 CTA 内等待，而不是峰值 Tensor Core 或 HBM。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team-projects/kimi-kda/experiments/final_campaign/data/raw/05_targeted_ncu_metrics_17965.csv</a:t>
            </a:r>
          </a:p>
          <a:p xmlns:a="http://schemas.openxmlformats.org/drawingml/2006/main">
            <a:r>
              <a:t>- team-projects/kimi-kda/experiments/final_campaign/data/raw/05_targeted_ncu_summary_17965.csv</a:t>
            </a:r>
          </a:p>
          <a:p xmlns:a="http://schemas.openxmlformats.org/drawingml/2006/main">
            <a:r>
              <a:t>- team-projects/kimi-kda/experiments/data/sass_opcode_summary.csv</a:t>
            </a:r>
          </a:p>
          <a:p xmlns:a="http://schemas.openxmlformats.org/drawingml/2006/main">
            <a:r>
              <a:t>- https://github.com/MoonshotAI/Kimi-K3</a:t>
            </a:r>
          </a:p>
          <a:p xmlns:a="http://schemas.openxmlformats.org/drawingml/2006/main">
            <a:r>
              <a:t>- https://arxiv.org/abs/2607.24653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CHUNK16 同时耦合指数范围、16×16 Neumann inverse 与 m16n8k16 形状。把常量改成 32 或 64，最先破的是当前没有 rescale 的指数恢复：在 lower bound 负五的分析条件下，两者都从 token 18 开始出现 FTZ 和 overflow。其次，若把现有密集 Neumann 幂级数朴素延伸，每序列代价变成 5.33 和 26.67 倍。workspace 只从每 head 6.75 MiB 增到 8.06 MiB，不是先撞上的墙。FLA 小探针说明 block/rescale 能做对，但那已经是算法重设，不是简单迁移。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team-projects/kimi-kda/experiments/final_campaign/data/raw/04_chunk_analysis_17935.csv</a:t>
            </a:r>
          </a:p>
          <a:p xmlns:a="http://schemas.openxmlformats.org/drawingml/2006/main">
            <a:r>
              <a:t>- team-projects/kimi-kda/experiments/final_campaign/data/raw/04_chunk_analysis_17935.log</a:t>
            </a:r>
          </a:p>
          <a:p xmlns:a="http://schemas.openxmlformats.org/drawingml/2006/main">
            <a:r>
              <a:t>- 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tcgen05 不是与 CHUNK16 完全不匹配。BF16 CTA-group1 支持 K16，Phase6 的 128×16 乘 16×V 正好能映射到 m128nVk16；所以我们专门挑了这个最有利 phase。L0 让两边进入计算时各自拥有偏好的片上布局，对 tcgen05 是乐观口径。即使把 alloc、commit、wait 和 TMEM 读回的固定成本摊薄 64 次，K3 的 V128 在 grid12 只有 0.920 倍，在 grid148 只有 0.904 倍，小于一代表比 mma.sync 慢。因此 direct swap 停止。但它仍留下一个更高门槛的问题：跨多个 phase 共用转置布局与 TMEM 生命周期，未来可以重新开题。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team-projects/kimi-kda/experiments/final_campaign/analysis_tcgen05.md</a:t>
            </a:r>
          </a:p>
          <a:p xmlns:a="http://schemas.openxmlformats.org/drawingml/2006/main">
            <a:r>
              <a:t>- team-projects/kimi-kda/experiments/final_campaign/data/raw/03_tcgen05_probe_17937.csv</a:t>
            </a:r>
          </a:p>
          <a:p xmlns:a="http://schemas.openxmlformats.org/drawingml/2006/main">
            <a:r>
              <a:t>- team-projects/kimi-kda/experiments/final_campaign/data/raw/03_tcgen05_probe_17937.sass</a:t>
            </a:r>
          </a:p>
          <a:p xmlns:a="http://schemas.openxmlformats.org/drawingml/2006/main">
            <a:r>
              <a:t>- https://docs.nvidia.com/cutlass/latest/media/docs/pythonDSL/cute_dsl_api/cute_nvgpu_tcgen05.html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chunk 之间的 state recurrence 不能凭空并行，所以我们不在依赖方向上硬拆。K2 的 Value 行彼此独立：V128 时一个 CTA 更新 128 行；V16 时拆成八个 CTA，每个只更新 16 行。H12 的 grid 因此从 12 变成 96 CTA。总 Tensor FLOPs 不变，也不需要 reduction 或 atomic；每一行内部的运算和归约顺序不变，这也是后面能 bitwise equal 的原因。代价是 slice-independent 的公共输入被多个 CTA 重复请求，下一步才轮到 CTA Cluster 和 TMA multicast 解决数据复用。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team-projects/kimi-kda/patches/0001-k2-value-slice-and-dispatch.patch</a:t>
            </a:r>
          </a:p>
          <a:p xmlns:a="http://schemas.openxmlformats.org/drawingml/2006/main">
            <a:r>
              <a:t>- team-projects/kimi-kda/docs/c1-final/FINAL_REPORT.md</a:t>
            </a:r>
          </a:p>
          <a:p xmlns:a="http://schemas.openxmlformats.org/drawingml/2006/main">
            <a:r>
              <a:t>- https://docs.nvidia.com/cuda/cuda-c-programming-guide/index.html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主线不是把多轮实验堆成一个百分比，而是三个不同层级。第一层 ValueSlice 把 H12 的 K2 从 12 CTA 展开为 96 CTA，解决整卡 underfill。第二层在 V16 内把 Phase-6 状态 fragment 预取从一槽扩为四槽，Job19901 中有初态相对旧 V16 降时 19.40%，无初态降时 9.02%。第三层按状态合约选择 Phase-1 lookahead：无初态 ring4，有初态 ring2。Job19934 中它相对已有 P4 再降 9.32% 和 6.55%，完整候选相对同作业 V128 累计降时 37.23% 和 45.52%。这些比例不能相加，跨 job 的绝对毫秒也不能拼接。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team-projects/kimi-kda/experiments/final_campaign/data/raw/05_dispatch_upgrade_17947.csv</a:t>
            </a:r>
          </a:p>
          <a:p xmlns:a="http://schemas.openxmlformats.org/drawingml/2006/main">
            <a:r>
              <a:t>- team-projects/kimi-kda/experiments/mainline_20260905/data/release_19901.log</a:t>
            </a:r>
          </a:p>
          <a:p xmlns:a="http://schemas.openxmlformats.org/drawingml/2006/main">
            <a:r>
              <a:t>- team-projects/kimi-kda/experiments/mainline_20260905/data/state_matrix_19903.log</a:t>
            </a:r>
          </a:p>
          <a:p xmlns:a="http://schemas.openxmlformats.org/drawingml/2006/main">
            <a:r>
              <a:t>- team-projects/kimi-kda/experiments/mainline_20260905/data/clean_19934.log</a:t>
            </a:r>
          </a:p>
          <a:p xmlns:a="http://schemas.openxmlformats.org/drawingml/2006/main">
            <a:r>
              <a:t>- team-projects/kimi-kda/patches/0004-guarded-v16-prefetch4.patch</a:t>
            </a:r>
          </a:p>
          <a:p xmlns:a="http://schemas.openxmlformats.org/drawingml/2006/main">
            <a:r>
              <a:t>- team-projects/kimi-kda/patches/0005-guarded-phase1-lookahead.patch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Job19934 用干净 source 和独立 P4 二进制做同输入、同作业配对。34 个准入域单调用配置在 eager、Graph、cache perturbation 和同步 host wall 四种汇总口径上都获益；eager 中位数增量为 5.15% 到 12.40%。但双流揭示了发布边界：有初态 pair 基本持平，无初态 joined pair 从 1.147440 增到 1.164832 毫秒，回归 1.52%，三轮方向一致。N等于1只描述一次调用有一个 sequence，当前 guard 看不到 GPU 上其他请求。因此 Phase1 仍是默认关闭的低并发 latency 候选，不能作为普遍 serving throughput 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team-projects/kimi-kda/experiments/mainline_20260905/data/clean_19934.log</a:t>
            </a:r>
          </a:p>
          <a:p xmlns:a="http://schemas.openxmlformats.org/drawingml/2006/main">
            <a:r>
              <a:t>- team-projects/kimi-kda/experiments/mainline_20260905/data/BUILD_MANIFEST.json</a:t>
            </a:r>
          </a:p>
          <a:p xmlns:a="http://schemas.openxmlformats.org/drawingml/2006/main">
            <a:r>
              <a:t>- team-projects/kimi-kda/experiments/mainline_20260905/scripts/summarize_clean.py</a:t>
            </a:r>
          </a:p>
          <a:p xmlns:a="http://schemas.openxmlformats.org/drawingml/2006/main">
            <a:r>
              <a:t>- team-projects/kimi-kda/patches/0004-guarded-v16-prefetch4.patch</a:t>
            </a:r>
          </a:p>
          <a:p xmlns:a="http://schemas.openxmlformats.org/drawingml/2006/main">
            <a:r>
              <a:t>- team-projects/kimi-kda/patches/0005-guarded-phase1-lookahead.patch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验证证据分层报告。原参考矩阵有 200 条 comparison row 全部 finite，其中 98 条 ValueSlice 对 V128 全部 bitwise equal，观测最坏 reference relative RMSE 为 0.9131%。Job19934 的干净候选另有 120 条主比较和 14 条尾块状态补比较全部 bitwise；state chain、Graph、计时后复查、双流正确性以及定向 memcheck 和 synccheck 均通过。它们仍然只是 kernel 和 wrapper 证据。首段 full-forward 的 37.23% 只能乘 FlashKDA forward 在完整 prefill 中的真实时间占比 p。若 p 为 20%、40%、60%，一阶敏感性是 7.4%、14.9%、22.3%，而不是端到端实测。完整模型质量、TP8 NCCL、TTFT、TPOT 和 SLO goodput 仍需独立验证。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team-projects/kimi-kda/experiments/final_campaign/data/raw/03_reference_correctness_17934.csv</a:t>
            </a:r>
          </a:p>
          <a:p xmlns:a="http://schemas.openxmlformats.org/drawingml/2006/main">
            <a:r>
              <a:t>- team-projects/kimi-kda/experiments/final_campaign/data/raw/03_reference_correctness_17934.log</a:t>
            </a:r>
          </a:p>
          <a:p xmlns:a="http://schemas.openxmlformats.org/drawingml/2006/main">
            <a:r>
              <a:t>- team-projects/kimi-kda/experiments/mainline_20260905/data/clean_19934.log</a:t>
            </a:r>
          </a:p>
          <a:p xmlns:a="http://schemas.openxmlformats.org/drawingml/2006/main">
            <a:r>
              <a:t>- team-projects/kimi-kda/experiments/mainline_20260905/data/clean_19934_memcheck.log</a:t>
            </a:r>
          </a:p>
          <a:p xmlns:a="http://schemas.openxmlformats.org/drawingml/2006/main">
            <a:r>
              <a:t>- team-projects/kimi-kda/experiments/mainline_20260905/data/clean_19934_synccheck.log</a:t>
            </a:r>
          </a:p>
          <a:p xmlns:a="http://schemas.openxmlformats.org/drawingml/2006/main">
            <a:r>
              <a:t>- https://github.com/MoonshotAI/Kimi-K3</a:t>
            </a:r>
          </a:p>
          <a:p xmlns:a="http://schemas.openxmlformats.org/drawingml/2006/main">
            <a:r>
              <a:t>- https://arxiv.org/abs/2607.24653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最终分三级决策。第一，全面 direct swap 停止，因为最自然、最乐观的 V128 Phase-6 tcgen05 probe 仍慢约 8.7%。第二，保留 V128 fallback、guarded ValueSlice 和两层 staged prefetch；ValueSlice 已命中 underfill，P4/Phase1 则作为默认关闭的低并发 latency 候选。第三，先测并发一、二、四、八路与真实 K3/TP8 关键路径，完成多卡、安装和回滚验收；Cluster multicast 与跨 Phase TCGEN 放到这些 gate 之后。题目的核心答案仍是：SM100 的价值在重塑并行与数据流，不在替换一条看起来更新的指令。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team-projects/kimi-kda/docs/c1-final/FINAL_REPORT.md</a:t>
            </a:r>
          </a:p>
          <a:p xmlns:a="http://schemas.openxmlformats.org/drawingml/2006/main">
            <a:r>
              <a:t>- team-projects/kimi-kda/docs/c1-final/SUBMISSION_AUDIT.md</a:t>
            </a:r>
          </a:p>
          <a:p xmlns:a="http://schemas.openxmlformats.org/drawingml/2006/main">
            <a:r>
              <a:t>- team-projects/kimi-kda/patches/0004-guarded-v16-prefetch4.patch</a:t>
            </a:r>
          </a:p>
          <a:p xmlns:a="http://schemas.openxmlformats.org/drawingml/2006/main">
            <a:r>
              <a:t>- team-projects/kimi-kda/patches/0005-guarded-phase1-lookahead.patch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f6902f3e343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adc808df84730" /><Relationship Type="http://schemas.openxmlformats.org/officeDocument/2006/relationships/slideLayout" Target="/ppt/slideLayouts/slideLayout1.xml" Id="Re59999116ccc49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999116ccc49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b7f20cc46421f" /><Relationship Type="http://schemas.openxmlformats.org/officeDocument/2006/relationships/notesSlide" Target="/ppt/notesSlides/notesSlide1.xml" Id="R18225c7065c749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6bc2340154dd4" /><Relationship Type="http://schemas.openxmlformats.org/officeDocument/2006/relationships/image" Target="/ppt/media/image.png" Id="R9be953cd0b3b41e6" /><Relationship Type="http://schemas.openxmlformats.org/officeDocument/2006/relationships/notesSlide" Target="/ppt/notesSlides/notesSlide2.xml" Id="Rae3c11bac6ad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2591b9e0c445f" /><Relationship Type="http://schemas.openxmlformats.org/officeDocument/2006/relationships/image" Target="/ppt/media/image2.png" Id="R89f10e8daf794697" /><Relationship Type="http://schemas.openxmlformats.org/officeDocument/2006/relationships/notesSlide" Target="/ppt/notesSlides/notesSlide3.xml" Id="Rc57d6025c48d4f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ebf64d6794737" /><Relationship Type="http://schemas.openxmlformats.org/officeDocument/2006/relationships/image" Target="/ppt/media/image3.png" Id="R4d893eaf04d34db2" /><Relationship Type="http://schemas.openxmlformats.org/officeDocument/2006/relationships/notesSlide" Target="/ppt/notesSlides/notesSlide4.xml" Id="Rb0182bf5ce3b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fc563c59741e5" /><Relationship Type="http://schemas.openxmlformats.org/officeDocument/2006/relationships/image" Target="/ppt/media/image4.png" Id="R9f3299735b3d4930" /><Relationship Type="http://schemas.openxmlformats.org/officeDocument/2006/relationships/notesSlide" Target="/ppt/notesSlides/notesSlide5.xml" Id="R9524308fb06b4b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8a298de1b41f0" /><Relationship Type="http://schemas.openxmlformats.org/officeDocument/2006/relationships/notesSlide" Target="/ppt/notesSlides/notesSlide6.xml" Id="R5ac41cd6508643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8f44c0cd445af" /><Relationship Type="http://schemas.openxmlformats.org/officeDocument/2006/relationships/notesSlide" Target="/ppt/notesSlides/notesSlide7.xml" Id="R5df81864ff5d46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cd37dba634ca4" /><Relationship Type="http://schemas.openxmlformats.org/officeDocument/2006/relationships/notesSlide" Target="/ppt/notesSlides/notesSlide8.xml" Id="R5043370743814a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1e8d2c4984e50" /><Relationship Type="http://schemas.openxmlformats.org/officeDocument/2006/relationships/notesSlide" Target="/ppt/notesSlides/notesSlide9.xml" Id="Rf5962b51490540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04d6449ea45f2" /><Relationship Type="http://schemas.openxmlformats.org/officeDocument/2006/relationships/notesSlide" Target="/ppt/notesSlides/notesSlide10.xml" Id="R8ebde492264d42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2EB62-028F-40CF-8851-6A335BC0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C1 · B300 / SM103 · 复现—分析—挑战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2006B-11EF-4997-99E4-9A657C3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FlashKDA 从 SM80 MMA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迁移到 SM100 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0867C-6FEE-44FB-A8CD-3E36A684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8E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9D8E5"/>
                </a:solidFill>
                <a:latin typeface="PingFang SC"/>
                <a:ea typeface="PingFang SC"/>
                <a:cs typeface="PingFang SC"/>
              </a:rPr>
              <a:t>答案不是“新指令一定更快”，而是选择真正命中瓶颈的 SM100 专用化。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7119C-DC68-496D-BD8F-D2BE3CB1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57625"/>
            <a:ext cx="12192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A88A7-C22F-4324-B19A-B11733C6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6672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112E49"/>
          </a:solidFill>
          <a:ln xmlns:a="http://schemas.openxmlformats.org/drawingml/2006/main" w="9525">
            <a:solidFill>
              <a:srgbClr val="2E4B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FCD95-94E9-46D7-8B11-9D30873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05BA0-EA71-4127-ADA8-A4546BBC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D1B11-CA43-4ED6-9A8F-2B30E9C0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398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全面 mma.sync → tcgen05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9427C-6028-4846-BC8F-CDD4E576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0D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FD0DE"/>
                </a:solidFill>
                <a:latin typeface="PingFang SC"/>
                <a:ea typeface="PingFang SC"/>
                <a:cs typeface="PingFang SC"/>
              </a:rPr>
              <a:t>V128 Phase-6：0.920×，直接替换不集成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885CC-3379-4763-9FE1-C3794806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49911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103A3B"/>
          </a:solidFill>
          <a:ln xmlns:a="http://schemas.openxmlformats.org/drawingml/2006/main" w="9525">
            <a:solidFill>
              <a:srgbClr val="2A66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F73EF-1467-4B67-A771-B3CF2F9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60577-8AAC-41B4-9EF4-5942B069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718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KEEP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DF9C2-95D2-48E9-A2DC-E5D6E89D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guarded V16 + staged prefetch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4AE5A-7E6C-40E6-B966-34CF5C52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E2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7E2DF"/>
                </a:solidFill>
                <a:latin typeface="PingFang SC"/>
                <a:ea typeface="PingFang SC"/>
                <a:cs typeface="PingFang SC"/>
              </a:rPr>
              <a:t>单请求候选 −37.23% / −45.52%；默认关闭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93152-A511-4D70-952B-7B584803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最终结论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FE849-2E0B-4F34-9699-9E15ABAE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SM100 值得利用；机械替换 SM80 MMA 不值得。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CC2E5-F7A1-41A1-AB0D-55C79A66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A8B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8FA8BC"/>
                </a:solidFill>
                <a:latin typeface="Menlo"/>
                <a:ea typeface="Menlo"/>
                <a:cs typeface="Menlo"/>
              </a:rPr>
              <a:t>10 min defense · 2026-09-06</a:t>
            </a:r>
          </a:p>
        </p:txBody>
      </p:sp>
    </p:spTree>
    <p:extLst>
      <p:ext uri="{BB962C8B-B14F-4D97-AF65-F5344CB8AC3E}">
        <p14:creationId xmlns:p14="http://schemas.microsoft.com/office/powerpoint/2010/main" val="1110448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B5F8F-2D49-4522-87B0-29EFFCFD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阶段一｜复现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EB107-0A40-4B32-9D1F-583B8FA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577E5-42AF-46B9-A8C5-50784F60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先确认强基线：官方 FlashKDA 在 B300 上成立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853AC-18FF-4260-9961-DD4EA51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768B4-DAE4-459F-9B23-9A2D817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1.79–3.42×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0C696-CAC1-457A-9F64-1A9E1201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相对 FLA chunk KDA</a:t>
            </a:r>
          </a:p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六个官方形状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8FFE0-B154-4F55-9984-53E821F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07DBE-19C1-4CFA-9688-A5F1889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1.030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A7772-FED6-44B1-A7A5-F17E57E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H96 · fixed · BF16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92A1C-759B-4101-A9B6-0E24F43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93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DA849-CB55-4AE0-9411-A1A30895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完整官方 job 运行时间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F7814-2DD9-4CEB-8735-FAE51D30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9E771-196A-4340-8072-7BF40813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95875"/>
            <a:ext cx="2390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warmup 30 / iters 200 / repeats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D78FF-2F14-425B-B322-8936579E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E41D6-497A-4BC8-833C-CFDD0D3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24500"/>
            <a:ext cx="2390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commit 1ce47ea；干净 worktree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953cd0b3b41e6"/>
          <a:stretch xmlns:a="http://schemas.openxmlformats.org/drawingml/2006/main"/>
        </p:blipFill>
        <p:spPr>
          <a:xfrm xmlns:a="http://schemas.openxmlformats.org/drawingml/2006/main">
            <a:off x="3448050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8B8D9-1BB0-4F08-A36E-BEC0E3CC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D83A0-B4CC-4FAC-A3AB-010BFDAE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Evidence · Slurm Job 17926 · B300 SXM6 AC · CC 10.3</a:t>
            </a:r>
          </a:p>
        </p:txBody>
      </p:sp>
    </p:spTree>
    <p:extLst>
      <p:ext uri="{BB962C8B-B14F-4D97-AF65-F5344CB8AC3E}">
        <p14:creationId xmlns:p14="http://schemas.microsoft.com/office/powerpoint/2010/main" val="593324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D3DC6-1E9C-4987-93EC-50F3C74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阶段一｜测量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3DC23-98F7-4021-A49C-7ED28651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306B0-79F4-49CB-82C7-A9DB393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SM80 MMA 成立，但首要瓶颈不是 Tensor Core 峰值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8CA2E-4996-45D7-8FCC-0FDA071E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002A5-A092-4A8F-BC50-0FB4EED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5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F945C-2C9F-4188-9A2E-820E00E4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0CDAC-3727-4BAA-BC2C-C6278CB5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3,640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AF72E-38A8-4A05-8447-0279ACED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HMMA.16816.F32.BF16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89C53-B51E-4C50-AE55-585E78F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34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D9534F"/>
                </a:solidFill>
                <a:latin typeface="Menlo"/>
                <a:ea typeface="Menlo"/>
                <a:cs typeface="Menlo"/>
              </a:rPr>
              <a:t>TCGEN / UTCMMA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3D0B3-775D-43BA-870A-ECF5672F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20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17FE9-3E60-4A93-919F-34D42CCA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F31B8-453A-4A89-8564-42A5F4F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TP8 形状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AC8E3-6C4E-41DE-AB1A-41FFEC18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H = 96 / 8 =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F9212-0624-41C1-99B4-A1C166B7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K2 grid：12 CTA</a:t>
            </a:r>
          </a:p>
          <a:p xmlns:a="http://schemas.openxmlformats.org/drawingml/2006/main">
            <a:pPr algn="l"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148 SM；覆盖 ≤ 8.1%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DB1AF-501E-4194-A270-C339D60B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SM 2.64% · DRAM 1.24%</a:t>
            </a:r>
          </a:p>
          <a:p xmlns:a="http://schemas.openxmlformats.org/drawingml/2006/main">
            <a:pPr algn="l"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→ grid underfill + recurrence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10e8daf794697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00C0D-B769-42AD-8C99-C8720D8B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EECA0-AB2F-48F6-BBB9-16FC8EE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Evidence · static SASS + Job 17965 NCU · tensor metric uses elapsed-cycle denominator</a:t>
            </a:r>
          </a:p>
        </p:txBody>
      </p:sp>
    </p:spTree>
    <p:extLst>
      <p:ext uri="{BB962C8B-B14F-4D97-AF65-F5344CB8AC3E}">
        <p14:creationId xmlns:p14="http://schemas.microsoft.com/office/powerpoint/2010/main" val="124387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B0092-963D-43E1-9889-24E93BFF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阶段二｜讨论点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44675-3274-4C23-899E-2B79FB7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7ED37-E3A8-47DB-9682-D5CB71A8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CHUNK=16 是数值与算法边界，不是随手可改的常量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2E81C-3366-4763-8DD6-84E69902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63CC9-B75E-44AE-9259-36309986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谁先破？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E0161-310C-43EA-B155-9B75DE67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DC1C0-D66A-4BC6-9567-1A49F3C9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数值路径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68DAB-EE4C-4AEA-8321-0F449D50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C32 / C64 都在</a:t>
            </a:r>
          </a:p>
          <a:p xmlns:a="http://schemas.openxmlformats.org/drawingml/2006/main">
            <a:pPr algn="l">
              <a:def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token 18 首次 FTZ / overflow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8183F-5C18-4B0A-9CB9-EAF2ED9C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90CD8-D723-4411-8CE6-93A7EF05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Neumann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4681D-B9F1-461F-9307-3F1D9192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每序列代价</a:t>
            </a:r>
          </a:p>
          <a:p xmlns:a="http://schemas.openxmlformats.org/drawingml/2006/main">
            <a:pPr algn="l">
              <a:def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5.33× / 26.67×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17F47-2836-47C8-8B37-C19DACD2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91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4550C-B856-4EFB-A298-9B98AD7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27795-F21A-4FE2-AF37-FC0A077D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245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6.75 → 8.06 MiB / head</a:t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温和上升，不是第一约束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93eaf04d34db2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45386-8539-40AE-87E1-71841943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519FC-E1C9-4898-A9C0-775B282D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Decision · 不做机械 C32/C64；若继续，必须同时引入 rescale / block solve</a:t>
            </a:r>
          </a:p>
        </p:txBody>
      </p:sp>
    </p:spTree>
    <p:extLst>
      <p:ext uri="{BB962C8B-B14F-4D97-AF65-F5344CB8AC3E}">
        <p14:creationId xmlns:p14="http://schemas.microsoft.com/office/powerpoint/2010/main" val="599337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4785D-F38F-4CE4-B2E7-7F3D52D9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阶段二｜讨论点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3D594-587E-47E4-92FB-06916B4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0ADD7-0C3E-46F2-8033-762E2AB6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tcgen05 直接替换未通过 V128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54B78-C235-40EF-9887-5039AF4A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79DF5-6BE0-4BDF-9078-42AF5D8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自然映射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50697-95D9-44DA-AA91-1F57E5C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362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0BFF5-EE1B-4038-97E2-A57CC663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5C86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195C86"/>
                </a:solidFill>
                <a:latin typeface="Menlo"/>
                <a:ea typeface="Menlo"/>
                <a:cs typeface="Menlo"/>
              </a:rPr>
              <a:t>[128,16] × [16,V]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89681-261F-4262-A6D0-71EF04DC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→ m128nVk16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49F6C-E46C-4327-BBD1-60987B3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0.920×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BF204-D744-499D-8DF7-855F3172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V128 · grid12 · L0</a:t>
            </a:r>
          </a:p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tcgen05 慢约 8.7%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DEB32-71C1-487C-9F8E-D957E21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0.904×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04A2E-AB3A-4019-BFA7-23DD91E3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V128 · grid148 · L0</a:t>
            </a:r>
          </a:p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仍慢 10.6%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06CEF-4FCD-4ACA-A6D5-58CC88AE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保留开放问题：跨 Phase 共用转置布局 / TMEM 生命周期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299735b3d4930"/>
          <a:stretch xmlns:a="http://schemas.openxmlformats.org/drawingml/2006/main"/>
        </p:blipFill>
        <p:spPr>
          <a:xfrm xmlns:a="http://schemas.openxmlformats.org/drawingml/2006/main">
            <a:off x="3419475" y="1381125"/>
            <a:ext cx="79248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4EE64-5406-4396-BE50-32A11180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3FAD1-4F8C-4EB8-A836-A8DCAEE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Stop gate · 不集成 direct swap；probe 是 Phase-6，不等于证明所有 TMEM 数据流重构都无效</a:t>
            </a:r>
          </a:p>
        </p:txBody>
      </p:sp>
    </p:spTree>
    <p:extLst>
      <p:ext uri="{BB962C8B-B14F-4D97-AF65-F5344CB8AC3E}">
        <p14:creationId xmlns:p14="http://schemas.microsoft.com/office/powerpoint/2010/main" val="1709516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1AB418-B3EC-4940-A499-3C997B4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阶段三｜挑战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A7E0F-153E-452C-9B8E-9E9A4D8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0A6C3-64C1-419A-92DC-1A9927FB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ValueSlice 将 K2 从 12 CTA 扩到 96 CTA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32FD2-290A-443F-BD76-3DA66C0E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35468-0F7B-4B5D-B58C-0981164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33700"/>
            <a:ext cx="1619250" cy="742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F416B-0415-43E5-8508-CF8C486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144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官方 V128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E4D9A-8C0F-45F5-90AF-CA2C70AE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每个 sequence-head 一个 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73CFF-89FE-460C-9682-BC7EB634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4671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3E654-AFF8-471D-B16E-8EE84BC8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A5344-97D4-4811-9BF9-BA6E84D8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54AE4-EB87-4D65-9EEE-4CF06D22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3CAB0-E5CE-4B8D-97AB-1B093598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FCBEE-EB46-48FC-9F65-6F2CA167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0A79B-562C-42B9-8C26-1F59CA03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DED77-FC69-4AF1-9820-85E65F1A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D404B-896F-41F6-BE59-A887E735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F45F5-B0C2-4790-8836-3FE541C4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29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5C8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95C86"/>
                </a:solidFill>
                <a:latin typeface="Menlo"/>
                <a:ea typeface="Menlo"/>
                <a:cs typeface="Menlo"/>
              </a:rPr>
              <a:t>128 个 Value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B6E76-A2A9-4DA6-8FF0-C8BFD47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91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943F6-7634-4B8F-ACFA-8AC96F10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00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 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AB525-FEF3-41C7-9696-7F2FB4D0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14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ValueSlice V16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77C2D-85BF-4416-8262-49A261E4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同一 head 拆成 8 个独立 CTA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DBC6D-74F2-478C-A467-2A0081A9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37147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AF7"/>
          </a:solidFill>
          <a:ln xmlns:a="http://schemas.openxmlformats.org/drawingml/2006/main" w="9525">
            <a:solidFill>
              <a:srgbClr val="CFE4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AA165-84D2-499F-936B-E75E6DEF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6222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5EC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A474C-C735-4D11-9A3E-AFB8DC31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1 · rows 0–15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021BE-47AE-4DD3-95B6-BB110A7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7E6D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740F9-3149-4048-965C-9E9FCFD3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6702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2 · rows 16–31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CBA796-7EA0-495E-BC44-CC5F661C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5277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DF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55610-5A63-4E97-AB92-DE77C16C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6230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3 · rows 32–47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A0A20-9865-4C7A-B0B0-63B19D02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A8D7B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3D8F89-8BE5-47DC-BE76-0B400047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5757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4 · rows 48–63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5B3159-E0F5-4B82-9096-2D2F405D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332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98CFA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10F15-2DA6-4E70-8641-39949E05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75285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5 · rows 64–79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C1F1E1-4E0C-47B6-A1CC-9101F08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87C6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CB5FCD-8C69-4D8E-82DC-CDF86C17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4812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6 · rows 80–95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9D04E4-46A6-4F4A-B78A-1B022FD8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33875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75BC9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A5A5FD-EC31-49DD-8CA3-9D94341C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4340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7 · rows 96–111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95B7D9-7D1E-4D6C-9743-35528B74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32194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2B1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595694-2ED3-4BEB-B28D-478DDCC9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63867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CTA 8 · rows 112–127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F645B3-8CC5-45A5-BA99-4DBCED0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91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7F4DA2-CD52-471D-BF45-201DA456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00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96 CTA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52775A-283E-47EA-93E6-B483155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57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总 Tensor FLOPs 不变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BC02C7-B3C2-4DDD-BACD-4369FCC3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815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每行归约顺序不变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A9C495-9DEA-4743-9EBF-AEAD24AE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05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代价：公共输入被重复请求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DC2B86-2DE8-4A62-A02E-EEA421B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138A3F-A178-4D0A-AD7D-1FF36E4B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Grid · (N,H) → (N,H,D/V) · 无 reduction / atomic · V∈{16,32,64,128}</a:t>
            </a:r>
          </a:p>
        </p:txBody>
      </p:sp>
    </p:spTree>
    <p:extLst>
      <p:ext uri="{BB962C8B-B14F-4D97-AF65-F5344CB8AC3E}">
        <p14:creationId xmlns:p14="http://schemas.microsoft.com/office/powerpoint/2010/main" val="2000980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A2DEF6-13E6-49B1-A04B-60F7AE8C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阶段三｜主线增量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6C589-F481-4396-81D0-D8EC52CF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8E93E-6061-4AB2-ACB9-9207E9FB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三层优化阶梯：先扩 CTA，再拉长片上 load-use 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43D5F-A823-4996-8FA9-FDC4B068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E874-B3E1-4092-BA7F-AAC06B7A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00300"/>
            <a:ext cx="4286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8182A-ADA7-472B-9F19-6CFFBDD9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400300"/>
            <a:ext cx="4286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9D54C-D661-43A2-A4D2-BC52F89E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00300"/>
            <a:ext cx="4286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A6A7F-DD39-4BCB-934B-F1B03768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23431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70F5E-7CB4-478F-8524-5E03D8B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官方基线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1A412-C0DA-4F01-9CC1-A0E8BA62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V128 / P1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6E4E-75F7-447E-96D8-17AA388B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12 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C9B3C-8089-4DCD-9C00-62DBFF4C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TP8 · H12</a:t>
            </a:r>
          </a:p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148 SM underfill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62D9E-8760-4576-B5D6-22A7C38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76375"/>
            <a:ext cx="23431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C7E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27E0C-300A-4985-9810-96C70299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57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层 1 · 跨 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7EE96-B786-4CB0-9D0D-C8685EC3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ValueSlice V16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1DE38-BAA1-4716-8ACD-CB406417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−27.0%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35BC8-3CBD-4D1F-9367-A2FCD5C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12 → 96 CTA</a:t>
            </a:r>
          </a:p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Job17947 fixed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7F61E-4C38-4309-BBEF-258D9383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76375"/>
            <a:ext cx="23431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E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D1698-2AA3-4D6B-B270-45D98E7A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918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918F"/>
                </a:solidFill>
                <a:latin typeface="PingFang SC"/>
                <a:ea typeface="PingFang SC"/>
                <a:cs typeface="PingFang SC"/>
              </a:rPr>
              <a:t>层 2 · Phase-6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F166D-4D0E-4CA0-9873-44EAEE9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State Prefetch P4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694E1-4E18-4DF1-BA42-EAD3838F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918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918F"/>
                </a:solidFill>
                <a:latin typeface="PingFang SC"/>
                <a:ea typeface="PingFang SC"/>
                <a:cs typeface="PingFang SC"/>
              </a:rPr>
              <a:t>−19.40%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E9DB1-2F40-4D71-B92A-1597AA7D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对旧 V16 · 有初态</a:t>
            </a:r>
          </a:p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无初态 −9.02%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9686E-283F-4042-B766-906C83E5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76375"/>
            <a:ext cx="23431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1C9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89A59-FFC9-40C4-9CFD-A138A0B0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层 3 · Phase-1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176F9-7CFD-4570-830E-318C11B8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102A43"/>
                </a:solidFill>
                <a:latin typeface="Menlo"/>
                <a:ea typeface="Menlo"/>
                <a:cs typeface="Menlo"/>
              </a:rPr>
              <a:t>L4 / L2 lookahead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C295D-D4CC-4CA2-8037-23B87351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−37.23%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390F6-7A19-4EDC-8401-44E5D8E0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首段 vs 同 job V128</a:t>
            </a:r>
          </a:p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续段 −45.52%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9A9B6C-0C9E-43CC-AC92-5ECFD5C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3C750B-4617-40F1-B582-534DEED9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为什么还能继续提速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1ED6F-685E-4DC0-95DB-E21481BA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ValueSlice 解决整卡 grid underfill。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P4 与 Phase-1 lookahead 改善每个 V16 CTA 内的 fragment/state load-use 调度。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两个层级作用于不同边界。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DD92F-8072-4D15-86FC-E0ADAF5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E4"/>
          </a:solidFill>
          <a:ln xmlns:a="http://schemas.openxmlformats.org/drawingml/2006/main" w="9525">
            <a:solidFill>
              <a:srgbClr val="F1C99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9FB5EA-7C0F-4971-A9CB-BBDA9A87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14825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比较口径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C4D6A-B101-4F46-9B66-26F2E171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468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最后一层的 37.23% / 45.52% 已是相对同 Job19934 V128 的累计结果。</a:t>
            </a:r>
          </a:p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不能再与 27%、19.40% 或 9.02% 相加；不同 job 的绝对毫秒也不横向拼接。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4EBC4-658A-4688-A341-80546B71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CC0925-2D5A-41E5-A953-EC3BFE6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Evidence · Jobs 17947 / 19901 / 19934 · ValueSlice → Phase-6 P4 → Phase-1 L4/L2</a:t>
            </a:r>
          </a:p>
        </p:txBody>
      </p:sp>
    </p:spTree>
    <p:extLst>
      <p:ext uri="{BB962C8B-B14F-4D97-AF65-F5344CB8AC3E}">
        <p14:creationId xmlns:p14="http://schemas.microsoft.com/office/powerpoint/2010/main" val="366748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86A05C-0961-4DC0-909D-3889632A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阶段三｜验收边界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4EE49-1C67-43E1-AEBF-68795913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6958F-66F9-44F1-84A5-CC71EFF6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单调用增益稳定，但并发负例阻止默认启用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91376-5B76-4019-B569-349751B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27449-C9DF-4E53-AE51-B5E24250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34 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98762-6137-49AF-A995-6E3CAF27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准入域单调用配置</a:t>
            </a:r>
          </a:p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四种中位数口径均获益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72C12-E15E-4317-8B44-1D4AB852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5.15–12.40%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6217C-7F58-4EE0-B2F9-731B3DBB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Phase-1 相对已有 P4</a:t>
            </a:r>
          </a:p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eager 中位数增量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65304-7FC1-468E-A4A0-0A1F9F6A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+1.52%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6F9B5-A999-4C3C-BEE9-6E43CE5E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无初态双流 joined pair</a:t>
            </a:r>
          </a:p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三轮一致回归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7CB67-8A6A-419E-9D5B-B072AA13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438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4"/>
          </a:solidFill>
          <a:ln xmlns:a="http://schemas.openxmlformats.org/drawingml/2006/main" w="9525">
            <a:solidFill>
              <a:srgbClr val="F1C9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91877-A811-4F3A-8F5D-F16AECFA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当前 guard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CC7AE-90CB-43D7-9859-4E02260C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N1 / H12 / D128 / C16 / BF16 / T2K–8K</a:t>
            </a:r>
          </a:p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不感知 GPU 上的实时并发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C5732-0BD4-46ED-BEEA-1BF3F96E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954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Job19934 · 同输入、同作业配对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CE841-44B2-4C82-831B-8E1C2B96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28825"/>
            <a:ext cx="752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B747D-5FF8-4AAA-B38C-0D4FC1CD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单调用 · 无初态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65018-7517-423B-B6B0-C767483F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B7F90"/>
                </a:solidFill>
                <a:latin typeface="Menlo"/>
                <a:ea typeface="Menlo"/>
                <a:cs typeface="Menlo"/>
              </a:rPr>
              <a:t>P4  0.950848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E84AE-44EC-4330-8C97-4B68186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336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Phase1  0.862208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9D5BE-7691-4093-B350-1E25E11A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336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9B6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E9B68"/>
                </a:solidFill>
                <a:latin typeface="Menlo"/>
                <a:ea typeface="Menlo"/>
                <a:cs typeface="Menlo"/>
              </a:rPr>
              <a:t>−9.32%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4E1D9-46A8-4ED7-B151-E946C75D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86075"/>
            <a:ext cx="752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4D00D-18B0-4E8B-9E14-55C01E2C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单调用 · 有初态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A6454-8B37-40D3-B050-1EFDD8C5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B7F90"/>
                </a:solidFill>
                <a:latin typeface="Menlo"/>
                <a:ea typeface="Menlo"/>
                <a:cs typeface="Menlo"/>
              </a:rPr>
              <a:t>P4  0.796144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C2CC5-843C-496A-A08E-8CBDB67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90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Phase1  0.743968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44146-25DC-402C-9084-AA468014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908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9B6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E9B68"/>
                </a:solidFill>
                <a:latin typeface="Menlo"/>
                <a:ea typeface="Menlo"/>
                <a:cs typeface="Menlo"/>
              </a:rPr>
              <a:t>−6.55%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85FF1-A97F-43EB-96C6-F79DD9A3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43325"/>
            <a:ext cx="752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FDEA4-D89F-4B0A-A082-3777086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481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双流 pair · 无初态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FBF7C-EA59-4193-A13D-6CDD0E46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481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B7F90"/>
                </a:solidFill>
                <a:latin typeface="Menlo"/>
                <a:ea typeface="Menlo"/>
                <a:cs typeface="Menlo"/>
              </a:rPr>
              <a:t>P4  1.147440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39B36-CABD-4BB4-BA65-D5072361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8481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Phase1  1.164832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A944D1-375F-4B09-950A-1F75DCF3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481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534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D9534F"/>
                </a:solidFill>
                <a:latin typeface="Menlo"/>
                <a:ea typeface="Menlo"/>
                <a:cs typeface="Menlo"/>
              </a:rPr>
              <a:t>+1.52%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7D58D-AFE6-401A-87FC-9ADF1E93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00575"/>
            <a:ext cx="7524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D2FC5-C3B0-42DD-A8F7-67CB6DE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双流 pair · 有初态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ADC60-9692-4402-B5D9-8D8D5DC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053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B7F90"/>
                </a:solidFill>
                <a:latin typeface="Menlo"/>
                <a:ea typeface="Menlo"/>
                <a:cs typeface="Menlo"/>
              </a:rPr>
              <a:t>P4  1.155520 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89246-9D7C-4F5A-B9C6-4F02959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705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4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2A43"/>
                </a:solidFill>
                <a:latin typeface="Menlo"/>
                <a:ea typeface="Menlo"/>
                <a:cs typeface="Menlo"/>
              </a:rPr>
              <a:t>Phase1  1.155888 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FDFCD2-24C4-4810-B602-F6E25617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053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+0.03%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D142C0-BF1B-4051-8F98-CA4B3E0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386212-A87D-48D1-A1ED-0E556658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Status · 0004/0005 均默认关闭 · 运行时可强制 V128；恢复 Phase6-only V16 需单独二进制</a:t>
            </a:r>
          </a:p>
        </p:txBody>
      </p:sp>
    </p:spTree>
    <p:extLst>
      <p:ext uri="{BB962C8B-B14F-4D97-AF65-F5344CB8AC3E}">
        <p14:creationId xmlns:p14="http://schemas.microsoft.com/office/powerpoint/2010/main" val="589387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E53CFA-0E36-499F-96CA-3128179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验证与系统边界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4D45E-2844-404C-9C95-D92AA2A9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CB706-6779-4FD2-8EF4-5A85BC0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Kernel 验证闭环成立，端到端与模型质量仍未证明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FD2CA-535B-48D1-B5DC-5BEE6D4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0C7BE-4F4F-4588-AAE0-3E514468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已验证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F3F58-B98F-45EC-A9BC-F7ED1A2D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504825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4FAF7"/>
          </a:solidFill>
          <a:ln xmlns:a="http://schemas.openxmlformats.org/drawingml/2006/main" w="9525">
            <a:solidFill>
              <a:srgbClr val="C7E4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D057F-DA5F-4DDB-8435-61B114FA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E9B6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4E9B68"/>
                </a:solidFill>
                <a:latin typeface="PingFang SC"/>
                <a:ea typeface="PingFang SC"/>
                <a:cs typeface="PingFang SC"/>
              </a:rPr>
              <a:t>200 / 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E1341-1B7B-4213-B87D-57E725C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原参考矩阵 comparison rows finite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79D27-7A31-4ACD-90AE-21D1FFCA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4312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95C86"/>
                </a:solidFill>
                <a:latin typeface="PingFang SC"/>
                <a:ea typeface="PingFang SC"/>
                <a:cs typeface="PingFang SC"/>
              </a:rPr>
              <a:t>98 / 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D3FC8-FA49-4E7D-B43D-60A971B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ValueSlice vs V128 bitwise equal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766D5-C831-4D39-9821-9C2ECDD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0.913%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3A5F7-A3BB-4F8B-9A1C-C70497E8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观测最坏 reference relative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D772C-815B-4822-BB19-9164E4F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918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918F"/>
                </a:solidFill>
                <a:latin typeface="PingFang SC"/>
                <a:ea typeface="PingFang SC"/>
                <a:cs typeface="PingFang SC"/>
              </a:rPr>
              <a:t>120 + 14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AABBA-E714-46B7-8F97-68608B68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干净候选跨路径 bitwise 回归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156C3-22AC-4C3E-915E-E3697EC3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D56F0-A39A-4358-A36A-22FC869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DDE81-C2DC-4634-81E3-6E819B33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4295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state chain、Graph、计时后检查和双流正确性通过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44788-26F7-41E9-B2DB-0388EF39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D6CC9-F297-4715-A520-39D194E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91100"/>
            <a:ext cx="4295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memcheck / synccheck：ERROR SUMMARY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02F04-2DA6-48D7-BA0D-1AC9F803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972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BF16 state 结论仍是 kernel 数值对拍；public FP32 buffer 不等于全 FP32 recurrence。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94B09-96EE-43A5-AC73-7AF8E68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763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系统外推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6C917-5451-42E3-A0B7-84F49440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24050"/>
            <a:ext cx="510540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1C9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E1A4D-6C86-460C-A440-9030BE5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首段 full-forward 候选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AEDF8-ADB7-434B-843A-42DDBDFD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8A2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58A24"/>
                </a:solidFill>
                <a:latin typeface="PingFang SC"/>
                <a:ea typeface="PingFang SC"/>
                <a:cs typeface="PingFang SC"/>
              </a:rPr>
              <a:t>−37.23%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4A09B-D01F-47BD-8E73-9F00D4B3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H12 / T8192 / 低并发 / 无初态；相对同 Job19934 V128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5B61C-6C01-4AB4-8793-A99E4D0C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Amdahl 敏感性：prefill 降时约 0.3723p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953FA-89A6-4AF1-A7A4-7755A43B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p=20%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E1B697-0215-4736-B910-97C39488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9B6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E9B68"/>
                </a:solidFill>
                <a:latin typeface="Menlo"/>
                <a:ea typeface="Menlo"/>
                <a:cs typeface="Menlo"/>
              </a:rPr>
              <a:t>−7.4%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08DE0C-9E21-4475-910A-46AFB559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p=40%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0209D-D218-4FD1-A68B-3AD6E62E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9B6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E9B68"/>
                </a:solidFill>
                <a:latin typeface="Menlo"/>
                <a:ea typeface="Menlo"/>
                <a:cs typeface="Menlo"/>
              </a:rPr>
              <a:t>−14.9%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EEDF1-FED2-40C3-B07D-63FFA1BF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7F90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6B7F90"/>
                </a:solidFill>
                <a:latin typeface="Menlo"/>
                <a:ea typeface="Menlo"/>
                <a:cs typeface="Menlo"/>
              </a:rPr>
              <a:t>p=60%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2F6E59-C38E-4D58-82EC-4D9FF1E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E9B68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E9B68"/>
                </a:solidFill>
                <a:latin typeface="Menlo"/>
                <a:ea typeface="Menlo"/>
                <a:cs typeface="Menlo"/>
              </a:rPr>
              <a:t>−22.3%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14263-0B22-476F-98FD-BD0F3F98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541BAE-7B6F-4395-A44A-4DA97DF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529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仍不能声称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89695-A381-4C53-9B72-7E975D06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673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37% TTFT、TPOT 或 SLO goodput 提升</a:t>
            </a:r>
          </a:p>
          <a:p xmlns:a="http://schemas.openxmlformats.org/drawingml/2006/main">
            <a:pPr algn="l">
              <a:def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9534F"/>
                </a:solidFill>
                <a:latin typeface="PingFang SC"/>
                <a:ea typeface="PingFang SC"/>
                <a:cs typeface="PingFang SC"/>
              </a:rPr>
              <a:t>多请求 throughput、TP8/NCCL、完整模型 accuracy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59BEAF-D0BC-4A28-BAFF-CE45C909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B0D7F-6747-4E98-B9BD-B9A7F75C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1112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F90"/>
                </a:solidFill>
                <a:latin typeface="PingFang SC"/>
                <a:ea typeface="PingFang SC"/>
                <a:cs typeface="PingFang SC"/>
              </a:rPr>
              <a:t>Boundary · 69/93 是层数比例，不是 wall-time 占比；敏感性分析不是 Kimi K3 端到端实测</a:t>
            </a:r>
          </a:p>
        </p:txBody>
      </p:sp>
    </p:spTree>
    <p:extLst>
      <p:ext uri="{BB962C8B-B14F-4D97-AF65-F5344CB8AC3E}">
        <p14:creationId xmlns:p14="http://schemas.microsoft.com/office/powerpoint/2010/main" val="1327838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4FE2A-BC10-4A34-95D4-C76FCC09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C1 · 最终决策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AD0D4-7EE9-4A82-9395-2FC6265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保留 hybrid SM103 路径，发布前先过并发与端到端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40FA5-FC5D-4D81-B271-CF9F0C2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ACBD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ACBDA"/>
                </a:solidFill>
                <a:latin typeface="PingFang SC"/>
                <a:ea typeface="PingFang SC"/>
                <a:cs typeface="PingFang SC"/>
              </a:rPr>
              <a:t>一条 stop、一条 keep、一条 next；最新预取候选默认关闭。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DD2D0-8F46-40A9-8E1C-9889B564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1087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6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B66A9-D152-471F-B2EF-EED631B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510BF-2B41-4281-9D2C-3C926CEF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02BFE-87E4-408B-BFFF-14DC7353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240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全面 mma.sync → tcgen05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10D5-7B12-4269-B1DC-1C916A1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rPr>
              <a:t>V128 Phase-6 L0：0.920×；完整集成成本更高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34887-FEE4-4E46-B1F3-507214C0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rPr>
              <a:t>不合入；仅当跨 phase TMEM-resident 数据流过 gate 时重开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3244C-B81A-415E-BAAC-3F326369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087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644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A3286-B7D8-4034-98BC-1FC51BEE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DCFEF-31C0-4090-A4B4-2A377022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KEEP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1904D-3960-4399-89C9-001DE46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956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V128 fallback + guarded V16/P4/Phase1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4617A-7C7E-4689-844F-F8607FB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48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rPr>
              <a:t>ValueSlice −27%；完整候选 −37.23% / −45.52% vs 同 job V128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E6244-6169-4C5C-B67D-D3C9E5AE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E4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FE4CB"/>
                </a:solidFill>
                <a:latin typeface="PingFang SC"/>
                <a:ea typeface="PingFang SC"/>
                <a:cs typeface="PingFang SC"/>
              </a:rPr>
              <a:t>ValueSlice 保留 guard；P4/Phase1 默认关闭；可回退 V128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E0422-D08F-4E61-BAE1-E675231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1087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644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8ED4A-B296-4EF6-918F-410C3425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D8FCE-0D88-4450-BAB2-C8A038D0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F195C-D87D-43F9-8D37-8543CA3F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67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并发矩阵 + 真实 K3/TP8 关键路径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31A2C-386B-4BFD-BCAD-8A6BBA25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19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D5E1"/>
                </a:solidFill>
                <a:latin typeface="PingFang SC"/>
                <a:ea typeface="PingFang SC"/>
                <a:cs typeface="PingFang SC"/>
              </a:rPr>
              <a:t>无初态双流回归 1.52%；当前 guard 不感知实时并发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1EBBA-792E-4B09-8F75-46300B0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4D7C9"/>
                </a:solidFill>
                <a:latin typeface="PingFang SC"/>
                <a:ea typeface="PingFang SC"/>
                <a:cs typeface="PingFang SC"/>
              </a:rPr>
              <a:t>端到端过 gate 后，再评估 Cluster/multicast 与跨 Phase TCGEN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2BD32-74C6-4A97-B7D8-10D021BB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8B8C8"/>
                </a:solidFill>
                <a:latin typeface="PingFang SC"/>
                <a:ea typeface="PingFang SC"/>
                <a:cs typeface="PingFang SC"/>
              </a:rPr>
              <a:t>一句话回答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D1450-C78B-412C-958F-8241FA83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53150"/>
            <a:ext cx="935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SM100 的价值在重塑并行与数据流，不在替换一条看起来更“新”的指令。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8ABF0-A564-4815-87B2-0D763D5F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47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A8BC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8FA8BC"/>
                </a:solidFill>
                <a:latin typeface="Menlo"/>
                <a:ea typeface="Menlo"/>
                <a:cs typeface="Menl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92097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2026-09-06T03:16:20.5270000Z</dcterms:created>
  <dcterms:modified xsi:type="dcterms:W3CDTF">2026-09-06T03:16:20.5270000Z</dcterms:modified>
</coreProperties>
</file>