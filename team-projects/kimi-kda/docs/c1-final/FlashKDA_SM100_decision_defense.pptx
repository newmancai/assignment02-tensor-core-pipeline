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f3786fd437450b" /><Relationship Type="http://schemas.openxmlformats.org/officeDocument/2006/relationships/extended-properties" Target="/docProps/app.xml" Id="R5ec719884a414a2e" /><Relationship Type="http://schemas.openxmlformats.org/officeDocument/2006/relationships/officeDocument" Target="/ppt/presentation.xml" Id="R531ca8f45bfc4b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79262adff24e32"/>
  </p:sldMasterIdLst>
  <p:notesMasterIdLst>
    <p:notesMasterId xmlns:r="http://schemas.openxmlformats.org/officeDocument/2006/relationships" r:id="R60e2068e60034d2d"/>
  </p:notesMasterIdLst>
  <p:sldIdLst>
    <p:sldId xmlns:r="http://schemas.openxmlformats.org/officeDocument/2006/relationships" id="256" r:id="R81f4aaa1f6354865"/>
    <p:sldId xmlns:r="http://schemas.openxmlformats.org/officeDocument/2006/relationships" id="257" r:id="R01a407253f1d416d"/>
    <p:sldId xmlns:r="http://schemas.openxmlformats.org/officeDocument/2006/relationships" id="258" r:id="Rc7492833adaf42ec"/>
    <p:sldId xmlns:r="http://schemas.openxmlformats.org/officeDocument/2006/relationships" id="259" r:id="R1ca0aaec556a4cb5"/>
    <p:sldId xmlns:r="http://schemas.openxmlformats.org/officeDocument/2006/relationships" id="260" r:id="R0772fef7f98f4b1a"/>
    <p:sldId xmlns:r="http://schemas.openxmlformats.org/officeDocument/2006/relationships" id="261" r:id="R274e4d4330e449ca"/>
    <p:sldId xmlns:r="http://schemas.openxmlformats.org/officeDocument/2006/relationships" id="262" r:id="R01e2c273af124fab"/>
    <p:sldId xmlns:r="http://schemas.openxmlformats.org/officeDocument/2006/relationships" id="263" r:id="R7ed290819b724e06"/>
    <p:sldId xmlns:r="http://schemas.openxmlformats.org/officeDocument/2006/relationships" id="264" r:id="R7011492e1c6f41cd"/>
    <p:sldId xmlns:r="http://schemas.openxmlformats.org/officeDocument/2006/relationships" id="265" r:id="R06ef20c1897e43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c75f2053484032" /><Relationship Type="http://schemas.openxmlformats.org/officeDocument/2006/relationships/slideMaster" Target="/ppt/slideMasters/slideMaster1.xml" Id="Rd979262adff24e32" /><Relationship Type="http://schemas.openxmlformats.org/officeDocument/2006/relationships/notesMaster" Target="/ppt/notesMasters/notesMaster1.xml" Id="R60e2068e60034d2d" /><Relationship Type="http://schemas.openxmlformats.org/officeDocument/2006/relationships/presProps" Target="/ppt/presProps.xml" Id="Ref6ae9418afb482d" /><Relationship Type="http://schemas.openxmlformats.org/officeDocument/2006/relationships/tableStyles" Target="/ppt/tableStyles.xml" Id="R33c4587ee0c24e35" /><Relationship Type="http://schemas.openxmlformats.org/officeDocument/2006/relationships/slide" Target="/ppt/slides/slide1.xml" Id="R81f4aaa1f6354865" /><Relationship Type="http://schemas.openxmlformats.org/officeDocument/2006/relationships/slide" Target="/ppt/slides/slide2.xml" Id="R01a407253f1d416d" /><Relationship Type="http://schemas.openxmlformats.org/officeDocument/2006/relationships/slide" Target="/ppt/slides/slide3.xml" Id="Rc7492833adaf42ec" /><Relationship Type="http://schemas.openxmlformats.org/officeDocument/2006/relationships/slide" Target="/ppt/slides/slide4.xml" Id="R1ca0aaec556a4cb5" /><Relationship Type="http://schemas.openxmlformats.org/officeDocument/2006/relationships/slide" Target="/ppt/slides/slide5.xml" Id="R0772fef7f98f4b1a" /><Relationship Type="http://schemas.openxmlformats.org/officeDocument/2006/relationships/slide" Target="/ppt/slides/slide6.xml" Id="R274e4d4330e449ca" /><Relationship Type="http://schemas.openxmlformats.org/officeDocument/2006/relationships/slide" Target="/ppt/slides/slide7.xml" Id="R01e2c273af124fab" /><Relationship Type="http://schemas.openxmlformats.org/officeDocument/2006/relationships/slide" Target="/ppt/slides/slide8.xml" Id="R7ed290819b724e06" /><Relationship Type="http://schemas.openxmlformats.org/officeDocument/2006/relationships/slide" Target="/ppt/slides/slide9.xml" Id="R7011492e1c6f41cd" /><Relationship Type="http://schemas.openxmlformats.org/officeDocument/2006/relationships/slide" Target="/ppt/slides/slide10.xml" Id="R06ef20c1897e43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caa3111be54c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ff8b52b2124ee6" /><Relationship Type="http://schemas.openxmlformats.org/officeDocument/2006/relationships/notesMaster" Target="/ppt/notesMasters/notesMaster1.xml" Id="R1362a8ce69a847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051fe6f1b64e04" /><Relationship Type="http://schemas.openxmlformats.org/officeDocument/2006/relationships/notesMaster" Target="/ppt/notesMasters/notesMaster1.xml" Id="Rb7382b3451c542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e5f9ceee984650" /><Relationship Type="http://schemas.openxmlformats.org/officeDocument/2006/relationships/notesMaster" Target="/ppt/notesMasters/notesMaster1.xml" Id="R20e4d0fd5d134a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f4d19d6af24ad1" /><Relationship Type="http://schemas.openxmlformats.org/officeDocument/2006/relationships/notesMaster" Target="/ppt/notesMasters/notesMaster1.xml" Id="R7cb50b0dd23845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23f7448f754c39" /><Relationship Type="http://schemas.openxmlformats.org/officeDocument/2006/relationships/notesMaster" Target="/ppt/notesMasters/notesMaster1.xml" Id="Rabcbc6f3220246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8fc06289d34001" /><Relationship Type="http://schemas.openxmlformats.org/officeDocument/2006/relationships/notesMaster" Target="/ppt/notesMasters/notesMaster1.xml" Id="Rd43d4471299b43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9ff4d6e53b4789" /><Relationship Type="http://schemas.openxmlformats.org/officeDocument/2006/relationships/notesMaster" Target="/ppt/notesMasters/notesMaster1.xml" Id="Rb8ecf372a98240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cff5c142b845c9" /><Relationship Type="http://schemas.openxmlformats.org/officeDocument/2006/relationships/notesMaster" Target="/ppt/notesMasters/notesMaster1.xml" Id="R539b28540cf541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2493a6143d4f80" /><Relationship Type="http://schemas.openxmlformats.org/officeDocument/2006/relationships/notesMaster" Target="/ppt/notesMasters/notesMaster1.xml" Id="Rd486f107735743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6cdedd0fcb4fb9" /><Relationship Type="http://schemas.openxmlformats.org/officeDocument/2006/relationships/notesMaster" Target="/ppt/notesMasters/notesMaster1.xml" Id="R225b3dc43cce44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开场先直接回答 C1：SM100 值得利用，但不值得把 FlashKDA 整体机械改成 tcgen05。我们在 B300 上复现、反汇编和 profiler 后发现，TP8 单请求时首要问题不是 Tensor Core 峰值，而是 K2 只有 12 个 CTA 喂 148 个 SM。挑战阶段因此交付 ValueSlice，把 grid 扩到 96 CTA，单序列长 prefill 的 FlashKDA forward 降时约 27%；同时保留 V128 fallback。接下来九页给出为何 stop 与为何 ship 的完整证据。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team-projects/kimi-kda/experiments/final_campaign/FINAL_REPORT.md</a:t>
            </a:r>
          </a:p>
          <a:p xmlns:a="http://schemas.openxmlformats.org/drawingml/2006/main">
            <a:r>
              <a:t>- team-projects/kimi-kda/experiments/final_campaign/data/raw/03_tcgen05_probe_17937.csv</a:t>
            </a:r>
          </a:p>
          <a:p xmlns:a="http://schemas.openxmlformats.org/drawingml/2006/main">
            <a:r>
              <a:t>- team-projects/kimi-kda/experiments/final_campaign/data/raw/05_dispatch_upgrade_17947.csv</a:t>
            </a:r>
          </a:p>
          <a:p xmlns:a="http://schemas.openxmlformats.org/drawingml/2006/main">
            <a:r>
              <a:t>- team-projects/kimi-kda/experiments/final_campaign/data/raw/05_targeted_ncu_summary_17965.csv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第一阶段先避免在错误基线上优化。我们用官方 commit、官方 warmup 和 repeat 口径，在 B300 重跑 H96 与 H64 的 fixed、ragged6、8×1024。FlashKDA 比 FLA chunk KDA 快 1.79 到 3.42 倍；H96 fixed 是 1.0304 毫秒。也就是说官方实现已经很强，SM100 重写必须越过一个高基线，而不是只展示理论峰值。官方 worktree 与补丁扩展分离，后续 parity 也确认 baseline 没被污染。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team-projects/kimi-kda/experiments/final_campaign/data/raw/01_official_benchmark_17926.log</a:t>
            </a:r>
          </a:p>
          <a:p xmlns:a="http://schemas.openxmlformats.org/drawingml/2006/main">
            <a:r>
              <a:t>- https://github.com/MoonshotAI/FlashKDA/blob/master/docs/20260420-flashkda-v1-deep-dive.md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反汇编确认题面：K2 里有 3640 条静态 HMMA.16816 BF16，没有 TCGEN 或 UTCMMA。但这只说明用了旧 MMA atom，不等于它就是瓶颈。K3 有 96 个 KDA heads；在 TP8 代表形状上每卡 H12，而官方 K2 grid 是 sequence 乘 head，所以单请求仅 12 CTA，最多覆盖 148 个 SM 的 8.1%。NCU 中 SM 与 DRAM throughput 只有 2.64% 和 1.24%。ValueSlice 扩到 96 CTA 后 duration 降 29%，所以首要边界是 grid underfill、chunk recurrence critical path 与 CTA 内等待，而不是峰值 Tensor Core 或 HBM。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team-projects/kimi-kda/experiments/final_campaign/data/raw/05_targeted_ncu_metrics_17965.csv</a:t>
            </a:r>
          </a:p>
          <a:p xmlns:a="http://schemas.openxmlformats.org/drawingml/2006/main">
            <a:r>
              <a:t>- team-projects/kimi-kda/experiments/final_campaign/data/raw/05_targeted_ncu_summary_17965.csv</a:t>
            </a:r>
          </a:p>
          <a:p xmlns:a="http://schemas.openxmlformats.org/drawingml/2006/main">
            <a:r>
              <a:t>- team-projects/kimi-kda/experiments/data/sass_opcode_summary.csv</a:t>
            </a:r>
          </a:p>
          <a:p xmlns:a="http://schemas.openxmlformats.org/drawingml/2006/main">
            <a:r>
              <a:t>- https://github.com/MoonshotAI/Kimi-K3</a:t>
            </a:r>
          </a:p>
          <a:p xmlns:a="http://schemas.openxmlformats.org/drawingml/2006/main">
            <a:r>
              <a:t>- https://arxiv.org/abs/2607.24653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CHUNK16 同时耦合指数范围、16×16 Neumann inverse 与 m16n8k16 形状。把常量改成 32 或 64，最先破的是当前没有 rescale 的指数恢复：在 lower bound 负五的分析条件下，两者都从 token 18 开始出现 FTZ 和 overflow。其次，若把现有密集 Neumann 幂级数朴素延伸，每序列代价变成 5.33 和 26.67 倍。workspace 只从每 head 6.75 MiB 增到 8.06 MiB，不是先撞上的墙。FLA 小探针说明 block/rescale 能做对，但那已经是算法重设，不是简单迁移。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team-projects/kimi-kda/experiments/final_campaign/data/raw/04_chunk_analysis_17935.csv</a:t>
            </a:r>
          </a:p>
          <a:p xmlns:a="http://schemas.openxmlformats.org/drawingml/2006/main">
            <a:r>
              <a:t>- team-projects/kimi-kda/experiments/final_campaign/data/raw/04_chunk_analysis_17935.log</a:t>
            </a:r>
          </a:p>
          <a:p xmlns:a="http://schemas.openxmlformats.org/drawingml/2006/main">
            <a:r>
              <a:t>- https://github.com/MoonshotAI/FlashKDA/blob/master/docs/20260420-flashkda-v1-deep-dive.md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tcgen05 不是与 CHUNK16 完全不匹配。BF16 CTA-group1 支持 K16，Phase6 的 128×16 乘 16×V 正好能映射到 m128nVk16；所以我们专门挑了这个最有利 phase。L0 让两边进入计算时各自拥有偏好的片上布局，对 tcgen05 是乐观口径。即使把 alloc、commit、wait 和 TMEM 读回的固定成本摊薄 64 次，K3 的 V128 在 grid12 只有 0.920 倍，在 grid148 只有 0.904 倍，小于一代表比 mma.sync 慢。因此 direct swap 停止。但它仍留下一个更高门槛的问题：跨多个 phase 共用转置布局与 TMEM 生命周期，未来可以重新开题。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team-projects/kimi-kda/experiments/final_campaign/analysis_tcgen05.md</a:t>
            </a:r>
          </a:p>
          <a:p xmlns:a="http://schemas.openxmlformats.org/drawingml/2006/main">
            <a:r>
              <a:t>- team-projects/kimi-kda/experiments/final_campaign/data/raw/03_tcgen05_probe_17937.csv</a:t>
            </a:r>
          </a:p>
          <a:p xmlns:a="http://schemas.openxmlformats.org/drawingml/2006/main">
            <a:r>
              <a:t>- team-projects/kimi-kda/experiments/final_campaign/data/raw/03_tcgen05_probe_17937.sass</a:t>
            </a:r>
          </a:p>
          <a:p xmlns:a="http://schemas.openxmlformats.org/drawingml/2006/main">
            <a:r>
              <a:t>- https://docs.nvidia.com/cutlass/latest/media/docs/pythonDSL/cute_dsl_api/cute_nvgpu_tcgen05.html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chunk 之间的 state recurrence 不能凭空并行，所以我们不在依赖方向上硬拆。K2 的 Value 行彼此独立：V128 时一个 CTA 更新 128 行；V16 时拆成八个 CTA，每个只更新 16 行。H12 的 grid 因此从 12 变成 96 CTA。总 Tensor FLOPs 不变，也不需要 reduction 或 atomic；每一行内部的运算和归约顺序不变，这也是后面能 bitwise equal 的原因。代价是 slice-independent 的公共输入被多个 CTA 重复请求，下一步才轮到 CTA Cluster 和 TMA multicast 解决数据复用。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team-projects/kimi-kda/patches/0001-k2-value-slice-and-dispatch.patch</a:t>
            </a:r>
          </a:p>
          <a:p xmlns:a="http://schemas.openxmlformats.org/drawingml/2006/main">
            <a:r>
              <a:t>- team-projects/kimi-kda/experiments/final_campaign/FINAL_REPORT.md</a:t>
            </a:r>
          </a:p>
          <a:p xmlns:a="http://schemas.openxmlformats.org/drawingml/2006/main">
            <a:r>
              <a:t>- https://docs.nvidia.com/cuda/cuda-c-programming-guide/index.html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挑战结果不是一个孤立最快点，而是 workload-dependent 结论。fixed 单序列 auto V16 降时 27.0%，packed 单序列升级 dispatcher 后降时 26.9%。但相同总 token 若拆成 32 条 256，负载自身已有自然并行度，强制 V16 反而慢 106%。所以 total tokens 不足以决定 slice。当前可辩护的规则只用 cu_seqlens 的元素个数识别 packed N等于1，不读取 GPU 上的长度值，也不引入同步；N大于1仍回退 V128。98 条 V16、V32、V64 对 V128 比较全部 bitwise equal。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team-projects/kimi-kda/experiments/final_campaign/data/raw/05_dispatch_upgrade_17947.csv</a:t>
            </a:r>
          </a:p>
          <a:p xmlns:a="http://schemas.openxmlformats.org/drawingml/2006/main">
            <a:r>
              <a:t>- team-projects/kimi-kda/experiments/final_campaign/data/raw/05_dispatch_upgrade_17947.log</a:t>
            </a:r>
          </a:p>
          <a:p xmlns:a="http://schemas.openxmlformats.org/drawingml/2006/main">
            <a:r>
              <a:t>- team-projects/kimi-kda/patches/0002-dispatch-packed-single-sequence.patch</a:t>
            </a:r>
          </a:p>
          <a:p xmlns:a="http://schemas.openxmlformats.org/drawingml/2006/main">
            <a:r>
              <a:t>- team-projects/kimi-kda/experiments/final_campaign/data/raw/03_reference_correctness_17934.csv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正确性分三层。第一，官方 clean extension 与 patched V128 的输出和 final state bitwise 相同。第二，ValueSlice 的 98 条对照全部 bitwise equal。第三，与题目指定的 naive.py 和 chunk.py 独立参考对拍，200 条 comparison row 全部 finite，观测最坏 relative RMSE 是 0.9131%。这里故意不说两百条都通过某个统一阈值，因为脚本没有定义这样的硬阈值。另一个边界是公开 BF16 与 FP32 state buffer 路径精度相同，是因为内部仍在 BF16 舍入点计算；它不是完整 FP32 recurrence 对照，更不是模型 perplexity 或任务精度证明。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team-projects/kimi-kda/experiments/final_campaign/data/raw/03_reference_correctness_17934.csv</a:t>
            </a:r>
          </a:p>
          <a:p xmlns:a="http://schemas.openxmlformats.org/drawingml/2006/main">
            <a:r>
              <a:t>- team-projects/kimi-kda/experiments/final_campaign/data/raw/03_reference_correctness_17934.log</a:t>
            </a:r>
          </a:p>
          <a:p xmlns:a="http://schemas.openxmlformats.org/drawingml/2006/main">
            <a:r>
              <a:t>- team-projects/kimi-kda/experiments/final_campaign/data/raw/baseline_parity.json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Kimi K3 的 93 层里有 69 层 KDA，但层数比例不是 wall-time 比例。FlashKDA forward 的 27% 可以直接进入 KDA prefill 组件，却还要乘它在完整 prefill 中的时间占比 p。若 p 是 20%、40%、60%，理想 prefill 降时分别约 5.4%、10.8%、16.2%。这不是端到端结果。TTFT 还含投影、norm、非 KDA 层和通信；TPOT 走独立 decode 路径；goodput 还取决于排队、continuous batching 与哪个 SLO 绑定。本轮单 B300 也没有实测 TP8 NCCL。卡内下一步是用 cluster 与 TMA multicast 减少 ValueSlice 的公共输入重复搬运。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team-projects/kimi-kda/experiments/final_campaign/FINAL_REPORT.md</a:t>
            </a:r>
          </a:p>
          <a:p xmlns:a="http://schemas.openxmlformats.org/drawingml/2006/main">
            <a:r>
              <a:t>- team-projects/kimi-kda/experiments/final_campaign/data/raw/05_dispatch_upgrade_17947.csv</a:t>
            </a:r>
          </a:p>
          <a:p xmlns:a="http://schemas.openxmlformats.org/drawingml/2006/main">
            <a:r>
              <a:t>- https://github.com/MoonshotAI/Kimi-K3</a:t>
            </a:r>
          </a:p>
          <a:p xmlns:a="http://schemas.openxmlformats.org/drawingml/2006/main">
            <a:r>
              <a:t>- https://arxiv.org/abs/2607.24653</a:t>
            </a:r>
          </a:p>
          <a:p xmlns:a="http://schemas.openxmlformats.org/drawingml/2006/main">
            <a:r>
              <a:t>- https://docs.nvidia.com/cuda/cuda-c-programming-guide/index.html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收束到最终提交决策。第一，停止全面 direct swap，因为最自然、最乐观的 V128 Phase6 仍没有正信号。第二，发布 V128 fallback 加 guarded ValueSlice：它直接命中 underfill，固定和 packed 单序列都降时约 27%，同时有多短序列反例，所以必须带 dispatcher。第三，下一项不是继续堆 tcgen，而是用 CTA Cluster 与 TMA multicast 解决 ValueSlice 引入的公共输入重复搬运，并用 residency、bytes、同步和 duration 四项 gate。题目的核心答案就是：SM100 的价值在重塑并行与数据流，不在替换一条看起来更新的指令。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team-projects/kimi-kda/experiments/final_campaign/FINAL_REPORT.md</a:t>
            </a:r>
          </a:p>
          <a:p xmlns:a="http://schemas.openxmlformats.org/drawingml/2006/main">
            <a:r>
              <a:t>- team-projects/kimi-kda/experiments/final_campaign/SUBMISSION_AUDIT.md</a:t>
            </a:r>
          </a:p>
          <a:p xmlns:a="http://schemas.openxmlformats.org/drawingml/2006/main">
            <a:r>
              <a:t>- team-projects/kimi-kda/patches/0001-k2-value-slice-and-dispatch.patch</a:t>
            </a:r>
          </a:p>
          <a:p xmlns:a="http://schemas.openxmlformats.org/drawingml/2006/main">
            <a:r>
              <a:t>- team-projects/kimi-kda/patches/0002-dispatch-packed-single-sequence.patch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fe886737f47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d7be8355024d5a" /><Relationship Type="http://schemas.openxmlformats.org/officeDocument/2006/relationships/slideLayout" Target="/ppt/slideLayouts/slideLayout1.xml" Id="Rf745fb39414444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45fb39414444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2ece7f62947d4" /><Relationship Type="http://schemas.openxmlformats.org/officeDocument/2006/relationships/notesSlide" Target="/ppt/notesSlides/notesSlide1.xml" Id="R30f4be623ab14d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192eaf8f6499e" /><Relationship Type="http://schemas.openxmlformats.org/officeDocument/2006/relationships/image" Target="/ppt/media/image.png" Id="Rd8b14df3b9004407" /><Relationship Type="http://schemas.openxmlformats.org/officeDocument/2006/relationships/notesSlide" Target="/ppt/notesSlides/notesSlide2.xml" Id="Ra865e47559d248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d5087aceb4e73" /><Relationship Type="http://schemas.openxmlformats.org/officeDocument/2006/relationships/image" Target="/ppt/media/image2.png" Id="R7c87c9ecb7be48dc" /><Relationship Type="http://schemas.openxmlformats.org/officeDocument/2006/relationships/notesSlide" Target="/ppt/notesSlides/notesSlide3.xml" Id="R6c23dc33ead449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63330e7cb41a2" /><Relationship Type="http://schemas.openxmlformats.org/officeDocument/2006/relationships/image" Target="/ppt/media/image3.png" Id="R6b92137d47514703" /><Relationship Type="http://schemas.openxmlformats.org/officeDocument/2006/relationships/notesSlide" Target="/ppt/notesSlides/notesSlide4.xml" Id="R50f96ee579a446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432db31414d8c" /><Relationship Type="http://schemas.openxmlformats.org/officeDocument/2006/relationships/image" Target="/ppt/media/image4.png" Id="Rcceff241e3494fe5" /><Relationship Type="http://schemas.openxmlformats.org/officeDocument/2006/relationships/notesSlide" Target="/ppt/notesSlides/notesSlide5.xml" Id="Racdaf134d8844d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f03c6a41b476b" /><Relationship Type="http://schemas.openxmlformats.org/officeDocument/2006/relationships/notesSlide" Target="/ppt/notesSlides/notesSlide6.xml" Id="R6e1d0726e7fd4a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590a343604c21" /><Relationship Type="http://schemas.openxmlformats.org/officeDocument/2006/relationships/image" Target="/ppt/media/image5.png" Id="R25c07ad30b064967" /><Relationship Type="http://schemas.openxmlformats.org/officeDocument/2006/relationships/notesSlide" Target="/ppt/notesSlides/notesSlide7.xml" Id="Re73803c01ed147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f988f39144a1d" /><Relationship Type="http://schemas.openxmlformats.org/officeDocument/2006/relationships/image" Target="/ppt/media/image6.png" Id="Rb2ea1485575b41e0" /><Relationship Type="http://schemas.openxmlformats.org/officeDocument/2006/relationships/notesSlide" Target="/ppt/notesSlides/notesSlide8.xml" Id="Rbc8bbc0e39034d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beca65835475a" /><Relationship Type="http://schemas.openxmlformats.org/officeDocument/2006/relationships/notesSlide" Target="/ppt/notesSlides/notesSlide9.xml" Id="Rc864423ac7974e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21b9a73454101" /><Relationship Type="http://schemas.openxmlformats.org/officeDocument/2006/relationships/notesSlide" Target="/ppt/notesSlides/notesSlide10.xml" Id="R02bb0a30c2264d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6A5C2-6B9A-4520-B4A0-AF6DF102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B8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8B8C8"/>
                </a:solidFill>
                <a:latin typeface="PingFang SC"/>
                <a:ea typeface="PingFang SC"/>
                <a:cs typeface="PingFang SC"/>
              </a:rPr>
              <a:t>C1 · B300 / SM103 · 复现—分析—挑战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EBC91-0D6C-49D0-9E88-781CFB5D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FlashKDA 从 SM80 MMA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迁移到 SM100 是否值得？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04968-3778-4A26-B5AA-ED422ADF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9D8E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9D8E5"/>
                </a:solidFill>
                <a:latin typeface="PingFang SC"/>
                <a:ea typeface="PingFang SC"/>
                <a:cs typeface="PingFang SC"/>
              </a:rPr>
              <a:t>答案不是“新指令一定更快”，而是选择真正命中瓶颈的 SM100 专用化。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C8541-A979-4C40-8401-58E9F187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57625"/>
            <a:ext cx="12192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2AE2F-3F1B-430E-8DE4-A5AE2713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6672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112E49"/>
          </a:solidFill>
          <a:ln xmlns:a="http://schemas.openxmlformats.org/drawingml/2006/main" w="9525">
            <a:solidFill>
              <a:srgbClr val="2E4B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B73A9-7E6F-49D1-BBA5-97C8F6FB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CC11D-EFED-4D2D-A53D-AB41B852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41586-FF14-471A-AFF5-BF121E08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398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全面 mma.sync → tcgen05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DC91F-8080-44D0-B826-F7E8347A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FD0D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FD0DE"/>
                </a:solidFill>
                <a:latin typeface="PingFang SC"/>
                <a:ea typeface="PingFang SC"/>
                <a:cs typeface="PingFang SC"/>
              </a:rPr>
              <a:t>V128 Phase-6：0.920×，直接替换不集成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6ADD9-46C1-457C-B7CE-46B9A065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49911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103A3B"/>
          </a:solidFill>
          <a:ln xmlns:a="http://schemas.openxmlformats.org/drawingml/2006/main" w="9525">
            <a:solidFill>
              <a:srgbClr val="2A66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BD624-BBF5-4208-83A6-E41F2C25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370B0-88BE-4DDD-91C6-4C44BC61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718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18379-D967-4826-B947-79DDB899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81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guarded ValueSlice / SM103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8AE24-7AF7-4962-AA19-6BF8135E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81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7E2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7E2DF"/>
                </a:solidFill>
                <a:latin typeface="PingFang SC"/>
                <a:ea typeface="PingFang SC"/>
                <a:cs typeface="PingFang SC"/>
              </a:rPr>
              <a:t>12 → 96 CTA；single-sequence forward −27%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D50B8-FB19-4FA2-AA33-F01C706F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B8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8B8C8"/>
                </a:solidFill>
                <a:latin typeface="PingFang SC"/>
                <a:ea typeface="PingFang SC"/>
                <a:cs typeface="PingFang SC"/>
              </a:rPr>
              <a:t>最终结论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9D5D0-182F-4429-9050-55E24155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SM100 值得利用；机械替换 SM80 MMA 不值得。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A5849-C91D-4A5E-8E4A-455D80DB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FA8B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8FA8BC"/>
                </a:solidFill>
                <a:latin typeface="Menlo"/>
                <a:ea typeface="Menlo"/>
                <a:cs typeface="Menlo"/>
              </a:rPr>
              <a:t>10 min defense · 2026-09-03</a:t>
            </a:r>
          </a:p>
        </p:txBody>
      </p:sp>
    </p:spTree>
    <p:extLst>
      <p:ext uri="{BB962C8B-B14F-4D97-AF65-F5344CB8AC3E}">
        <p14:creationId xmlns:p14="http://schemas.microsoft.com/office/powerpoint/2010/main" val="14014588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5D66F-B55D-4E26-BCCB-FD53EEB3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阶段一｜复现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57B2C-F06D-401E-920B-783EB1F3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90359-B407-4461-99BB-958FA3DF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先确认强基线：官方 FlashKDA 在 B300 上成立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494CF-60F2-4049-AAFE-90655878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1399C-72D7-48CF-AD05-9B427B1D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1.79–3.42×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AF399-F811-4042-B74C-7DF034F2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相对 FLA chunk KDA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六个官方形状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11D7B-A8F6-4F8B-BDED-F36FF8B1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84F7F-917C-4B71-93CE-FD2537E9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1.030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5ABE4-A77A-42C3-90F6-181143E5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H96 · fixed · BF16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A1E14-119A-4148-8411-E0ACC75A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93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9C284-8640-4A67-8931-B3F24404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完整官方 job 运行时间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84A93-A736-4528-8360-36C6BF0F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EC5E4-C7CB-4B2E-B4AF-97F1A0CF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95875"/>
            <a:ext cx="2390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warmup 30 / iters 200 / repeats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B4811-0821-4AB8-B759-B84841C1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C4877-A270-4765-A767-F5084C78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24500"/>
            <a:ext cx="2390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commit 1ce47ea；干净 worktree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14df3b9004407"/>
          <a:stretch xmlns:a="http://schemas.openxmlformats.org/drawingml/2006/main"/>
        </p:blipFill>
        <p:spPr>
          <a:xfrm xmlns:a="http://schemas.openxmlformats.org/drawingml/2006/main">
            <a:off x="3448050" y="1381125"/>
            <a:ext cx="7924800" cy="4953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3181D-6FB6-49D4-AB49-A4A32434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97766-76C2-4033-92EF-EC6F04C2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Evidence · Slurm Job 17926 · B300 SXM6 AC · CC 10.3</a:t>
            </a:r>
          </a:p>
        </p:txBody>
      </p:sp>
    </p:spTree>
    <p:extLst>
      <p:ext uri="{BB962C8B-B14F-4D97-AF65-F5344CB8AC3E}">
        <p14:creationId xmlns:p14="http://schemas.microsoft.com/office/powerpoint/2010/main" val="218264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8928F-C78B-4426-9602-45565700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阶段一｜测量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4C169-2284-4580-9120-BF2FFAD4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D669A-843A-4E1C-9C0E-6DF7984B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SM80 MMA 成立，但首要瓶颈不是 Tensor Core 峰值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04745-7E96-423C-A72B-C11A4771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2F6B1-0276-413C-ADED-ECA63A12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5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3B830-D568-4DC4-BBBD-57CC845F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6429D-0636-47D3-92FA-763B6F54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3,640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635F6-7238-4DB6-8297-9D72121A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2A43"/>
                </a:solidFill>
                <a:latin typeface="Menlo"/>
                <a:ea typeface="Menlo"/>
                <a:cs typeface="Menlo"/>
              </a:rPr>
              <a:t>HMMA.16816.F32.BF16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7AC5B-DCEE-4A77-B10A-67377646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534F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D9534F"/>
                </a:solidFill>
                <a:latin typeface="Menlo"/>
                <a:ea typeface="Menlo"/>
                <a:cs typeface="Menlo"/>
              </a:rPr>
              <a:t>TCGEN / UTCMMA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B8EC3-1C22-4E63-9FA7-F81321E6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220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D1CD4-65EC-4E49-9327-4D4A8803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36A44-CE40-40FF-8535-6BE7BA1E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TP8 形状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984BC-F48C-4E07-9AD9-EB5B77F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102A43"/>
                </a:solidFill>
                <a:latin typeface="Menlo"/>
                <a:ea typeface="Menlo"/>
                <a:cs typeface="Menlo"/>
              </a:rPr>
              <a:t>H = 96 / 8 = 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DCC52-24F4-41E0-8464-94565229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K2 grid：12 CTA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148 SM；覆盖 ≤ 8.1%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350FF-EC6A-4CC1-B57F-FB6776FD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SM 2.64% · DRAM 1.24%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→ grid underfill + recurrence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7c9ecb7be48dc"/>
          <a:stretch xmlns:a="http://schemas.openxmlformats.org/drawingml/2006/main"/>
        </p:blipFill>
        <p:spPr>
          <a:xfrm xmlns:a="http://schemas.openxmlformats.org/drawingml/2006/main">
            <a:off x="3419475" y="1381125"/>
            <a:ext cx="7924800" cy="4953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4E7F2-BB21-43E3-90F9-0F297454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AD0E1-A073-4BDE-9555-0A48B1B8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Evidence · static SASS + Job 17965 NCU · tensor metric uses elapsed-cycle denominator</a:t>
            </a:r>
          </a:p>
        </p:txBody>
      </p:sp>
    </p:spTree>
    <p:extLst>
      <p:ext uri="{BB962C8B-B14F-4D97-AF65-F5344CB8AC3E}">
        <p14:creationId xmlns:p14="http://schemas.microsoft.com/office/powerpoint/2010/main" val="369393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5078E-7693-469E-868D-44CC473E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阶段二｜讨论点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6B670-FFDF-4A1A-93F8-33221E59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16866-809E-4E38-BF5E-3C40997D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CHUNK=16 是数值与算法边界，不是随手可改的常量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C2276-9080-4200-BC71-ED9ECA2F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73FE1-094A-442E-8528-EE274996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谁先破？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4DD0A-D2CD-4609-8624-802AABC8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02242-8877-45D7-A28A-66E8D46F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① 数值路径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F5AEA-D813-4221-AEA1-937255A4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C32 / C64 都在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token 18 首次 FTZ / overflow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8D998-F8DA-4D87-AD78-A73033D4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4866C-C20B-4C45-BE08-0304535E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② Neumann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EEF73-28A5-4F9F-8A6E-46622EBD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每序列代价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5.33× / 26.67×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724F6-D101-4E1A-BFE7-DDE9EE22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91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DB676-5342-4D3B-B208-83F64D1A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③ workspace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AF96B-FC9C-4BEC-B5B0-1BEFCB09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245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6.75 → 8.06 MiB / head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温和上升，不是第一约束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2137d47514703"/>
          <a:stretch xmlns:a="http://schemas.openxmlformats.org/drawingml/2006/main"/>
        </p:blipFill>
        <p:spPr>
          <a:xfrm xmlns:a="http://schemas.openxmlformats.org/drawingml/2006/main">
            <a:off x="3419475" y="1381125"/>
            <a:ext cx="7924800" cy="4953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2E576-7D48-42EC-90F7-9BE1E8AF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A76EB-DB0F-422E-8A34-1AF2F3D1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Decision · 不做机械 C32/C64；若继续，必须同时引入 rescale / block solve</a:t>
            </a:r>
          </a:p>
        </p:txBody>
      </p:sp>
    </p:spTree>
    <p:extLst>
      <p:ext uri="{BB962C8B-B14F-4D97-AF65-F5344CB8AC3E}">
        <p14:creationId xmlns:p14="http://schemas.microsoft.com/office/powerpoint/2010/main" val="2068611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AA009-B685-4BAD-A4C4-7287F348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阶段二｜讨论点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4302D-4A94-4020-9DE3-4213AE58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18B13-38CC-42AB-B61F-2FBB1B65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给 tcgen05 最有利的 Phase-6，它仍未通过 V128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B5D07-1DF1-4B36-92E0-FF61ED32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614EB-71F3-440A-8F33-646FC227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自然映射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890D1-1539-490B-AC54-1B9D2DF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362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F9E0F-9EB7-4ED4-B9AF-CCF512E1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95C86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95C86"/>
                </a:solidFill>
                <a:latin typeface="Menlo"/>
                <a:ea typeface="Menlo"/>
                <a:cs typeface="Menlo"/>
              </a:rPr>
              <a:t>[128,16] × [16,V]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2AB48-3F9B-40C5-B951-681749C2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→ m128nVk16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14A50-DE4D-494E-A5A0-49A63638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0.920×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2803D-6423-48D0-9369-B7C040F4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V128 · grid12 · L0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固定成本摊薄 64 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5CD42-4957-4E82-90EE-E450EBFB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0.904×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9F61D-F6D5-4932-B3FF-32FC5C40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V128 · grid148 · L0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仍慢 10.6%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E213B-031B-4E88-89C2-B2578C5C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保留开放问题：跨 Phase 共用转置布局 / TMEM 生命周期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ff241e3494fe5"/>
          <a:stretch xmlns:a="http://schemas.openxmlformats.org/drawingml/2006/main"/>
        </p:blipFill>
        <p:spPr>
          <a:xfrm xmlns:a="http://schemas.openxmlformats.org/drawingml/2006/main">
            <a:off x="3419475" y="1381125"/>
            <a:ext cx="79248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EF506-3ED7-4A72-BA43-D906D888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BACD7-01F9-4457-BBF6-1C497B13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Stop gate · 不集成 direct swap；probe 是 Phase-6，不等于证明所有 TMEM 数据流重构都无效</a:t>
            </a:r>
          </a:p>
        </p:txBody>
      </p:sp>
    </p:spTree>
    <p:extLst>
      <p:ext uri="{BB962C8B-B14F-4D97-AF65-F5344CB8AC3E}">
        <p14:creationId xmlns:p14="http://schemas.microsoft.com/office/powerpoint/2010/main" val="1784910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FADA53-4509-4C87-B0FD-423C5F37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阶段三｜挑战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6E4B4-1CDB-461A-BC61-D24063D2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9D3FB-F159-4674-A00C-319CDAEB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ValueSlice：不打破 chunk 依赖，改在独立 Value 行上并行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9B31E-254F-4495-B31B-EF4313B2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E0FE7-259F-4ABC-BFBA-27F3A384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33700"/>
            <a:ext cx="1619250" cy="742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C225D-BD00-4665-8AEA-FF2D70B7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144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官方 V128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C7360-1A75-400F-ACE2-71163BBD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每个 sequence-head 一个 CTA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8FB9D-169B-4E00-ACEC-67255CB5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4671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0B330-13B6-4056-A024-2404F6ED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E8076-10A1-48FF-8F54-EE1FBFB2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33015-D505-482C-8CF6-634789DE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4B502-E25C-4450-8057-79CED561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12540-A948-4E57-B20D-5DEEA563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F6021-34D8-4AE6-B8CC-F5698418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A9EEB-99C8-4227-9295-E9202503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5F8A3-8461-4BF3-9039-CFBE331E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DC2AF-8EE2-4A90-B600-0628F2D7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291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95C8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95C86"/>
                </a:solidFill>
                <a:latin typeface="Menlo"/>
                <a:ea typeface="Menlo"/>
                <a:cs typeface="Menlo"/>
              </a:rPr>
              <a:t>128 个 Value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706A9-62B8-4DE9-B060-B66A55E1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911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BB907-7871-43AC-A8DB-EF8E3C80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006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 CTA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5AB92-341F-4C30-85E4-33DD9466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144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ValueSlice V16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3ED24-3A4F-479C-BE7B-48DEE9CB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47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同一 head 拆成 8 个独立 CTA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D6D525-75F3-4AFF-8E55-22FE6C59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81250"/>
            <a:ext cx="37147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4FAF7"/>
          </a:solidFill>
          <a:ln xmlns:a="http://schemas.openxmlformats.org/drawingml/2006/main" w="9525">
            <a:solidFill>
              <a:srgbClr val="CFE4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8D1FC3-193B-49C4-B010-93DA9D4F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62225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5EC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AB1D9-6B1E-4C03-A2D2-C57BA600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71750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1 · rows 0–15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F46683-3F3D-4484-92A4-8D697A90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57500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7E6D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233223-6AB8-4C17-8E60-4C8CDDE2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67025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2 · rows 16–31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EF039F-A8A2-49C7-9924-FA57F644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52775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B9DF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A4444A-6371-44D3-879A-D57A1242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162300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3 · rows 32–47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074787-86E3-4CA4-9F06-E653CE7A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A8D7B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9B6CB8-3A37-43F3-9C96-F7283229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57575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4 · rows 48–63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E8E34E-BAAF-4C95-9574-FD90C990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43325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98CFA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37ABB7-4EB1-4614-962B-371F60FD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752850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5 · rows 64–79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1890F5-DB27-4311-AA0B-D6960820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87C6A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8EF809-A688-4B00-8077-C6142BDC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048125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6 · rows 80–95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27B31B-0DE6-4A07-A5C6-565EA239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33875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75BC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83EB02-8069-4974-A6EA-5701C218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43400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7 · rows 96–111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C2E15E-1481-433D-9CC1-570FA1C2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29150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62B1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2E861F-855D-4D35-A90D-D3F51D24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638675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8 · rows 112–127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3C7882-1CA9-462D-B539-7038B2B8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911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E65E1C-60D5-4E8F-8CEA-DD42CF28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4006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96 CTA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069D1D-0A13-42B3-944F-6174CD48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576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总 Tensor FLOPs 不变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461F0F-BBCF-4BB0-9A8B-67B99D21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815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每行归约顺序不变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9236A1-577D-475F-9BE1-6CCA9934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053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代价：公共输入被重复请求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43416A-ED76-4A76-A486-60AE137F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138F3F-7872-4FE7-B49D-1E357812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Grid · (N,H) → (N,H,D/V) · 无 reduction / atomic · V∈{16,32,64,128}</a:t>
            </a:r>
          </a:p>
        </p:txBody>
      </p:sp>
    </p:spTree>
    <p:extLst>
      <p:ext uri="{BB962C8B-B14F-4D97-AF65-F5344CB8AC3E}">
        <p14:creationId xmlns:p14="http://schemas.microsoft.com/office/powerpoint/2010/main" val="18574942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CE860-093B-41C9-9D0D-92A24515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阶段三｜结果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566A8-F516-435D-8F50-8946304C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51DC6-E827-4EF7-8797-3383F35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正收益与反例同时成立：必须让 dispatcher 看请求分布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04DCC-F696-434B-B1F9-8768693D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9CCEF-0717-4256-A624-B60BCA2C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−27.0%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6B506-BC79-402B-97A6-AE788BFD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fixed 1×8192 · auto V16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0.7807 → 0.5698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98B0A-7D29-4656-A9EE-7A98B548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−26.9%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0D97A-D4FE-45D1-A423-AFDC632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71825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packed 1×8192 · auto V16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0.7850 → 0.5740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D8714-A73E-4D9D-9439-7192BD05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+106%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7C1A4-A64F-4719-8ABA-27167591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32×256 · 强制 V16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额外切分反而翻倍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68FF5-7AB7-4184-A8F1-21D4F99C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438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E4CE8-4AB5-4AD9-B04D-8B146B1C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新策略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BFA81-C84D-4440-8BA6-80889BFB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911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packed N=1 → 复用 fixed 标定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N&gt;1 → 保守 V128；无 GPU→CPU sync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07ad30b064967"/>
          <a:stretch xmlns:a="http://schemas.openxmlformats.org/drawingml/2006/main"/>
        </p:blipFill>
        <p:spPr>
          <a:xfrm xmlns:a="http://schemas.openxmlformats.org/drawingml/2006/main">
            <a:off x="3419475" y="1381125"/>
            <a:ext cx="79248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B0C3C-AD74-46FB-AC6A-6924725E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F622D-3302-4FB6-98AE-398682FA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Evidence · Job 17947 · 98/98 ValueSlice comparison rows bitwise equal</a:t>
            </a:r>
          </a:p>
        </p:txBody>
      </p:sp>
    </p:spTree>
    <p:extLst>
      <p:ext uri="{BB962C8B-B14F-4D97-AF65-F5344CB8AC3E}">
        <p14:creationId xmlns:p14="http://schemas.microsoft.com/office/powerpoint/2010/main" val="9092419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8C19B-55ED-4C37-A4D5-8D550BBF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阶段二｜讨论点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20489-EC5D-4BE9-831E-77FC8854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E9DC1-7720-493C-BB32-1F518D50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BF16 state：kernel 对拍可接受，但不能越界成模型精度结论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1C356-4581-46F8-90B6-0CAC98D2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1C4C4-2873-4D6A-BB13-5F9580E4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200 / 200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9F2D3-5BB4-434D-A81A-FCF7C703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comparison rows finite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不是统一阈值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EB314-213E-4252-B6AE-302C238F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98 / 98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423B2-8B56-4C16-BE3C-E5A2CDA3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ValueSlice vs V128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bitwise equal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C1D20-CBA4-4CC9-A920-374B5594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0.913%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9F68B-5B9B-40DF-8034-4CF5B364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观测最坏 relative RMSE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Flash vs 指定 FP32 references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B74AB-0485-4604-9086-D82CCF2C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4574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E4"/>
          </a:solidFill>
          <a:ln xmlns:a="http://schemas.openxmlformats.org/drawingml/2006/main" w="9525">
            <a:solidFill>
              <a:srgbClr val="F4C99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CE2D3-011E-47DE-A3CE-50A6E83F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261BC-3962-4687-9EB1-66D2F950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public FP32 state buffer ≠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全 FP32 recurrence；仍需模型级 eval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a1485575b41e0"/>
          <a:stretch xmlns:a="http://schemas.openxmlformats.org/drawingml/2006/main"/>
        </p:blipFill>
        <p:spPr>
          <a:xfrm xmlns:a="http://schemas.openxmlformats.org/drawingml/2006/main">
            <a:off x="3419475" y="1381125"/>
            <a:ext cx="79248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AAF9F-EEDA-4A8D-B05F-49282E75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3C38E-12B7-4F29-BCB6-2076362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Evidence · Job 17934 · FLA_FLASH_KDA=0 · naive.py / chunk.py hashes recorded</a:t>
            </a:r>
          </a:p>
        </p:txBody>
      </p:sp>
    </p:spTree>
    <p:extLst>
      <p:ext uri="{BB962C8B-B14F-4D97-AF65-F5344CB8AC3E}">
        <p14:creationId xmlns:p14="http://schemas.microsoft.com/office/powerpoint/2010/main" val="2067631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67851D-A12E-4482-8BC1-6BFE2A0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系统视角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62E75-96A2-4CE3-94A2-761F48D7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7CD63-6453-4B95-B577-C225196B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27% 算子收益如何传到 Kimi：有路径，也有严格边界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606DA-331D-4877-B702-2C1EF127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D6800-B748-4AF5-B1FA-063A14B7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00300"/>
            <a:ext cx="8382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4BE4E-E0C5-451C-9ECB-402357BD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00300"/>
            <a:ext cx="8382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EDBB4-5CA5-4031-872F-CDD028FA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0300"/>
            <a:ext cx="8382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4BE9C-0C5D-4F66-9599-A5909773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21526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BFD2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9C996-AEDE-4D45-9295-117E2EFE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5740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FlashKDA forward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F93FC-EA3E-46B8-827F-CC74BB19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3365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H12 · 1×8192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−27% 实测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226B0-7B5D-4261-8401-BD681725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66900"/>
            <a:ext cx="21526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9525">
            <a:solidFill>
              <a:srgbClr val="C7E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E421D-1788-4F76-89B9-1A1C91C3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5740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KDA prefill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268F8-329D-448F-A65E-7B22A318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3365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69 / 93 层是架构数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不是时间占比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09306-61CC-43AA-AE4B-3035C4E0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66900"/>
            <a:ext cx="21526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6EA"/>
          </a:solidFill>
          <a:ln xmlns:a="http://schemas.openxmlformats.org/drawingml/2006/main" w="9525">
            <a:solidFill>
              <a:srgbClr val="F5D4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438CB-5A19-4343-8C60-B42062B1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05740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端到端 prefill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97500-2171-401B-B372-21AFBCC4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53365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取决于算子占比 p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降时 ≈ 0.27p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F537D-0E4A-474E-82FC-0A07532B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21526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EDC0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2E0AD-2BF9-4488-8025-4EBD519A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5740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SLO goodput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A60D1-D8F0-4E48-A006-BFEB0B67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3365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还受排队 / batching /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SLO 绑定项影响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38592-4701-41B8-AFE1-911C210C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Amdahl 敏感性（不是端到端实测）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0CAD9-730A-42F5-B04B-F276B3AB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p = 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89A294-238D-463B-A447-2C9C30FA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72AE2-1967-4E33-B24E-4965F22D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3467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7DB5F-57AC-4598-BA0A-527235A2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73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prefill −5.4%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50ABDA-30F3-49ED-A393-F27C3AC8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6245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p = 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A27E01-1700-4976-9961-3B473495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4BC5F0-9B21-4BD1-8E70-601EBDA7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69342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48E0BD-26D0-47AD-A322-645B5270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53000"/>
            <a:ext cx="173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prefill −10.8%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4ADC5-98AB-4BF0-8F5D-C0842417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6245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p = 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362741-C382-4998-BE65-09288C7F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863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F2EDF2-60FE-4555-9C6F-93F92604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86300"/>
            <a:ext cx="104013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104163-4465-4003-AE9C-9FB3D828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53000"/>
            <a:ext cx="173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prefill −16.2%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979467-4ABD-4ABC-93FA-3B038A76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43434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8287F1-96D9-4E53-996F-4DADEB17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95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当前可以声称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3B4426-6136-4F9A-8E38-1128362D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3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297407-CD11-4F38-A229-43CAE053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438650"/>
            <a:ext cx="3724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低并发、长 prompt 的 KDA prefill 组件受益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B99749-73AC-49F1-AD10-EAD607F1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00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当前不能声称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1AE4F4-A538-49CD-B0ED-F1CB034A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577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27% TTFT · TPOT 加速 · SLO goodput 提升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TP8 通信改善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BAA11F-77E0-4521-97F0-E383EF8B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3F5F9A-589D-4568-A516-D56D23E5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通信下一步 · 先测卡内 Cluster / TMA multicast；多卡 NCCL 与端到端 serving 需独立实验</a:t>
            </a:r>
          </a:p>
        </p:txBody>
      </p:sp>
    </p:spTree>
    <p:extLst>
      <p:ext uri="{BB962C8B-B14F-4D97-AF65-F5344CB8AC3E}">
        <p14:creationId xmlns:p14="http://schemas.microsoft.com/office/powerpoint/2010/main" val="897321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7173E0-9CCE-48C6-AA56-48F9A2BA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B8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8B8C8"/>
                </a:solidFill>
                <a:latin typeface="PingFang SC"/>
                <a:ea typeface="PingFang SC"/>
                <a:cs typeface="PingFang SC"/>
              </a:rPr>
              <a:t>C1 · 最终决策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4B9C7-7B6D-45E4-B986-A7982211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发布 hybrid SM103 路径，而不是重写全部 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22308-F0DF-4A18-904B-4223EE5C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ACBD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BACBDA"/>
                </a:solidFill>
                <a:latin typeface="PingFang SC"/>
                <a:ea typeface="PingFang SC"/>
                <a:cs typeface="PingFang SC"/>
              </a:rPr>
              <a:t>一条 stop、一条 ship、一条 next，均有可复核 gate。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E8A3F-B2BD-4DFA-B581-E2BED831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11087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6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EC5C3-C010-4BB6-9847-238F372D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79C95-205E-4FD7-8C9B-CA4CE80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95B3F-5D9D-4949-BCD1-7906CADE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240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全面 mma.sync → tcgen05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D282B-8018-427A-AB84-ABCC8658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6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6D5E1"/>
                </a:solidFill>
                <a:latin typeface="PingFang SC"/>
                <a:ea typeface="PingFang SC"/>
                <a:cs typeface="PingFang SC"/>
              </a:rPr>
              <a:t>V128 Phase-6 L0：0.920×；完整集成成本更高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8A26C-2FB6-41CC-93E1-DE99F083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0275"/>
            <a:ext cx="471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4D7C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4D7C9"/>
                </a:solidFill>
                <a:latin typeface="PingFang SC"/>
                <a:ea typeface="PingFang SC"/>
                <a:cs typeface="PingFang SC"/>
              </a:rPr>
              <a:t>不合入；仅当跨 phase TMEM-resident 数据流过 gate 时重开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5E549-889F-4A7D-BFD2-9A2BECC2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1087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644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57324-33FD-4CC4-836F-7BEF9D6B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C7286-8CB1-403A-B0A2-C64414FB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65D35-AF55-43D6-BCBB-EA8BCA0E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956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V128 fallback + guarded ValueSlice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C087D-E49F-403C-89CF-544291D6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481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6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6D5E1"/>
                </a:solidFill>
                <a:latin typeface="PingFang SC"/>
                <a:ea typeface="PingFang SC"/>
                <a:cs typeface="PingFang SC"/>
              </a:rPr>
              <a:t>12→96 CTA；fixed −27.0%；packed1 −26.9%；98/98 bitwise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E3364-DC71-4DCB-A2CE-B12607A3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471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FE4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FE4CB"/>
                </a:solidFill>
                <a:latin typeface="PingFang SC"/>
                <a:ea typeface="PingFang SC"/>
                <a:cs typeface="PingFang SC"/>
              </a:rPr>
              <a:t>仅在已标定低并发长 prefill 启用；多序列回退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3374A-61A6-4825-A4C0-36446528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1087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644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308F5-48A2-45B5-8187-2200AB79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F249C-3AD0-4DEE-970E-9BDAE480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F3146-6911-4079-AE04-034855B5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672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CTA Cluster + TMA multicast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337DF-C160-48B4-8A0B-AD0CF563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19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6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6D5E1"/>
                </a:solidFill>
                <a:latin typeface="PingFang SC"/>
                <a:ea typeface="PingFang SC"/>
                <a:cs typeface="PingFang SC"/>
              </a:rPr>
              <a:t>目标是共享 slice-independent common inputs，不是堆功能名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7E176-D0AA-40CF-9F22-0B84DD37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43475"/>
            <a:ext cx="471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4D7C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4D7C9"/>
                </a:solidFill>
                <a:latin typeface="PingFang SC"/>
                <a:ea typeface="PingFang SC"/>
                <a:cs typeface="PingFang SC"/>
              </a:rPr>
              <a:t>2/4/8-CTA microbench：residency、bytes、同步、duration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1DE36-D63F-4219-B750-7C4D60A3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B8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8B8C8"/>
                </a:solidFill>
                <a:latin typeface="PingFang SC"/>
                <a:ea typeface="PingFang SC"/>
                <a:cs typeface="PingFang SC"/>
              </a:rPr>
              <a:t>一句话回答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ECD79-4BD7-467F-A0A7-60C87836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53150"/>
            <a:ext cx="935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SM100 的价值在重塑并行与数据流，不在替换一条看起来更“新”的指令。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EFE51-E560-4F27-AC6D-9CF196E3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47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FA8BC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8FA8BC"/>
                </a:solidFill>
                <a:latin typeface="Menlo"/>
                <a:ea typeface="Menlo"/>
                <a:cs typeface="Menlo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597834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2026-09-03T08:24:06.2650000Z</dcterms:created>
  <dcterms:modified xsi:type="dcterms:W3CDTF">2026-09-03T08:24:06.2650000Z</dcterms:modified>
</coreProperties>
</file>