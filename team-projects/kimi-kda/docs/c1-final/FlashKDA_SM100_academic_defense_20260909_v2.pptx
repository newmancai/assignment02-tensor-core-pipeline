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5ef45dc890417b" /><Relationship Type="http://schemas.openxmlformats.org/officeDocument/2006/relationships/extended-properties" Target="/docProps/app.xml" Id="Rf5a6e3dab7aa4ce3" /><Relationship Type="http://schemas.openxmlformats.org/officeDocument/2006/relationships/officeDocument" Target="/ppt/presentation.xml" Id="Rc66b3a3caac14a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a9692800554cb1"/>
  </p:sldMasterIdLst>
  <p:notesMasterIdLst>
    <p:notesMasterId xmlns:r="http://schemas.openxmlformats.org/officeDocument/2006/relationships" r:id="R28f97319c4f647e2"/>
  </p:notesMasterIdLst>
  <p:sldIdLst>
    <p:sldId xmlns:r="http://schemas.openxmlformats.org/officeDocument/2006/relationships" id="256" r:id="R3e7d60ff5e084d22"/>
    <p:sldId xmlns:r="http://schemas.openxmlformats.org/officeDocument/2006/relationships" id="257" r:id="R93422aec6bb64b80"/>
    <p:sldId xmlns:r="http://schemas.openxmlformats.org/officeDocument/2006/relationships" id="258" r:id="R5492bf033adf4db6"/>
    <p:sldId xmlns:r="http://schemas.openxmlformats.org/officeDocument/2006/relationships" id="259" r:id="Reae1c63c9a854080"/>
    <p:sldId xmlns:r="http://schemas.openxmlformats.org/officeDocument/2006/relationships" id="260" r:id="Rf6009f4e0ae34438"/>
    <p:sldId xmlns:r="http://schemas.openxmlformats.org/officeDocument/2006/relationships" id="261" r:id="R7865641d272c4d72"/>
    <p:sldId xmlns:r="http://schemas.openxmlformats.org/officeDocument/2006/relationships" id="262" r:id="R9b9d191820114386"/>
    <p:sldId xmlns:r="http://schemas.openxmlformats.org/officeDocument/2006/relationships" id="263" r:id="R2ac2e5b2e1e94758"/>
    <p:sldId xmlns:r="http://schemas.openxmlformats.org/officeDocument/2006/relationships" id="264" r:id="R20fc2e57e5ab48cf"/>
    <p:sldId xmlns:r="http://schemas.openxmlformats.org/officeDocument/2006/relationships" id="265" r:id="R101ae17c18d342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12d341ad0640cb" /><Relationship Type="http://schemas.openxmlformats.org/officeDocument/2006/relationships/slideMaster" Target="/ppt/slideMasters/slideMaster1.xml" Id="R1da9692800554cb1" /><Relationship Type="http://schemas.openxmlformats.org/officeDocument/2006/relationships/notesMaster" Target="/ppt/notesMasters/notesMaster1.xml" Id="R28f97319c4f647e2" /><Relationship Type="http://schemas.openxmlformats.org/officeDocument/2006/relationships/presProps" Target="/ppt/presProps.xml" Id="Rb2587a47095e4469" /><Relationship Type="http://schemas.openxmlformats.org/officeDocument/2006/relationships/tableStyles" Target="/ppt/tableStyles.xml" Id="Rfadc1f838d744800" /><Relationship Type="http://schemas.openxmlformats.org/officeDocument/2006/relationships/slide" Target="/ppt/slides/slide1.xml" Id="R3e7d60ff5e084d22" /><Relationship Type="http://schemas.openxmlformats.org/officeDocument/2006/relationships/slide" Target="/ppt/slides/slide2.xml" Id="R93422aec6bb64b80" /><Relationship Type="http://schemas.openxmlformats.org/officeDocument/2006/relationships/slide" Target="/ppt/slides/slide3.xml" Id="R5492bf033adf4db6" /><Relationship Type="http://schemas.openxmlformats.org/officeDocument/2006/relationships/slide" Target="/ppt/slides/slide4.xml" Id="Reae1c63c9a854080" /><Relationship Type="http://schemas.openxmlformats.org/officeDocument/2006/relationships/slide" Target="/ppt/slides/slide5.xml" Id="Rf6009f4e0ae34438" /><Relationship Type="http://schemas.openxmlformats.org/officeDocument/2006/relationships/slide" Target="/ppt/slides/slide6.xml" Id="R7865641d272c4d72" /><Relationship Type="http://schemas.openxmlformats.org/officeDocument/2006/relationships/slide" Target="/ppt/slides/slide7.xml" Id="R9b9d191820114386" /><Relationship Type="http://schemas.openxmlformats.org/officeDocument/2006/relationships/slide" Target="/ppt/slides/slide8.xml" Id="R2ac2e5b2e1e94758" /><Relationship Type="http://schemas.openxmlformats.org/officeDocument/2006/relationships/slide" Target="/ppt/slides/slide9.xml" Id="R20fc2e57e5ab48cf" /><Relationship Type="http://schemas.openxmlformats.org/officeDocument/2006/relationships/slide" Target="/ppt/slides/slide10.xml" Id="R101ae17c18d342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61c10400a540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a6b22cb7f84d72" /><Relationship Type="http://schemas.openxmlformats.org/officeDocument/2006/relationships/notesMaster" Target="/ppt/notesMasters/notesMaster1.xml" Id="R58fc0911626242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46212d325d4ac4" /><Relationship Type="http://schemas.openxmlformats.org/officeDocument/2006/relationships/notesMaster" Target="/ppt/notesMasters/notesMaster1.xml" Id="R9ebade24e19144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d7055fcc074a7a" /><Relationship Type="http://schemas.openxmlformats.org/officeDocument/2006/relationships/notesMaster" Target="/ppt/notesMasters/notesMaster1.xml" Id="Rf762238366c44a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858a6440864121" /><Relationship Type="http://schemas.openxmlformats.org/officeDocument/2006/relationships/notesMaster" Target="/ppt/notesMasters/notesMaster1.xml" Id="Ra9a3f0d5cb2e44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d4ee3ff3834f1a" /><Relationship Type="http://schemas.openxmlformats.org/officeDocument/2006/relationships/notesMaster" Target="/ppt/notesMasters/notesMaster1.xml" Id="R400eeef466a74d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eca6cc189e4af1" /><Relationship Type="http://schemas.openxmlformats.org/officeDocument/2006/relationships/notesMaster" Target="/ppt/notesMasters/notesMaster1.xml" Id="R7348a4cef61644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e589feca32440e" /><Relationship Type="http://schemas.openxmlformats.org/officeDocument/2006/relationships/notesMaster" Target="/ppt/notesMasters/notesMaster1.xml" Id="Re1b0a83be6a34f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7705077229404a" /><Relationship Type="http://schemas.openxmlformats.org/officeDocument/2006/relationships/notesMaster" Target="/ppt/notesMasters/notesMaster1.xml" Id="R84fb1e339d9f43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38d055e5fe4b7a" /><Relationship Type="http://schemas.openxmlformats.org/officeDocument/2006/relationships/notesMaster" Target="/ppt/notesMasters/notesMaster1.xml" Id="R48934ea8196343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2c6eca37f34084" /><Relationship Type="http://schemas.openxmlformats.org/officeDocument/2006/relationships/notesMaster" Target="/ppt/notesMasters/notesMaster1.xml" Id="Ra85ddea361524a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本报告回答 C1：FlashKDA 官方 kernel 仍使用 SM80 MMA，迁移到 SM100 是否值得。</a:t>
            </a:r>
          </a:p>
          <a:p xmlns:a="http://schemas.openxmlformats.org/drawingml/2006/main">
            <a:r>
              <a:t>报告按复现与测量、分析、挑战三个阶段展开。主线结论会在挑战之前给出。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先说明论证顺序。第一阶段只建立可信基线和瓶颈事实。第二阶段必须明确回答题目，再决定是否进入挑战。第三阶段验证针对瓶颈的具体实现。</a:t>
            </a:r>
          </a:p>
          <a:p xmlns:a="http://schemas.openxmlformats.org/drawingml/2006/main">
            <a:r>
              <a:t>迁移价值按照完整成本与证据判断，不按照指令代际判断。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按官方 warmup、iters 和 repeats 口径复现。FlashKDA 在六个官方形状上相对 FLA 为 1.79 到 3.42 倍。</a:t>
            </a:r>
          </a:p>
          <a:p xmlns:a="http://schemas.openxmlformats.org/drawingml/2006/main">
            <a:r>
              <a:t>因此迁移必须击败强基线，不能只引用 SM100 峰值算力。证据见 experiments/final_campaign 与 Job 17926。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SASS 证实题面所说的旧 MMA atom。NCU 同时显示 H12 时 K2 只有 12 个 CTA，对 148 个 SM，SM、DRAM 和 Tensor elapsed 指标都很低。</a:t>
            </a:r>
          </a:p>
          <a:p xmlns:a="http://schemas.openxmlformats.org/drawingml/2006/main">
            <a:r>
              <a:t>这意味着先解决可见并行度，再讨论全面更换 Tensor Core 指令。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这里先直接回答题目。全面 direct swap 没有净收益信号：主导 M16 与 tcgen M64 最小几何不匹配，V128 探针的 active blocks/SM 在 L0/L1 分别从 12/5 降到 1/1。</a:t>
            </a:r>
          </a:p>
          <a:p xmlns:a="http://schemas.openxmlformats.org/drawingml/2006/main">
            <a:r>
              <a:t>测量支持的路线是增加 CTA 间并行度和改善 CTA 内流水。所以下一阶段只挑战这两类候选，并保留 V128 fallback。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ValueSlice 不改变 recurrence 方向，只切分相互独立的 Value 行。H12 时将 12 个 CTA 扩到 96 个 CTA。</a:t>
            </a:r>
          </a:p>
          <a:p xmlns:a="http://schemas.openxmlformats.org/drawingml/2006/main">
            <a:r>
              <a:t>代价是 slice-independent 公共输入被重复读取，因此它需要 shape guard，而不是全域默认启用。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三层结果必须按照各自基线报告。ValueSlice 解决 CTA 数，P4 和 Phase-1 解决单 CTA 内的 load-use 调度。</a:t>
            </a:r>
          </a:p>
          <a:p xmlns:a="http://schemas.openxmlformats.org/drawingml/2006/main">
            <a:r>
              <a:t>最终 37.23% 和 45.52% 已经是相对同 Job V128 的累计结果，不能再与前两层相加。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正确性和单请求收益都通过，但无初态双 stream 回归 1.52%。</a:t>
            </a:r>
          </a:p>
          <a:p xmlns:a="http://schemas.openxmlformats.org/drawingml/2006/main">
            <a:r>
              <a:t>因此只能称为干净的单卡 opt-in candidate，不能称为生产默认策略，也不能把算子降时写成 TTFT 或 SLO goodput 提升。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这不是从挑战事后抽象出的包装。Agent 从 SASS、NCU、grid 和 probe receipt 开始，先回答迁移问题，再提出 typed MMA 候选。</a:t>
            </a:r>
          </a:p>
          <a:p xmlns:a="http://schemas.openxmlformats.org/drawingml/2006/main">
            <a:r>
              <a:t>自优化发生在候选策略层，不是在线修改模型权重。确定性 gate 决定 incumbent，预算或 evidence plateau 决定停止。</a:t>
            </a:r>
          </a:p>
          <a:p xmlns:a="http://schemas.openxmlformats.org/drawingml/2006/main">
            <a:r>
              <a:t>W384/W768 的前瞻实验支持容量规则在同一 B300、同一 route 上的插值，但仍只做 shadow recommendation。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最后回到题目。全面迁移 tcgen05 当前不值得；有证据支持的 B300 专用化集中在并行度和流水。</a:t>
            </a:r>
          </a:p>
          <a:p xmlns:a="http://schemas.openxmlformats.org/drawingml/2006/main">
            <a:r>
              <a:t>挑战给出正向收益和并发反例。Runtime Profile Agent 将这些结论变成下一轮候选与停止决策。</a:t>
            </a:r>
          </a:p>
          <a:p xmlns:a="http://schemas.openxmlformats.org/drawingml/2006/main">
            <a:r>
              <a:t>所有结论限定在单张 B300 和已测 FlashKDA forward，未证明完整 Kimi K3、TP8 通信或 serving SLO。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b90e37c9a4d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7d8e8a54d0429b" /><Relationship Type="http://schemas.openxmlformats.org/officeDocument/2006/relationships/slideLayout" Target="/ppt/slideLayouts/slideLayout1.xml" Id="Rd3b55fb1a75443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b55fb1a75443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d1bf616d94bad" /><Relationship Type="http://schemas.openxmlformats.org/officeDocument/2006/relationships/notesSlide" Target="/ppt/notesSlides/notesSlide1.xml" Id="R3667766579a748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ede5793544230" /><Relationship Type="http://schemas.openxmlformats.org/officeDocument/2006/relationships/notesSlide" Target="/ppt/notesSlides/notesSlide2.xml" Id="R2ff3f84672d149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84125dd1d4694" /><Relationship Type="http://schemas.openxmlformats.org/officeDocument/2006/relationships/chart" Target="/ppt/slides/charts/chart1.xml" Id="R58575a1c3f494465" /><Relationship Type="http://schemas.openxmlformats.org/officeDocument/2006/relationships/notesSlide" Target="/ppt/notesSlides/notesSlide3.xml" Id="Rec805fb834a64d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757dbb6794cf6" /><Relationship Type="http://schemas.openxmlformats.org/officeDocument/2006/relationships/chart" Target="/ppt/slides/charts/chart2.xml" Id="R28757d2c5f0a484f" /><Relationship Type="http://schemas.openxmlformats.org/officeDocument/2006/relationships/notesSlide" Target="/ppt/notesSlides/notesSlide4.xml" Id="R73c09758e6214f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7e458add84073" /><Relationship Type="http://schemas.openxmlformats.org/officeDocument/2006/relationships/notesSlide" Target="/ppt/notesSlides/notesSlide5.xml" Id="Rb0aaa475ece048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ef430537649a0" /><Relationship Type="http://schemas.openxmlformats.org/officeDocument/2006/relationships/notesSlide" Target="/ppt/notesSlides/notesSlide6.xml" Id="Re97c4194408448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9eebe8e6b42e3" /><Relationship Type="http://schemas.openxmlformats.org/officeDocument/2006/relationships/notesSlide" Target="/ppt/notesSlides/notesSlide7.xml" Id="Rcb86b8cae02846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cee7e4493440a" /><Relationship Type="http://schemas.openxmlformats.org/officeDocument/2006/relationships/notesSlide" Target="/ppt/notesSlides/notesSlide8.xml" Id="Red80dc492a2f4a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ead5e7dfb4373" /><Relationship Type="http://schemas.openxmlformats.org/officeDocument/2006/relationships/notesSlide" Target="/ppt/notesSlides/notesSlide9.xml" Id="Rfd4eac1fb83043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6840c3f6446c9" /><Relationship Type="http://schemas.openxmlformats.org/officeDocument/2006/relationships/notesSlide" Target="/ppt/notesSlides/notesSlide10.xml" Id="R1c79e5ef910a49d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FlashKDA</c:v>
          </c:tx>
          <c:spPr>
            <a:solidFill xmlns:a="http://schemas.openxmlformats.org/drawingml/2006/main">
              <a:srgbClr val="2B6F9F"/>
            </a:solidFill>
          </c:spPr>
          <c:cat>
            <c:strRef>
              <c:f>'Chart Data'!$A$2:$A$7</c:f>
              <c:strCache>
                <c:ptCount val="6"/>
                <c:pt idx="0">
                  <c:v>H96
Fixed</c:v>
                </c:pt>
                <c:pt idx="1">
                  <c:v>H96
Ragged6</c:v>
                </c:pt>
                <c:pt idx="2">
                  <c:v>H96
8×1024</c:v>
                </c:pt>
                <c:pt idx="3">
                  <c:v>H64
Fixed</c:v>
                </c:pt>
                <c:pt idx="4">
                  <c:v>H64
Ragged6</c:v>
                </c:pt>
                <c:pt idx="5">
                  <c:v>H64
8×1024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1.03</c:v>
                </c:pt>
                <c:pt idx="1">
                  <c:v>0.861</c:v>
                </c:pt>
                <c:pt idx="2">
                  <c:v>0.696</c:v>
                </c:pt>
                <c:pt idx="3">
                  <c:v>0.941</c:v>
                </c:pt>
                <c:pt idx="4">
                  <c:v>0.653</c:v>
                </c:pt>
                <c:pt idx="5">
                  <c:v>0.474</c:v>
                </c:pt>
              </c:numCache>
            </c:numRef>
          </c:val>
        </c:ser>
        <c:ser>
          <c:idx val="1"/>
          <c:order val="1"/>
          <c:tx>
            <c:v>FLA chunk KDA</c:v>
          </c:tx>
          <c:spPr>
            <a:solidFill xmlns:a="http://schemas.openxmlformats.org/drawingml/2006/main">
              <a:srgbClr val="A9B6C2"/>
            </a:solidFill>
          </c:spPr>
          <c:cat>
            <c:strRef>
              <c:f>'Chart Data'!$C$2:$C$7</c:f>
              <c:strCache>
                <c:ptCount val="6"/>
                <c:pt idx="0">
                  <c:v>H96
Fixed</c:v>
                </c:pt>
                <c:pt idx="1">
                  <c:v>H96
Ragged6</c:v>
                </c:pt>
                <c:pt idx="2">
                  <c:v>H96
8×1024</c:v>
                </c:pt>
                <c:pt idx="3">
                  <c:v>H64
Fixed</c:v>
                </c:pt>
                <c:pt idx="4">
                  <c:v>H64
Ragged6</c:v>
                </c:pt>
                <c:pt idx="5">
                  <c:v>H64
8×1024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2.416</c:v>
                </c:pt>
                <c:pt idx="1">
                  <c:v>2.425</c:v>
                </c:pt>
                <c:pt idx="2">
                  <c:v>2.381</c:v>
                </c:pt>
                <c:pt idx="3">
                  <c:v>1.686</c:v>
                </c:pt>
                <c:pt idx="4">
                  <c:v>1.699</c:v>
                </c:pt>
                <c:pt idx="5">
                  <c:v>1.596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243443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8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2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E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ingFang SC"/>
                    <a:ea typeface="PingFang SC"/>
                    <a:cs typeface="PingFang SC"/>
                  </a:rPr>
                  <a:t>Latency (ms)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243443"/>
              </a:solidFill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Official V128</c:v>
          </c:tx>
          <c:spPr>
            <a:solidFill xmlns:a="http://schemas.openxmlformats.org/drawingml/2006/main">
              <a:srgbClr val="2B6F9F"/>
            </a:solidFill>
          </c:spPr>
          <c:cat>
            <c:strRef>
              <c:f>'Chart Data'!$A$2:$A$4</c:f>
              <c:strCache>
                <c:ptCount val="3"/>
                <c:pt idx="0">
                  <c:v>SM throughput</c:v>
                </c:pt>
                <c:pt idx="1">
                  <c:v>DRAM throughput</c:v>
                </c:pt>
                <c:pt idx="2">
                  <c:v>Tensor elapsed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2.64</c:v>
                </c:pt>
                <c:pt idx="1">
                  <c:v>1.24</c:v>
                </c:pt>
                <c:pt idx="2">
                  <c:v>2.48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324D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8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E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ingFang SC"/>
                    <a:ea typeface="PingFang SC"/>
                    <a:cs typeface="PingFang SC"/>
                  </a:rPr>
                  <a:t>% of peak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22673-E5C3-47C0-8B86-2D23273E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北京大学课程大作业 · 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A2B6D-7389-4723-917F-7F5684FC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FlashKDA 从 SM80 MMA</a:t>
            </a:r>
          </a:p>
          <a:p xmlns:a="http://schemas.openxmlformats.org/drawingml/2006/main">
            <a:pPr algn="l">
              <a:defRPr sz="360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迁移到 SM100 是否值得？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33416-E40D-4AD8-9E55-A1295095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64253-40BF-4831-8DDD-1052FA35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B300/SM103 上的复现、测量、迁移分析与挑战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92A8E-A594-4C95-ADDD-A10C8EDF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Kimi KDA · 单卡 B300 · 10 分钟答辩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8C50A-966F-4884-85CF-8BF45582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2026-09-09</a:t>
            </a:r>
          </a:p>
        </p:txBody>
      </p:sp>
    </p:spTree>
    <p:extLst>
      <p:ext uri="{BB962C8B-B14F-4D97-AF65-F5344CB8AC3E}">
        <p14:creationId xmlns:p14="http://schemas.microsoft.com/office/powerpoint/2010/main" val="838265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DC0C93-5F7A-4069-8CFF-7CD6EAF2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研究设计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59CBE-7C65-4F16-AB32-8E557939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20C55-5A42-47D1-BD65-401B5D98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研究问题与评价路径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3C575-74C7-4FFE-A465-F82816D5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7F538-76CA-407B-968E-68A92BBF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Ⅰ  复现与测量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9E3F2-6A20-4D69-8EDB-6A3BF586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7B23A-AEB3-4C3E-B81B-661AED5A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95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Agent 组织同 workload receipt</a:t>
            </a:r>
          </a:p>
          <a:p xmlns:a="http://schemas.openxmlformats.org/drawingml/2006/main">
            <a:pPr algn="l">
              <a:def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核对 SASS、grid 和 NCU 指标</a:t>
            </a:r>
          </a:p>
          <a:p xmlns:a="http://schemas.openxmlformats.org/drawingml/2006/main">
            <a:pPr algn="l">
              <a:def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建立可比较的 B300 基线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78015-CD02-4266-B65D-9AC86E1C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526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Ⅱ  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FE62A-6941-4325-92FF-A727BB90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669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9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FD6ED-0ABB-4EF3-9A89-81C50052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71750"/>
            <a:ext cx="295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Agent 先回答迁移是否值得</a:t>
            </a:r>
          </a:p>
          <a:p xmlns:a="http://schemas.openxmlformats.org/drawingml/2006/main">
            <a:pPr algn="l">
              <a:def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结论必须对应实测证据</a:t>
            </a:r>
          </a:p>
          <a:p xmlns:a="http://schemas.openxmlformats.org/drawingml/2006/main">
            <a:pPr algn="l">
              <a:def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再将 MMA 工作排为 KEEP/MEASURE/STOP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9535B-388B-4F1A-900B-11B63252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526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Ⅲ  挑战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E7E94-3912-4D17-99B9-AD028530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669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FC552-3B17-43FC-9A60-DB2D0E72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295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只实现 Agent 保留的候选</a:t>
            </a:r>
          </a:p>
          <a:p xmlns:a="http://schemas.openxmlformats.org/drawingml/2006/main">
            <a:pPr algn="l">
              <a:def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验证 output 与 final state</a:t>
            </a:r>
          </a:p>
          <a:p xmlns:a="http://schemas.openxmlformats.org/drawingml/2006/main">
            <a:pPr algn="l">
              <a:def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将正负结果回写下一轮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8A979-9200-4C53-B358-054A6523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6D533-B98B-4D5D-91C5-5FC22530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评价原则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DB36B1-6EC9-420D-ADED-3ED427E4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768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新指令不构成收益证据。完整实现成本、正确性、统计稳定性与 fallback 共同决定迁移价值。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F183D-BDCA-4953-A1BD-87E1B605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4FAB4D-D2EB-4CA8-83CB-E1B05909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2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结构：复现与测量 → 分析（结论 + 证据）→ 挑战</a:t>
            </a:r>
          </a:p>
        </p:txBody>
      </p:sp>
    </p:spTree>
    <p:extLst>
      <p:ext uri="{BB962C8B-B14F-4D97-AF65-F5344CB8AC3E}">
        <p14:creationId xmlns:p14="http://schemas.microsoft.com/office/powerpoint/2010/main" val="7010904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A7048-A055-4845-9CA1-261FB72C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阶段一 · 复现与测量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C6EA9-5C5C-425B-A73D-81D82ED6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327C9-DB66-41F6-BAF2-5149E889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复现结果：官方 FlashKDA 是强基线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9423D-0E97-4984-8847-B2E5EECF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81050" y="1619250"/>
          <a:ext xmlns:a="http://schemas.openxmlformats.org/drawingml/2006/main" cx="7524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575a1c3f49446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6FB09-48F7-4082-BA0D-9D8A9248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431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E7D7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2E7D78"/>
                </a:solidFill>
                <a:latin typeface="PingFang SC"/>
                <a:ea typeface="PingFang SC"/>
                <a:cs typeface="PingFang SC"/>
              </a:rPr>
              <a:t>1.79–3.42×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C4985-EBB6-4902-AD1C-FB01D9AD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95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相对 FLA chunk KDA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01EDA-9234-44C5-A3F0-E226D4B7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861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89ED7-0A6D-4349-8FC5-9A22D197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14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复现设置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A9CBA-2360-4447-906C-DCB2694F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7665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B300 SXM6 AC</a:t>
            </a:r>
          </a:p>
          <a:p xmlns:a="http://schemas.openxmlformats.org/drawingml/2006/main">
            <a:pPr algn="l">
              <a:defRPr sz="135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commit 1ce47ea</a:t>
            </a:r>
          </a:p>
          <a:p xmlns:a="http://schemas.openxmlformats.org/drawingml/2006/main">
            <a:pPr algn="l">
              <a:defRPr sz="135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warmup 30</a:t>
            </a:r>
          </a:p>
          <a:p xmlns:a="http://schemas.openxmlformats.org/drawingml/2006/main">
            <a:pPr algn="l">
              <a:defRPr sz="135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iters 200, repeats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EA28A-2849-40C1-9953-1646B4C1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D69FF-391B-4DA5-9C4E-78DEEF22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2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Agent input A: official reproduction receipt · Slurm Job 17926 · lower latency is better</a:t>
            </a:r>
          </a:p>
        </p:txBody>
      </p:sp>
    </p:spTree>
    <p:extLst>
      <p:ext uri="{BB962C8B-B14F-4D97-AF65-F5344CB8AC3E}">
        <p14:creationId xmlns:p14="http://schemas.microsoft.com/office/powerpoint/2010/main" val="5876581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BA1AD-C505-40A6-BB0D-8480C197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阶段一 · 复现与测量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0723B-FFB5-4F14-8EEE-5D22C97D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618ED-3178-4BFC-BE79-86E5F119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Agent 测量 receipt：首要瓶颈是 grid underfill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906EE-558A-49E5-AE18-7D6A4738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46ECC-07D4-42BD-A5F4-0054C5F0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SASS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1AB55-F5CA-4554-8C93-D2FE76AC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3,640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CE6FC-8735-4F13-A720-0DF79EFF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HMMA.16816.F32.BF16</a:t>
            </a:r>
          </a:p>
          <a:p xmlns:a="http://schemas.openxmlformats.org/drawingml/2006/main">
            <a:pPr algn="l">
              <a:defRPr sz="1425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TCGEN / UTCMMA =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DB943-1702-415F-8086-880504A4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31B86-95D2-48BF-A28E-026F945B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TP8 代表形状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1BC4AA-A903-4C39-A60F-8B4D4161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H = 96 / 8 =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A8719-5761-4E50-8505-592884BC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84A4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84A45"/>
                </a:solidFill>
                <a:latin typeface="PingFang SC"/>
                <a:ea typeface="PingFang SC"/>
                <a:cs typeface="PingFang SC"/>
              </a:rPr>
              <a:t>K2 grid = 12 CTA</a:t>
            </a:r>
          </a:p>
          <a:p xmlns:a="http://schemas.openxmlformats.org/drawingml/2006/main">
            <a:pPr algn="l">
              <a:defRPr sz="1725" b="0">
                <a:solidFill>
                  <a:srgbClr val="B84A4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84A45"/>
                </a:solidFill>
                <a:latin typeface="PingFang SC"/>
                <a:ea typeface="PingFang SC"/>
                <a:cs typeface="PingFang SC"/>
              </a:rPr>
              <a:t>GPU = 148 SM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4095750" y="1695450"/>
          <a:ext xmlns:a="http://schemas.openxmlformats.org/drawingml/2006/main" cx="6762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757d2c5f0a484f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E0A95D-4CBD-44C0-A5E3-16999DD8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6735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DA5CB6-BEA1-492A-A2F5-06C8000C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388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测量确认旧 MMA 路径，但数据不支持 Tensor Core 峰值是当前首要约束。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F1E86-016C-4074-8122-15C1CAB2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5D1AA1-8FB2-446D-987D-1C45B764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674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Evidence: static SASS + Job 17965 NCU · T=8192, H=12, D=128</a:t>
            </a:r>
          </a:p>
        </p:txBody>
      </p:sp>
    </p:spTree>
    <p:extLst>
      <p:ext uri="{BB962C8B-B14F-4D97-AF65-F5344CB8AC3E}">
        <p14:creationId xmlns:p14="http://schemas.microsoft.com/office/powerpoint/2010/main" val="9123577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EB421-E568-4A40-AB15-EBEFBE5D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阶段二 · 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CDD78-30E5-48D5-8F0D-98154D16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081BB-8A4A-4E74-801C-7E7D78C8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Agent 主线分析：先给迁移结论与证据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CF16A-DF6C-4826-9C9F-AF79AC5F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715000"/>
                <a:gridCol w="2724150"/>
              </a:tblGrid>
              <a:tr h="647700">
                <a:tc>
                  <a:txBody>
                    <a:bodyPr/>
                    <a:lstStyle/>
                    <a:p>
                      <a:r>
                        <a:t>候选假设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关键证据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判断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全面换成 tcgen05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V128 仅 0.920×；M16 &lt; tcgen M64；active blocks/SM 为 12→1（L0）、5→1（L1）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B84A45"/>
                          </a:solidFill>
                        </a:rPr>
                        <a:t>当前停止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机械放大 CHUNK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C32/C64 在 token 18 首次 FTZ/overflow；Neumann 代价 5.33×/26.67×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B84A45"/>
                          </a:solidFill>
                        </a:rPr>
                        <a:t>当前停止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增加 CTA 并行度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TP8/H12 下 12 CTA 对 148 SM；Value 维可独立切分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进入挑战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CTA 内流水调度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profile 指向 fragment/state load-use 距离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进入挑战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A470C-34F0-4C20-9B10-87897D61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AF7ED-75BE-474C-9902-04FF4D0E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Assessment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3C374-3C97-492B-8752-560C2309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38750"/>
            <a:ext cx="904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不值得把 FlashKDA 整体机械迁移到 tcgen05。值得围绕 B300 workload 重构并行度和流水，并保留 V128 fallback。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E988B-DA39-4020-8657-D5147DD7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A5852-23CB-4C5D-8F1A-EA58C7FD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2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Deterministic receipt: MMA001–MMA007 · 结论先于挑战</a:t>
            </a:r>
          </a:p>
        </p:txBody>
      </p:sp>
    </p:spTree>
    <p:extLst>
      <p:ext uri="{BB962C8B-B14F-4D97-AF65-F5344CB8AC3E}">
        <p14:creationId xmlns:p14="http://schemas.microsoft.com/office/powerpoint/2010/main" val="21220374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6216F9-C0B0-4985-BF17-53352595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阶段三 · Agent 候选验证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45E9C-6B24-4753-85AB-768F34D3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A7171-7446-47C0-BC81-28593456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挑战设计：ValueSlice 重构 CTA 并行度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9A067-B823-4A3E-A49C-950F6D2D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37A43-35FA-43DF-B45A-2C4666FA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切分原则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60D5A-2AF4-4277-A59B-DE9DDABC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Value 行相互独立。保持总 Tensor FLOPs、每行归约顺序和状态契约不变，只改变 CTA 对 Value rows 的分工。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1047750" y="2876550"/>
          <a:ext xmlns:a="http://schemas.openxmlformats.org/drawingml/2006/main" cx="99060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524250"/>
                <a:gridCol w="4000500"/>
              </a:tblGrid>
              <a:tr h="476250">
                <a:tc>
                  <a:txBody>
                    <a:bodyPr/>
                    <a:lstStyle/>
                    <a:p>
                      <a:r>
                        <a:t>项目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官方 V128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ValueSlice V16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每个 head 的 Value 分片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8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TP8/H12 的 K2 grid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 CTA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96 CTA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每 CTA 负责的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16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代价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grid underfill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公共输入重复读取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EB058-FFC5-4455-AC94-F504AF55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245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grid = N × H × (D / V)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12A38-40DF-469C-A9B8-A77D17C6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9F8A4-346A-44CD-A565-8CB94A64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2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实现边界：无 reduction、无 atomic、public ABI 与 final-state 语义不变</a:t>
            </a:r>
          </a:p>
        </p:txBody>
      </p:sp>
    </p:spTree>
    <p:extLst>
      <p:ext uri="{BB962C8B-B14F-4D97-AF65-F5344CB8AC3E}">
        <p14:creationId xmlns:p14="http://schemas.microsoft.com/office/powerpoint/2010/main" val="20315259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14F07-FE73-4583-88A8-C05EE469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阶段三 · 挑战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07EF5-5F57-4CC3-A80D-56BAFDA8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EA377-FBCA-48C4-A347-E9AEF304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挑战结果：三层优化及其比较基线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7C8A9-47C0-4909-AEFC-48C6CEFE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28650" y="1524000"/>
          <a:ext xmlns:a="http://schemas.openxmlformats.org/drawingml/2006/main" cx="109347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3000375"/>
                <a:gridCol w="3333750"/>
                <a:gridCol w="2457450"/>
              </a:tblGrid>
              <a:tr h="708660">
                <a:tc>
                  <a:txBody>
                    <a:bodyPr/>
                    <a:lstStyle/>
                    <a:p>
                      <a:r>
                        <a:t>层级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改动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比较对象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B300 结果</a:t>
                      </a:r>
                    </a:p>
                  </a:txBody>
                  <a:tcPr marL="91440" marR="91440" marT="45720" marB="45720"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t>基线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官方 V128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官方 benchmark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 CTA</a:t>
                      </a:r>
                    </a:p>
                  </a:txBody>
                  <a:tcPr marL="91440" marR="91440" marT="45720" marB="45720"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t>层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ValueSlice V16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同作业 V128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约 −27.0%</a:t>
                      </a:r>
                    </a:p>
                  </a:txBody>
                  <a:tcPr marL="91440" marR="91440" marT="45720" marB="45720"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t>层 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Phase-6 StatePrefetch=4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旧 V16 / P1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无初态 −9.02%</a:t>
                      </a:r>
                    </a:p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有初态 −19.40%</a:t>
                      </a:r>
                    </a:p>
                  </a:txBody>
                  <a:tcPr marL="91440" marR="91440" marT="45720" marB="45720"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t>层 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Phase-1 L4 / L2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同 Job19934 V128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首段 −37.23%</a:t>
                      </a:r>
                    </a:p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续段 −45.52%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E673C-30B1-495A-95CC-74951583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50AEF-050D-46B8-8D03-B6819EF9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43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解释约束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6FE9C-345F-4720-8661-38CBB1AA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86400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各层使用不同基线。百分比不可相加，也不可跨 job 拼接绝对延迟。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541DE-BC12-482A-A295-5250A0B0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30046-B28B-4A84-8661-E7D2751E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2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Evidence: Jobs 17947 / 19901 / 19934 · lower latency is better</a:t>
            </a:r>
          </a:p>
        </p:txBody>
      </p:sp>
    </p:spTree>
    <p:extLst>
      <p:ext uri="{BB962C8B-B14F-4D97-AF65-F5344CB8AC3E}">
        <p14:creationId xmlns:p14="http://schemas.microsoft.com/office/powerpoint/2010/main" val="13136582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DF7FF-D751-4189-A607-045FD69B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阶段三 · 挑战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AE205-AFE8-4279-A590-3847C02F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0AC09-FBD2-4DC3-9FF6-A72A66D1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挑战验收：正向结果不支持默认启用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AC0AD-BBCE-4FA1-BC3F-76CF73DE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905250"/>
                <a:gridCol w="4248150"/>
              </a:tblGrid>
              <a:tr h="619125">
                <a:tc>
                  <a:txBody>
                    <a:bodyPr/>
                    <a:lstStyle/>
                    <a:p>
                      <a:r>
                        <a:t>检查项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结果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含义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准入域性能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34 个配置均获益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单请求候选稳定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跨路径正确性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120 + 14 条 bitwise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output 与 final state 一致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工具检查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2E7D78"/>
                          </a:solidFill>
                        </a:rPr>
                        <a:t>memcheck / synccheck: 0 error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已测路径无报告错误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双 stream，无初态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B84A45"/>
                          </a:solidFill>
                        </a:rPr>
                        <a:t>+1.52% joined-pair latency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并发反例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发布状态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build-time opt-in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保留 V128 fallback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BE82A-C7EB-4DF0-A3C6-5A4E7F20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40775-8C32-40CD-B7EC-DC061C3A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D01C6-12A1-46D1-8339-1F4C3BA6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197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当前 shape guard 不感知设备实时并发。候选保持默认关闭。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725B8-BB28-479C-993F-4C26E79F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3FEA2-80F1-4C5B-AB96-9D15E7FE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2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未完成：完整 Kimi K3、TP8/NCCL、scheduler 与 SLO 验证</a:t>
            </a:r>
          </a:p>
        </p:txBody>
      </p:sp>
    </p:spTree>
    <p:extLst>
      <p:ext uri="{BB962C8B-B14F-4D97-AF65-F5344CB8AC3E}">
        <p14:creationId xmlns:p14="http://schemas.microsoft.com/office/powerpoint/2010/main" val="10483660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EE87B0-FB7A-441C-B3F7-8630FCF3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方法抽象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FDF51-43DD-40EB-9B74-9A129EE4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8C363-45A1-47EC-A9FA-1E62EB4D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Runtime Profile Agent：从测量到下一轮 MMA 候选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0CF68-E823-4681-876E-EA9A45AB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BDB98-FCB5-4BF5-B303-275DBB1B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17716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2E381-ED9F-45C2-8ABE-816EF41C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3B381-9ABD-469A-A5A4-C6D3C362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Measure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2E40A-1DC7-4E29-8BDE-EB78A47E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SASS / NCU</a:t>
            </a:r>
          </a:p>
          <a:p xmlns:a="http://schemas.openxmlformats.org/drawingml/2006/main">
            <a:pPr algn="ctr">
              <a:def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grid / probe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9CD75-56B4-48FC-9848-A515408F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52625"/>
            <a:ext cx="17716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7677E-FF45-43E2-A38C-C037607D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574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AE6E4-DC81-42BF-8EE1-170624B0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62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Assess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01E7D-E2DC-436F-83CF-8746D811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241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answer first</a:t>
            </a:r>
          </a:p>
          <a:p xmlns:a="http://schemas.openxmlformats.org/drawingml/2006/main">
            <a:pPr algn="ctr">
              <a:def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physical findings</a:t>
            </a:r>
          </a:p>
        </p:txBody>
      </p:sp>
      <p:cxnSp>
        <p:nvCxnSpPr>
          <p:cNvPr id="49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400300" y="26098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7586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E93E2-CF08-4753-AF04-CBC35256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52625"/>
            <a:ext cx="17716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6C9365-1BF7-4DE4-A9BC-6F509C8D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574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6B5C7-BC2A-4FBF-9220-62C5B351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62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Propose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470655-7FC6-49E3-93DB-90020135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MMA candidate</a:t>
            </a:r>
          </a:p>
          <a:p xmlns:a="http://schemas.openxmlformats.org/drawingml/2006/main">
            <a:pPr algn="ctr">
              <a:def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typed schedule</a:t>
            </a:r>
          </a:p>
        </p:txBody>
      </p:sp>
      <p:cxnSp>
        <p:nvCxnSpPr>
          <p:cNvPr id="54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610100" y="26098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7586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AC7933-060A-4700-B9AA-88073991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52625"/>
            <a:ext cx="17716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E5DE9A-BC88-47E4-9853-E4E7DA32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574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B93126-ACB0-4F7B-B662-2AED43E3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5A35A9-F268-443B-9500-87C4D5EC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241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correctness</a:t>
            </a:r>
          </a:p>
          <a:p xmlns:a="http://schemas.openxmlformats.org/drawingml/2006/main">
            <a:pPr algn="ctr">
              <a:def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paired timing</a:t>
            </a:r>
          </a:p>
        </p:txBody>
      </p:sp>
      <p:cxnSp>
        <p:nvCxnSpPr>
          <p:cNvPr id="59" name=""/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819900" y="26098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7586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B49FBA-87E4-4D1E-AA01-92060C89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52625"/>
            <a:ext cx="17716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6BDE81-128C-4CC5-B77A-147A2A14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574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8A6877-3D1F-42F3-9C01-3CA0C24D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62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Update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12023B-6E6B-41D8-B04F-8F1109C4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241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incumbent</a:t>
            </a:r>
          </a:p>
          <a:p xmlns:a="http://schemas.openxmlformats.org/drawingml/2006/main">
            <a:pPr algn="ctr">
              <a:def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memory / stop</a:t>
            </a:r>
          </a:p>
        </p:txBody>
      </p:sp>
      <p:cxnSp>
        <p:nvCxnSpPr>
          <p:cNvPr id="64" name=""/>
          <p:cNvCxnSpPr>
            <a:stCxn xmlns:a="http://schemas.openxmlformats.org/drawingml/2006/main" id="19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029700" y="26098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7586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54A541-1706-4FA3-8B67-6BC9B4A5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每轮先由测量证据给出主线判断；verifier、screen 和 qualification 结论进入 memory，约束下一轮 MMA proposal。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14DD6D-2996-47F2-89B8-B28B718C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302ECC-87A0-42A8-A9B5-D03F5754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停止条件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36BC53-356C-48A4-8A64-15B35761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48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无新候选，screen budget 用尽，evidence plateau，达到 max rounds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BFC603-7BD5-41BA-A31A-E95806A6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前瞻验证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758BEE-D2C5-413C-B8F6-97293464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625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W384/W768 预测 cpc7/cpc13，4/4 通过。当前仅为 shadow recommendation。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534473-7DB5-4C57-B87B-9E01485A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C31D1E-7AE3-43E2-9C72-4891B94E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2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44 项 CPU 测试覆盖证据取数、主线 assessment 与闭环逻辑 · LLM 不能越过 gate</a:t>
            </a:r>
          </a:p>
        </p:txBody>
      </p:sp>
    </p:spTree>
    <p:extLst>
      <p:ext uri="{BB962C8B-B14F-4D97-AF65-F5344CB8AC3E}">
        <p14:creationId xmlns:p14="http://schemas.microsoft.com/office/powerpoint/2010/main" val="16775129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9AC5E3-92AC-459C-815F-14232C8D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4AC93-8A85-49CE-A416-2A3813B5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C1F45-566B-4BA9-A4E7-8B4E3F1A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6EC1A-ED99-4173-8D5C-13AA35CA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6EBC3-1EF7-4CCB-B29C-F223FB4B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1F0E8-0AB9-44F5-84FA-9D6D18F0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00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迁移判断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7D81E-380D-4E82-A770-DF4F9257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812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全面将 mma.sync 替换为 tcgen05 当前不值得。B300 专用化应优先解决并行度和流水调度。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EEF6C-5186-499E-9D51-1E81891E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0AC91-CA30-4298-B306-123D90DE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94047-CD2C-4B17-9669-68343209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挑战结果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95962-D031-45FC-84E5-8B372AF4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ValueSlice 和分阶段预取在单请求域获得稳定收益；并发反例要求默认关闭并保留 V128 fallback。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4C49A-99FA-4D86-A9F8-C189A84E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A3C91-E075-4795-B579-5473E1C4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F9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B6F9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1AD26-E8E6-437F-AA13-E4BB1C1B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工具贡献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F0B02-A8C2-4C57-9356-2F73428C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244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4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43443"/>
                </a:solidFill>
                <a:latin typeface="PingFang SC"/>
                <a:ea typeface="PingFang SC"/>
                <a:cs typeface="PingFang SC"/>
              </a:rPr>
              <a:t>Runtime Profile Agent 用物理 profile 和实测结论自优化下一轮候选，并输出 STOP、KEEP 或 SHADOW。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1941F-5CB8-42D0-8C7A-29BF003F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3826ED-CCEC-4CF6-A9E2-90970FE5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24D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7324D"/>
                </a:solidFill>
                <a:latin typeface="PingFang SC"/>
                <a:ea typeface="PingFang SC"/>
                <a:cs typeface="PingFang SC"/>
              </a:rPr>
              <a:t>Kernel is cheap. 可信的 profile-to-policy 决策仍然昂贵。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4522FD-2180-4883-A7CE-7C9B4E7F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80A3A9-6C33-4E59-B060-81C3C6C0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102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586"/>
                </a:solidFill>
                <a:latin typeface="PingFang SC"/>
                <a:ea typeface="PingFang SC"/>
                <a:cs typeface="PingFang SC"/>
              </a:rPr>
              <a:t>适用边界：单张 B300 · FlashKDA forward · 未覆盖完整 Kimi K3 和多卡 serving</a:t>
            </a:r>
          </a:p>
        </p:txBody>
      </p:sp>
    </p:spTree>
    <p:extLst>
      <p:ext uri="{BB962C8B-B14F-4D97-AF65-F5344CB8AC3E}">
        <p14:creationId xmlns:p14="http://schemas.microsoft.com/office/powerpoint/2010/main" val="17695458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2026-09-09T11:54:41.9570000Z</dcterms:created>
  <dcterms:modified xsi:type="dcterms:W3CDTF">2026-09-09T11:54:41.9570000Z</dcterms:modified>
</coreProperties>
</file>