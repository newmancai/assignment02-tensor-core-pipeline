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003e051f8d48ca" /><Relationship Type="http://schemas.openxmlformats.org/officeDocument/2006/relationships/extended-properties" Target="/docProps/app.xml" Id="Re45f8eddda444262" /><Relationship Type="http://schemas.openxmlformats.org/officeDocument/2006/relationships/officeDocument" Target="/ppt/presentation.xml" Id="R3ed318531be04d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27e48abfbd4de5"/>
  </p:sldMasterIdLst>
  <p:notesMasterIdLst>
    <p:notesMasterId xmlns:r="http://schemas.openxmlformats.org/officeDocument/2006/relationships" r:id="Rad0d70a1cf174439"/>
  </p:notesMasterIdLst>
  <p:sldIdLst>
    <p:sldId xmlns:r="http://schemas.openxmlformats.org/officeDocument/2006/relationships" id="256" r:id="Rc3fcc64d8503492c"/>
    <p:sldId xmlns:r="http://schemas.openxmlformats.org/officeDocument/2006/relationships" id="257" r:id="R792bdc4a2a3b4b5a"/>
    <p:sldId xmlns:r="http://schemas.openxmlformats.org/officeDocument/2006/relationships" id="258" r:id="R46611a6177474b08"/>
    <p:sldId xmlns:r="http://schemas.openxmlformats.org/officeDocument/2006/relationships" id="259" r:id="R916f76bec8df4b1d"/>
    <p:sldId xmlns:r="http://schemas.openxmlformats.org/officeDocument/2006/relationships" id="260" r:id="Rd6d88ec3b1ed4d4e"/>
    <p:sldId xmlns:r="http://schemas.openxmlformats.org/officeDocument/2006/relationships" id="261" r:id="Racc9b85f980042a4"/>
    <p:sldId xmlns:r="http://schemas.openxmlformats.org/officeDocument/2006/relationships" id="262" r:id="R4c20d18b29e742c3"/>
    <p:sldId xmlns:r="http://schemas.openxmlformats.org/officeDocument/2006/relationships" id="263" r:id="R260d0014ea3c41c0"/>
    <p:sldId xmlns:r="http://schemas.openxmlformats.org/officeDocument/2006/relationships" id="264" r:id="R219ed04b704f4c1e"/>
    <p:sldId xmlns:r="http://schemas.openxmlformats.org/officeDocument/2006/relationships" id="265" r:id="Rbbbf7c7aea2d4f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c68cb2c22444b" /><Relationship Type="http://schemas.openxmlformats.org/officeDocument/2006/relationships/slideMaster" Target="/ppt/slideMasters/slideMaster1.xml" Id="R6927e48abfbd4de5" /><Relationship Type="http://schemas.openxmlformats.org/officeDocument/2006/relationships/notesMaster" Target="/ppt/notesMasters/notesMaster1.xml" Id="Rad0d70a1cf174439" /><Relationship Type="http://schemas.openxmlformats.org/officeDocument/2006/relationships/presProps" Target="/ppt/presProps.xml" Id="R0fcc0be861244c9b" /><Relationship Type="http://schemas.openxmlformats.org/officeDocument/2006/relationships/tableStyles" Target="/ppt/tableStyles.xml" Id="Rd9fc3c6094114a49" /><Relationship Type="http://schemas.openxmlformats.org/officeDocument/2006/relationships/slide" Target="/ppt/slides/slide1.xml" Id="Rc3fcc64d8503492c" /><Relationship Type="http://schemas.openxmlformats.org/officeDocument/2006/relationships/slide" Target="/ppt/slides/slide2.xml" Id="R792bdc4a2a3b4b5a" /><Relationship Type="http://schemas.openxmlformats.org/officeDocument/2006/relationships/slide" Target="/ppt/slides/slide3.xml" Id="R46611a6177474b08" /><Relationship Type="http://schemas.openxmlformats.org/officeDocument/2006/relationships/slide" Target="/ppt/slides/slide4.xml" Id="R916f76bec8df4b1d" /><Relationship Type="http://schemas.openxmlformats.org/officeDocument/2006/relationships/slide" Target="/ppt/slides/slide5.xml" Id="Rd6d88ec3b1ed4d4e" /><Relationship Type="http://schemas.openxmlformats.org/officeDocument/2006/relationships/slide" Target="/ppt/slides/slide6.xml" Id="Racc9b85f980042a4" /><Relationship Type="http://schemas.openxmlformats.org/officeDocument/2006/relationships/slide" Target="/ppt/slides/slide7.xml" Id="R4c20d18b29e742c3" /><Relationship Type="http://schemas.openxmlformats.org/officeDocument/2006/relationships/slide" Target="/ppt/slides/slide8.xml" Id="R260d0014ea3c41c0" /><Relationship Type="http://schemas.openxmlformats.org/officeDocument/2006/relationships/slide" Target="/ppt/slides/slide9.xml" Id="R219ed04b704f4c1e" /><Relationship Type="http://schemas.openxmlformats.org/officeDocument/2006/relationships/slide" Target="/ppt/slides/slide10.xml" Id="Rbbbf7c7aea2d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edddab1bff48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7998e4bbca4550" /><Relationship Type="http://schemas.openxmlformats.org/officeDocument/2006/relationships/notesMaster" Target="/ppt/notesMasters/notesMaster1.xml" Id="R8aa53e6ca16642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9c9b37190245ee" /><Relationship Type="http://schemas.openxmlformats.org/officeDocument/2006/relationships/notesMaster" Target="/ppt/notesMasters/notesMaster1.xml" Id="R8c7c7693473c4b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200b0701a24c29" /><Relationship Type="http://schemas.openxmlformats.org/officeDocument/2006/relationships/notesMaster" Target="/ppt/notesMasters/notesMaster1.xml" Id="R6ef3848908a5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62b645ea34482b" /><Relationship Type="http://schemas.openxmlformats.org/officeDocument/2006/relationships/notesMaster" Target="/ppt/notesMasters/notesMaster1.xml" Id="Rf30b74a5fcc942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119c6d01e2420a" /><Relationship Type="http://schemas.openxmlformats.org/officeDocument/2006/relationships/notesMaster" Target="/ppt/notesMasters/notesMaster1.xml" Id="R0a451c0271924b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3f9457524c4d1c" /><Relationship Type="http://schemas.openxmlformats.org/officeDocument/2006/relationships/notesMaster" Target="/ppt/notesMasters/notesMaster1.xml" Id="R8331968eb47c41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9c6aaded3e4f64" /><Relationship Type="http://schemas.openxmlformats.org/officeDocument/2006/relationships/notesMaster" Target="/ppt/notesMasters/notesMaster1.xml" Id="Re7348874167046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e3eb29f4ab40db" /><Relationship Type="http://schemas.openxmlformats.org/officeDocument/2006/relationships/notesMaster" Target="/ppt/notesMasters/notesMaster1.xml" Id="R15601a25bbf548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962cb68feb4652" /><Relationship Type="http://schemas.openxmlformats.org/officeDocument/2006/relationships/notesMaster" Target="/ppt/notesMasters/notesMaster1.xml" Id="Rdf26b5628f8347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fcd85fc0c34d93" /><Relationship Type="http://schemas.openxmlformats.org/officeDocument/2006/relationships/notesMaster" Target="/ppt/notesMasters/notesMaster1.xml" Id="R4c989b3891004f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本报告回答 C1：FlashKDA 官方 kernel 仍使用 SM80 MMA，迁移到 SM100 是否值得。</a:t>
            </a:r>
          </a:p>
          <a:p xmlns:a="http://schemas.openxmlformats.org/drawingml/2006/main">
            <a:r>
              <a:t>报告按复现与测量、分析、挑战三个阶段展开。主线结论会在挑战之前给出。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先说明论证顺序。第一阶段只建立可信基线和瓶颈事实。第二阶段必须明确回答题目，再决定是否进入挑战。第三阶段验证针对瓶颈的具体实现。</a:t>
            </a:r>
          </a:p>
          <a:p xmlns:a="http://schemas.openxmlformats.org/drawingml/2006/main">
            <a:r>
              <a:t>迁移价值按照完整成本与证据判断，不按照指令代际判断。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按官方 warmup、iters 和 repeats 口径复现。FlashKDA 在六个官方形状上相对 FLA 为 1.79 到 3.42 倍。</a:t>
            </a:r>
          </a:p>
          <a:p xmlns:a="http://schemas.openxmlformats.org/drawingml/2006/main">
            <a:r>
              <a:t>因此迁移必须击败强基线，不能只引用 SM100 峰值算力。证据见 experiments/final_campaign 与 Job 17926。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SASS 证实题面所说的旧 MMA atom。NCU 同时显示 H12 时 K2 只有 12 个 CTA，对 148 个 SM，SM、DRAM 和 Tensor elapsed 指标都很低。</a:t>
            </a:r>
          </a:p>
          <a:p xmlns:a="http://schemas.openxmlformats.org/drawingml/2006/main">
            <a:r>
              <a:t>这意味着先解决可见并行度，再讨论全面更换 Tensor Core 指令。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这里先直接回答题目。全面 direct swap 没有净收益信号，机械放大 CHUNK 先遇到数值和算法代价。</a:t>
            </a:r>
          </a:p>
          <a:p xmlns:a="http://schemas.openxmlformats.org/drawingml/2006/main">
            <a:r>
              <a:t>测量支持的路线是增加 CTA 间并行度和改善 CTA 内流水。所以下一阶段只挑战这两类候选，并保留 V128 fallback。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ValueSlice 不改变 recurrence 方向，只切分相互独立的 Value 行。H12 时将 12 个 CTA 扩到 96 个 CTA。</a:t>
            </a:r>
          </a:p>
          <a:p xmlns:a="http://schemas.openxmlformats.org/drawingml/2006/main">
            <a:r>
              <a:t>代价是 slice-independent 公共输入被重复读取，因此它需要 shape guard，而不是全域默认启用。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三层结果必须按照各自基线报告。ValueSlice 解决 CTA 数，P4 和 Phase-1 解决单 CTA 内的 load-use 调度。</a:t>
            </a:r>
          </a:p>
          <a:p xmlns:a="http://schemas.openxmlformats.org/drawingml/2006/main">
            <a:r>
              <a:t>最终 37.23% 和 45.52% 已经是相对同 Job V128 的累计结果，不能再与前两层相加。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正确性和单请求收益都通过，但无初态双 stream 回归 1.52%。</a:t>
            </a:r>
          </a:p>
          <a:p xmlns:a="http://schemas.openxmlformats.org/drawingml/2006/main">
            <a:r>
              <a:t>因此只能称为干净的单卡 opt-in candidate，不能称为生产默认策略，也不能把算子降时写成 TTFT 或 SLO goodput 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这不是从挑战事后抽象出的包装。Agent 从 SASS、NCU、grid 和 probe receipt 开始，先回答迁移问题，再提出 typed MMA 候选。</a:t>
            </a:r>
          </a:p>
          <a:p xmlns:a="http://schemas.openxmlformats.org/drawingml/2006/main">
            <a:r>
              <a:t>自优化发生在候选策略层，不是在线修改模型权重。确定性 gate 决定 incumbent，预算或 evidence plateau 决定停止。</a:t>
            </a:r>
          </a:p>
          <a:p xmlns:a="http://schemas.openxmlformats.org/drawingml/2006/main">
            <a:r>
              <a:t>W384/W768 的前瞻实验支持容量规则在同一 B300、同一 route 上的插值，但仍只做 shadow recommendation。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最后回到题目。全面迁移 tcgen05 当前不值得；有证据支持的 B300 专用化集中在并行度和流水。</a:t>
            </a:r>
          </a:p>
          <a:p xmlns:a="http://schemas.openxmlformats.org/drawingml/2006/main">
            <a:r>
              <a:t>挑战给出正向收益和并发反例。Runtime Profile Agent 将这些结论变成下一轮候选与停止决策。</a:t>
            </a:r>
          </a:p>
          <a:p xmlns:a="http://schemas.openxmlformats.org/drawingml/2006/main">
            <a:r>
              <a:t>所有结论限定在单张 B300 和已测 FlashKDA forward，未证明完整 Kimi K3、TP8 通信或 serving SLO。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fd0f2e0ea4c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7b4a988ce4ebe" /><Relationship Type="http://schemas.openxmlformats.org/officeDocument/2006/relationships/slideLayout" Target="/ppt/slideLayouts/slideLayout1.xml" Id="R248de8e6b8c14b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8de8e6b8c14b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cf627e894f21" /><Relationship Type="http://schemas.openxmlformats.org/officeDocument/2006/relationships/notesSlide" Target="/ppt/notesSlides/notesSlide1.xml" Id="R6533cc641cc145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b89b702494b15" /><Relationship Type="http://schemas.openxmlformats.org/officeDocument/2006/relationships/notesSlide" Target="/ppt/notesSlides/notesSlide2.xml" Id="R766137f75649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6d95e9aa64562" /><Relationship Type="http://schemas.openxmlformats.org/officeDocument/2006/relationships/chart" Target="/ppt/slides/charts/chart1.xml" Id="R918c1c9a13ba4c9f" /><Relationship Type="http://schemas.openxmlformats.org/officeDocument/2006/relationships/notesSlide" Target="/ppt/notesSlides/notesSlide3.xml" Id="Rd42d0e9344ec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d1ff135054496" /><Relationship Type="http://schemas.openxmlformats.org/officeDocument/2006/relationships/chart" Target="/ppt/slides/charts/chart2.xml" Id="R65424c84ba6c4d46" /><Relationship Type="http://schemas.openxmlformats.org/officeDocument/2006/relationships/notesSlide" Target="/ppt/notesSlides/notesSlide4.xml" Id="R10ecd1915c094e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d568a8f0a40f3" /><Relationship Type="http://schemas.openxmlformats.org/officeDocument/2006/relationships/notesSlide" Target="/ppt/notesSlides/notesSlide5.xml" Id="Rd0b3ba7ed78b48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0892ed4b343c6" /><Relationship Type="http://schemas.openxmlformats.org/officeDocument/2006/relationships/notesSlide" Target="/ppt/notesSlides/notesSlide6.xml" Id="R0bd41d8b21e248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6369481cc4bd9" /><Relationship Type="http://schemas.openxmlformats.org/officeDocument/2006/relationships/notesSlide" Target="/ppt/notesSlides/notesSlide7.xml" Id="Rb9cdb03b97464a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2760dffc44fa9" /><Relationship Type="http://schemas.openxmlformats.org/officeDocument/2006/relationships/notesSlide" Target="/ppt/notesSlides/notesSlide8.xml" Id="R2f64ca9b3ff842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0d06e6eb44469" /><Relationship Type="http://schemas.openxmlformats.org/officeDocument/2006/relationships/notesSlide" Target="/ppt/notesSlides/notesSlide9.xml" Id="Re74db250864942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ccc876da5433e" /><Relationship Type="http://schemas.openxmlformats.org/officeDocument/2006/relationships/notesSlide" Target="/ppt/notesSlides/notesSlide10.xml" Id="R9fba54846aa845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FlashKDA</c:v>
          </c:tx>
          <c:spPr>
            <a:solidFill xmlns:a="http://schemas.openxmlformats.org/drawingml/2006/main">
              <a:srgbClr val="2B6F9F"/>
            </a:solidFill>
          </c:spPr>
          <c:cat>
            <c:strRef>
              <c:f>'Chart Data'!$A$2:$A$7</c:f>
              <c:strCache>
                <c:ptCount val="6"/>
                <c:pt idx="0">
                  <c:v>H96
Fixed</c:v>
                </c:pt>
                <c:pt idx="1">
                  <c:v>H96
Ragged6</c:v>
                </c:pt>
                <c:pt idx="2">
                  <c:v>H96
8×1024</c:v>
                </c:pt>
                <c:pt idx="3">
                  <c:v>H64
Fixed</c:v>
                </c:pt>
                <c:pt idx="4">
                  <c:v>H64
Ragged6</c:v>
                </c:pt>
                <c:pt idx="5">
                  <c:v>H64
8×1024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1.03</c:v>
                </c:pt>
                <c:pt idx="1">
                  <c:v>0.861</c:v>
                </c:pt>
                <c:pt idx="2">
                  <c:v>0.696</c:v>
                </c:pt>
                <c:pt idx="3">
                  <c:v>0.941</c:v>
                </c:pt>
                <c:pt idx="4">
                  <c:v>0.653</c:v>
                </c:pt>
                <c:pt idx="5">
                  <c:v>0.474</c:v>
                </c:pt>
              </c:numCache>
            </c:numRef>
          </c:val>
        </c:ser>
        <c:ser>
          <c:idx val="1"/>
          <c:order val="1"/>
          <c:tx>
            <c:v>FLA chunk KDA</c:v>
          </c:tx>
          <c:spPr>
            <a:solidFill xmlns:a="http://schemas.openxmlformats.org/drawingml/2006/main">
              <a:srgbClr val="A9B6C2"/>
            </a:solidFill>
          </c:spPr>
          <c:cat>
            <c:strRef>
              <c:f>'Chart Data'!$C$2:$C$7</c:f>
              <c:strCache>
                <c:ptCount val="6"/>
                <c:pt idx="0">
                  <c:v>H96
Fixed</c:v>
                </c:pt>
                <c:pt idx="1">
                  <c:v>H96
Ragged6</c:v>
                </c:pt>
                <c:pt idx="2">
                  <c:v>H96
8×1024</c:v>
                </c:pt>
                <c:pt idx="3">
                  <c:v>H64
Fixed</c:v>
                </c:pt>
                <c:pt idx="4">
                  <c:v>H64
Ragged6</c:v>
                </c:pt>
                <c:pt idx="5">
                  <c:v>H64
8×1024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2.416</c:v>
                </c:pt>
                <c:pt idx="1">
                  <c:v>2.425</c:v>
                </c:pt>
                <c:pt idx="2">
                  <c:v>2.381</c:v>
                </c:pt>
                <c:pt idx="3">
                  <c:v>1.686</c:v>
                </c:pt>
                <c:pt idx="4">
                  <c:v>1.699</c:v>
                </c:pt>
                <c:pt idx="5">
                  <c:v>1.596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2434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Latency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243443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Official V128</c:v>
          </c:tx>
          <c:spPr>
            <a:solidFill xmlns:a="http://schemas.openxmlformats.org/drawingml/2006/main">
              <a:srgbClr val="2B6F9F"/>
            </a:solidFill>
          </c:spPr>
          <c:cat>
            <c:strRef>
              <c:f>'Chart Data'!$A$2:$A$4</c:f>
              <c:strCache>
                <c:ptCount val="3"/>
                <c:pt idx="0">
                  <c:v>SM throughput</c:v>
                </c:pt>
                <c:pt idx="1">
                  <c:v>DRAM throughput</c:v>
                </c:pt>
                <c:pt idx="2">
                  <c:v>Tensor elapsed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2.64</c:v>
                </c:pt>
                <c:pt idx="1">
                  <c:v>1.24</c:v>
                </c:pt>
                <c:pt idx="2">
                  <c:v>2.48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24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% of peak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3742B-7E6E-4933-B935-5D49EC68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北京大学课程大作业 · 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61291-29F4-4736-8CB3-65BBF779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FlashKDA 从 SM80 MMA</a:t>
            </a:r>
          </a:p>
          <a:p xmlns:a="http://schemas.openxmlformats.org/drawingml/2006/main">
            <a:pPr algn="l">
              <a:def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迁移到 SM100 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67465-54E6-408D-A48F-C9142057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6C96E-5BC8-4D4A-9658-07209C0D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B300/SM103 上的复现、测量、迁移分析与挑战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EBB8D-3CEF-418C-A660-B956AA0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Kimi KDA · 单卡 B300 · 10 分钟答辩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FE0CB-0F11-4412-804F-4BBAE44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2026-09-09</a:t>
            </a:r>
          </a:p>
        </p:txBody>
      </p:sp>
    </p:spTree>
    <p:extLst>
      <p:ext uri="{BB962C8B-B14F-4D97-AF65-F5344CB8AC3E}">
        <p14:creationId xmlns:p14="http://schemas.microsoft.com/office/powerpoint/2010/main" val="228557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C5D58-8D2D-4DB4-A9BD-934A6F88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研究设计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EF0D6-0C28-4951-ADAA-AB513F10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EBE7D-4841-45E8-A3DF-27DC7D0A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研究问题与评价路径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F90A6-60BD-4AFB-A16A-EF585FE9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F5B73-CF29-4448-824B-E24FFDA0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Ⅰ  复现与测量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5002A-829B-4119-9AC8-FCF01C56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05279-1557-450E-9E72-F8038AB8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Agent 组织同 workload receipt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核对 SASS、grid 和 NCU 指标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建立可比较的 B300 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D573A-219C-4E92-A283-9E562A01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Ⅱ  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8C1D9-DD32-4884-9E6F-C1AEA91B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BE1F9-280F-4255-83DD-FDFF1648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Agent 先回答迁移是否值得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结论必须对应实测证据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再将 MMA 工作排为 KEEP/MEASURE/STOP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F9CC0-AAB4-472D-ABDA-011AE74B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Ⅲ  挑战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1CF02-75CB-4349-9E62-2B16B66E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414DE-4717-4790-8270-7D4CFA86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只实现 Agent 保留的候选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验证 output 与 final state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将正负结果回写下一轮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C7E0F-AF62-4F49-9916-0880C853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4041F-290B-46D5-8192-3FDB0F92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评价原则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3257B-B4ED-45B4-A1C8-7B5DB356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768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新指令不构成收益证据。完整实现成本、正确性、统计稳定性与 fallback 共同决定迁移价值。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03B0D-D4AD-44DF-AF95-50942C54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9D6F6-AD12-4808-A12B-3D91EC94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结构：复现与测量 → 分析（结论 + 证据）→ 挑战</a:t>
            </a:r>
          </a:p>
        </p:txBody>
      </p:sp>
    </p:spTree>
    <p:extLst>
      <p:ext uri="{BB962C8B-B14F-4D97-AF65-F5344CB8AC3E}">
        <p14:creationId xmlns:p14="http://schemas.microsoft.com/office/powerpoint/2010/main" val="660051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3C2F4-3D85-4981-88E4-9B486422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阶段一 ·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AFC4-34D4-43F0-8DBA-9667DFD3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08DAF-E07D-4C61-9C99-E6EA2EDF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复现结果：官方 FlashKDA 是强基线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D5223-C437-49C3-A8D9-F2BE8A16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81050" y="16192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8c1c9a13ba4c9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3A5B2-6BE1-438F-A65B-443520AB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E7D7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E7D78"/>
                </a:solidFill>
                <a:latin typeface="PingFang SC"/>
                <a:ea typeface="PingFang SC"/>
                <a:cs typeface="PingFang SC"/>
              </a:rPr>
              <a:t>1.79–3.42×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321C9-ACAC-4210-ABF9-1E5C240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相对 FLA chunk KDA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F4785-1936-4CB3-A5FE-35991DE5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2EE1B-08DD-4250-A39E-E6256352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复现设置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76CD4-9174-47DD-8D31-7DCDA4D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766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B300 SXM6 AC</a:t>
            </a:r>
          </a:p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commit 1ce47ea</a:t>
            </a:r>
          </a:p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warmup 30</a:t>
            </a:r>
          </a:p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iters 200, repeats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69E40-D401-4E74-822B-7508E0C6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2F308-E469-4A3D-AE51-4FF103CA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Agent input A: official reproduction receipt · Slurm Job 17926 · lower latency is better</a:t>
            </a:r>
          </a:p>
        </p:txBody>
      </p:sp>
    </p:spTree>
    <p:extLst>
      <p:ext uri="{BB962C8B-B14F-4D97-AF65-F5344CB8AC3E}">
        <p14:creationId xmlns:p14="http://schemas.microsoft.com/office/powerpoint/2010/main" val="1140628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9AFAA-88F1-4ED4-8A91-2F504F5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阶段一 ·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1516A-69CE-4B79-BDD5-927A415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3F34A-5ECE-436C-96F5-9FA1F8D6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Agent 测量 receipt：首要瓶颈是 grid underfill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69296-F03B-428E-95DF-EDA14D20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49407-AB54-4547-9E02-9EED698D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SASS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992A8-0EC8-47B8-A818-3B74F0A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3,640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36C5C-1D89-47FA-9C92-D389E33F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HMMA.16816.F32.BF16</a:t>
            </a:r>
          </a:p>
          <a:p xmlns:a="http://schemas.openxmlformats.org/drawingml/2006/main">
            <a:pPr algn="l">
              <a:def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TCGEN / UTCMMA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6F375-1A27-4A01-80C9-250932F3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1EA45-4227-44E2-A946-DA7F2851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TP8 代表形状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8EA08-E6FB-4CC7-8E0A-4BF3C43D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H = 96 / 8 =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FA99E-04B1-401C-8D92-032EE5B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rPr>
              <a:t>K2 grid = 12 CTA</a:t>
            </a:r>
          </a:p>
          <a:p xmlns:a="http://schemas.openxmlformats.org/drawingml/2006/main">
            <a:pPr algn="l">
              <a:def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rPr>
              <a:t>GPU = 148 SM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095750" y="16954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424c84ba6c4d4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BDDB4-0D9A-4B56-9F9C-CBEB859C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12B23-C374-4970-AA09-C4D59D41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38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测量确认旧 MMA 路径，但数据不支持 Tensor Core 峰值是当前首要约束。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B716E-294B-40BC-809E-A3725BFD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E962D-F882-433E-955D-2389DD34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674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Evidence: static SASS + Job 17965 NCU · T=8192, H=12, D=128</a:t>
            </a:r>
          </a:p>
        </p:txBody>
      </p:sp>
    </p:spTree>
    <p:extLst>
      <p:ext uri="{BB962C8B-B14F-4D97-AF65-F5344CB8AC3E}">
        <p14:creationId xmlns:p14="http://schemas.microsoft.com/office/powerpoint/2010/main" val="522819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75A2E-DBDF-4846-BC9D-7A379AA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阶段二 · 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C5F61-C23C-4F9F-A46F-F59D086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C73EF-FCF0-490C-AE55-32FDF45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Agent 主线分析：先给迁移结论与证据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828E6-2BB8-4A26-B202-F352D5F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715000"/>
                <a:gridCol w="2724150"/>
              </a:tblGrid>
              <a:tr h="647700">
                <a:tc>
                  <a:txBody>
                    <a:bodyPr/>
                    <a:lstStyle/>
                    <a:p>
                      <a:r>
                        <a:t>候选假设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关键证据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判断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全面换成 tcgen05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Phase-6 V128 乐观摊销后仅为 mma.sync 的 0.920×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B84A45"/>
                          </a:solidFill>
                        </a:rPr>
                        <a:t>当前停止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机械放大 CHUNK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C32/C64 在 token 18 首次 FTZ/overflow；Neumann 代价 5.33×/26.67×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B84A45"/>
                          </a:solidFill>
                        </a:rPr>
                        <a:t>当前停止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增加 CTA 并行度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TP8/H12 下 12 CTA 对 148 SM；Value 维可独立切分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进入挑战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CTA 内流水调度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profile 指向 fragment/state load-use 距离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进入挑战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4059F-3C79-42F1-ACDA-9DF20B31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BD36F-F983-4713-B574-613A15AF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Assessment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AD746-81E1-42D0-AB78-C9CE7C60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不值得把 FlashKDA 整体机械迁移到 tcgen05。值得围绕 B300 workload 重构并行度和流水，并保留 V128 fallback。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3C9F4-FA79-4D93-8A4F-5190DEFE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14535-D2D5-484C-9FE2-1CC6857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Deterministic receipt: MMA001–MMA005 · 结论先于挑战</a:t>
            </a:r>
          </a:p>
        </p:txBody>
      </p:sp>
    </p:spTree>
    <p:extLst>
      <p:ext uri="{BB962C8B-B14F-4D97-AF65-F5344CB8AC3E}">
        <p14:creationId xmlns:p14="http://schemas.microsoft.com/office/powerpoint/2010/main" val="1902696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6A589-803F-45C0-88A4-A1908FE9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阶段三 · Agent 候选验证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A71F8-19B7-4C2F-8BAD-B537D3F1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548D1-93D2-40D8-ADDE-09DD952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挑战设计：ValueSlice 重构 CTA 并行度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7D7A0-8E12-4961-BF23-5947C265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C7C83-74A0-4C3E-A97F-F4FF7854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切分原则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7AEF0-27B6-4EE2-9E46-ACE62AB1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Value 行相互独立。保持总 Tensor FLOPs、每行归约顺序和状态契约不变，只改变 CTA 对 Value rows 的分工。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047750" y="2876550"/>
          <a:ext xmlns:a="http://schemas.openxmlformats.org/drawingml/2006/main" cx="9906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  <a:gridCol w="4000500"/>
              </a:tblGrid>
              <a:tr h="47625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官方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ValueSlice V16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每个 head 的 Value 分片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TP8/H12 的 K2 grid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 CTA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96 CTA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每 CTA 负责的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16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代价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grid underfill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公共输入重复读取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3C689-02A7-418B-A1CC-9C994C3F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grid = N × H × (D / 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BAB82-FC7B-4B47-A77D-5B0611CD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153EF-88A7-4C1C-A4F7-9266C3DD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实现边界：无 reduction、无 atomic、public ABI 与 final-state 语义不变</a:t>
            </a:r>
          </a:p>
        </p:txBody>
      </p:sp>
    </p:spTree>
    <p:extLst>
      <p:ext uri="{BB962C8B-B14F-4D97-AF65-F5344CB8AC3E}">
        <p14:creationId xmlns:p14="http://schemas.microsoft.com/office/powerpoint/2010/main" val="1467398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C7A01-16D0-4130-B3DE-C741AE98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阶段三 ·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7E6B6-BD4F-4A88-B0A6-0BE7F6FF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5B8BA-E3E5-4341-BF14-3EEC1E7F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挑战结果：三层优化及其比较基线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8ED88-A730-40D4-9527-47B372D3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1524000"/>
          <a:ext xmlns:a="http://schemas.openxmlformats.org/drawingml/2006/main" cx="10934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000375"/>
                <a:gridCol w="3333750"/>
                <a:gridCol w="2457450"/>
              </a:tblGrid>
              <a:tr h="708660">
                <a:tc>
                  <a:txBody>
                    <a:bodyPr/>
                    <a:lstStyle/>
                    <a:p>
                      <a:r>
                        <a:t>层级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改动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比较对象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B300 结果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基线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官方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官方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 CTA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层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ValueSlice V16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同作业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约 −27.0%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层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Phase-6 StatePrefetch=4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旧 V16 / 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无初态 −9.02%</a:t>
                      </a:r>
                    </a:p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有初态 −19.40%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层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Phase-1 L4 / L2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同 Job19934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首段 −37.23%</a:t>
                      </a:r>
                    </a:p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续段 −45.52%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923C8-1479-447E-93F2-3A2C075D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9E720-7A60-49FD-ACA5-BC956015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解释约束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E8B6B-3F4D-4CC7-A4A2-8AED8E7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8640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各层使用不同基线。百分比不可相加，也不可跨 job 拼接绝对延迟。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19F73-9493-4CCB-B276-84C3E4B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5E6A5-5DEA-411E-A5DC-FD54AE7E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Evidence: Jobs 17947 / 19901 / 19934 · lower latency is better</a:t>
            </a:r>
          </a:p>
        </p:txBody>
      </p:sp>
    </p:spTree>
    <p:extLst>
      <p:ext uri="{BB962C8B-B14F-4D97-AF65-F5344CB8AC3E}">
        <p14:creationId xmlns:p14="http://schemas.microsoft.com/office/powerpoint/2010/main" val="1310023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98A42-6B76-470A-B59E-035DF227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阶段三 ·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FFB3F-5A83-4A12-8817-38E0237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3719E-AA9F-4060-88FF-2463C52E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挑战验收：正向结果不支持默认启用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E72D7-535F-487F-ACDD-F1211633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905250"/>
                <a:gridCol w="4248150"/>
              </a:tblGrid>
              <a:tr h="619125">
                <a:tc>
                  <a:txBody>
                    <a:bodyPr/>
                    <a:lstStyle/>
                    <a:p>
                      <a:r>
                        <a:t>检查项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含义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准入域性能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34 个配置均获益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单请求候选稳定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跨路径正确性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120 + 14 条 bitwise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 与 final state 一致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工具检查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memcheck / synccheck: 0 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已测路径无报告错误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双 stream，无初态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B84A45"/>
                          </a:solidFill>
                        </a:rPr>
                        <a:t>+1.52% joined-pair 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并发反例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发布状态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build-time opt-in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保留 V128 fallback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27E6E-F6DD-4B66-AAB7-92115CB3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815CE-DFB6-44E7-B558-709C515E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57590-4191-42FA-8FA4-24F829FD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当前 shape guard 不感知设备实时并发。候选保持默认关闭。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6ABEF-5A46-4952-84D9-D0FB07AD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7E058-C105-48EA-896E-4208B8FE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未完成：完整 Kimi K3、TP8/NCCL、scheduler 与 SLO 验证</a:t>
            </a:r>
          </a:p>
        </p:txBody>
      </p:sp>
    </p:spTree>
    <p:extLst>
      <p:ext uri="{BB962C8B-B14F-4D97-AF65-F5344CB8AC3E}">
        <p14:creationId xmlns:p14="http://schemas.microsoft.com/office/powerpoint/2010/main" val="1159676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0D9FDE-CFB1-4113-96CF-69B6CB38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方法抽象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98E3D-6D46-491F-9DF7-57FEAC0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A0354-52CE-4702-B028-0453B9A9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Runtime Profile Agent：从测量到下一轮 MMA 候选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0BA00-2086-4CDC-9BDF-A7C7B885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B5D31-2899-4FA9-839F-8B7EBE1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FEC0E-4925-47DE-88A1-198C6886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0B6A9-15E3-4D56-942D-E28CFF14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Measure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B1F4C-AFB9-4DC5-85F1-19A39A74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SASS / NCU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grid / probe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176BC-4BA0-44CA-BFA3-CA2E5CD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E6A51-EEC7-49C7-A5F1-BCB7A827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D4A6A-AD64-49C1-9CFA-FC87A0E8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Assess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2380E-855E-435E-AD0B-4FA4D337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answer first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physical findings</a:t>
            </a:r>
          </a:p>
        </p:txBody>
      </p: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003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9CACF-8420-4F47-A021-B05BD4B4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DDBF8-D952-45D3-945A-913C799C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4BC69-61D9-458F-80E2-CA0A656B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Propose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599CA-BECF-43C1-B119-C5F6FE2D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MMA candidate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typed schedule</a:t>
            </a:r>
          </a:p>
        </p:txBody>
      </p: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101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F82C8-7E95-497B-9424-0D037B1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C77D1-B6B9-4BA3-8B60-7A00AB3B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51501-BC8F-4962-A6F9-A81DC47B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90BB5-8BDF-47B2-ADC1-B949064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correctness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paired timing</a:t>
            </a:r>
          </a:p>
        </p:txBody>
      </p: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199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82AA4-3ED7-4146-A9E4-8ECCE61F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87D30-430C-4CED-9934-8ADDCD3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8AF3B-AD94-400D-A36D-E87160D0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5F2BD-5554-47EB-B168-00B4B827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incumbent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memory / stop</a:t>
            </a:r>
          </a:p>
        </p:txBody>
      </p:sp>
      <p:cxnSp>
        <p:nvCxnSpPr>
          <p:cNvPr id="64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297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958D46-BAED-4F7C-9D58-069648EB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每轮先由测量证据给出主线判断；verifier、screen 和 qualification 结论进入 memory，约束下一轮 MMA proposal。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14697-734F-48D2-AEDE-192951B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32CBE2-4191-487C-A649-F5672B8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停止条件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2EA82B-F62E-46E3-BDCF-EC3862C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无新候选，screen budget 用尽，evidence plateau，达到 max rounds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8DCDF5-60D5-45FC-A6CF-5EAB9A08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前瞻验证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B1DA60-94D3-494B-83FF-B9F979DE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62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W384/W768 预测 cpc7/cpc13，4/4 通过。当前仅为 shadow recommendation。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0FEBD5-945C-4EF6-988F-FBF6EC09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CFF1B2-1C77-4FA9-8AF0-A1719D8B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41 项 CPU 测试覆盖主线 assessment 与闭环逻辑 · LLM 不能越过 verifier 与 activation gate</a:t>
            </a:r>
          </a:p>
        </p:txBody>
      </p:sp>
    </p:spTree>
    <p:extLst>
      <p:ext uri="{BB962C8B-B14F-4D97-AF65-F5344CB8AC3E}">
        <p14:creationId xmlns:p14="http://schemas.microsoft.com/office/powerpoint/2010/main" val="2012768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A1E97-0DA0-4E9E-91CF-7ADC7FEF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9A074-7B28-4912-A8C1-C8DA477F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20E49-B96C-4733-9119-BFE9F7EE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71FE7-3355-4980-9AE6-03E046F1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3E57C-1D2A-4324-B4E4-EA51FB7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ECD53-D6EA-4F87-A64F-AB835C1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迁移判断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A3FB5-90E4-419B-9672-7166350A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812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全面将 mma.sync 替换为 tcgen05 当前不值得。B300 专用化应优先解决并行度和流水调度。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6EBE3-67B4-4BEF-B123-E94B66EF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0757C-C2C5-4E55-9509-367BD358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C7D20-F9E7-4930-BCCB-C176317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83805-45C3-462B-AAD1-C855D910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ValueSlice 和分阶段预取在单请求域获得稳定收益；并发反例要求默认关闭并保留 V128 fallback。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BF6E0-E035-4489-AC6A-5778DC12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60BA2-323A-4AAB-95F0-03F11AA4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6F7D1-8A95-4557-B515-5F841CA3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工具贡献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5D716-F880-4B13-9BEF-FAF81661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Runtime Profile Agent 用物理 profile 和实测结论自优化下一轮候选，并输出 STOP、KEEP 或 SHADOW。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FA978-F232-46FE-AFB2-D178CE13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44AD9-6525-4E08-B6B3-E6BA851B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Kernel is cheap. 可信的 profile-to-policy 决策仍然昂贵。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79ECD-4371-4076-893C-CA591C16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3AC38-EAED-4A36-A46E-FF58BB7D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适用边界：单张 B300 · FlashKDA forward · 未覆盖完整 Kimi K3 和多卡 serving</a:t>
            </a:r>
          </a:p>
        </p:txBody>
      </p:sp>
    </p:spTree>
    <p:extLst>
      <p:ext uri="{BB962C8B-B14F-4D97-AF65-F5344CB8AC3E}">
        <p14:creationId xmlns:p14="http://schemas.microsoft.com/office/powerpoint/2010/main" val="1807467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2026-09-09T11:18:51.2690000Z</dcterms:created>
  <dcterms:modified xsi:type="dcterms:W3CDTF">2026-09-09T11:18:51.2690000Z</dcterms:modified>
</coreProperties>
</file>