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212e819b4d04107" /><Relationship Type="http://schemas.openxmlformats.org/officeDocument/2006/relationships/extended-properties" Target="/docProps/app.xml" Id="R98424f7935894cbb" /><Relationship Type="http://schemas.openxmlformats.org/officeDocument/2006/relationships/officeDocument" Target="/ppt/presentation.xml" Id="R591040076d80401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43ad190bbaf485e"/>
  </p:sldMasterIdLst>
  <p:notesMasterIdLst>
    <p:notesMasterId xmlns:r="http://schemas.openxmlformats.org/officeDocument/2006/relationships" r:id="Rdf0ed4c05dd34474"/>
  </p:notesMasterIdLst>
  <p:sldIdLst>
    <p:sldId xmlns:r="http://schemas.openxmlformats.org/officeDocument/2006/relationships" id="256" r:id="R1992336e336a482a"/>
    <p:sldId xmlns:r="http://schemas.openxmlformats.org/officeDocument/2006/relationships" id="257" r:id="Rf13dd4f3afca45ac"/>
    <p:sldId xmlns:r="http://schemas.openxmlformats.org/officeDocument/2006/relationships" id="258" r:id="R0cb2a948ed304c0c"/>
    <p:sldId xmlns:r="http://schemas.openxmlformats.org/officeDocument/2006/relationships" id="259" r:id="R0312f7d6609542ff"/>
    <p:sldId xmlns:r="http://schemas.openxmlformats.org/officeDocument/2006/relationships" id="260" r:id="R62e79a49d90d40b7"/>
    <p:sldId xmlns:r="http://schemas.openxmlformats.org/officeDocument/2006/relationships" id="261" r:id="R6a708cc72f1c48b5"/>
    <p:sldId xmlns:r="http://schemas.openxmlformats.org/officeDocument/2006/relationships" id="262" r:id="Redeb0cf26feb4f5d"/>
    <p:sldId xmlns:r="http://schemas.openxmlformats.org/officeDocument/2006/relationships" id="263" r:id="R540e83b80f55402f"/>
    <p:sldId xmlns:r="http://schemas.openxmlformats.org/officeDocument/2006/relationships" id="264" r:id="Ra4e7aa7386df4c57"/>
    <p:sldId xmlns:r="http://schemas.openxmlformats.org/officeDocument/2006/relationships" id="265" r:id="Ra069c6e34faa46df"/>
    <p:sldId xmlns:r="http://schemas.openxmlformats.org/officeDocument/2006/relationships" id="266" r:id="R672b76f433514480"/>
    <p:sldId xmlns:r="http://schemas.openxmlformats.org/officeDocument/2006/relationships" id="267" r:id="R4ab43568b0854437"/>
    <p:sldId xmlns:r="http://schemas.openxmlformats.org/officeDocument/2006/relationships" id="268" r:id="R820805942e8a491b"/>
    <p:sldId xmlns:r="http://schemas.openxmlformats.org/officeDocument/2006/relationships" id="269" r:id="Rf727c34df8ac44a1"/>
    <p:sldId xmlns:r="http://schemas.openxmlformats.org/officeDocument/2006/relationships" id="270" r:id="R0a6236176e494cf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0781e3e242b4618" /><Relationship Type="http://schemas.openxmlformats.org/officeDocument/2006/relationships/slideMaster" Target="/ppt/slideMasters/slideMaster1.xml" Id="R143ad190bbaf485e" /><Relationship Type="http://schemas.openxmlformats.org/officeDocument/2006/relationships/notesMaster" Target="/ppt/notesMasters/notesMaster1.xml" Id="Rdf0ed4c05dd34474" /><Relationship Type="http://schemas.openxmlformats.org/officeDocument/2006/relationships/presProps" Target="/ppt/presProps.xml" Id="R1a98dcba83dd4eed" /><Relationship Type="http://schemas.openxmlformats.org/officeDocument/2006/relationships/tableStyles" Target="/ppt/tableStyles.xml" Id="Rdc21ca7654bc4e74" /><Relationship Type="http://schemas.openxmlformats.org/officeDocument/2006/relationships/slide" Target="/ppt/slides/slide1.xml" Id="R1992336e336a482a" /><Relationship Type="http://schemas.openxmlformats.org/officeDocument/2006/relationships/slide" Target="/ppt/slides/slide2.xml" Id="Rf13dd4f3afca45ac" /><Relationship Type="http://schemas.openxmlformats.org/officeDocument/2006/relationships/slide" Target="/ppt/slides/slide3.xml" Id="R0cb2a948ed304c0c" /><Relationship Type="http://schemas.openxmlformats.org/officeDocument/2006/relationships/slide" Target="/ppt/slides/slide4.xml" Id="R0312f7d6609542ff" /><Relationship Type="http://schemas.openxmlformats.org/officeDocument/2006/relationships/slide" Target="/ppt/slides/slide5.xml" Id="R62e79a49d90d40b7" /><Relationship Type="http://schemas.openxmlformats.org/officeDocument/2006/relationships/slide" Target="/ppt/slides/slide6.xml" Id="R6a708cc72f1c48b5" /><Relationship Type="http://schemas.openxmlformats.org/officeDocument/2006/relationships/slide" Target="/ppt/slides/slide7.xml" Id="Redeb0cf26feb4f5d" /><Relationship Type="http://schemas.openxmlformats.org/officeDocument/2006/relationships/slide" Target="/ppt/slides/slide8.xml" Id="R540e83b80f55402f" /><Relationship Type="http://schemas.openxmlformats.org/officeDocument/2006/relationships/slide" Target="/ppt/slides/slide9.xml" Id="Ra4e7aa7386df4c57" /><Relationship Type="http://schemas.openxmlformats.org/officeDocument/2006/relationships/slide" Target="/ppt/slides/slide10.xml" Id="Ra069c6e34faa46df" /><Relationship Type="http://schemas.openxmlformats.org/officeDocument/2006/relationships/slide" Target="/ppt/slides/slide11.xml" Id="R672b76f433514480" /><Relationship Type="http://schemas.openxmlformats.org/officeDocument/2006/relationships/slide" Target="/ppt/slides/slide12.xml" Id="R4ab43568b0854437" /><Relationship Type="http://schemas.openxmlformats.org/officeDocument/2006/relationships/slide" Target="/ppt/slides/slide13.xml" Id="R820805942e8a491b" /><Relationship Type="http://schemas.openxmlformats.org/officeDocument/2006/relationships/slide" Target="/ppt/slides/slide14.xml" Id="Rf727c34df8ac44a1" /><Relationship Type="http://schemas.openxmlformats.org/officeDocument/2006/relationships/slide" Target="/ppt/slides/slide15.xml" Id="R0a6236176e494cf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9235765fa69479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答辩公开版">
  <a:themeElements>
    <a:clrScheme name="答辩公开版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Noto Sans CJK SC"/>
        <a:ea typeface="Noto Sans CJK SC"/>
        <a:cs typeface="Noto Sans CJK SC"/>
      </a:majorFont>
      <a:minorFont>
        <a:latin typeface="Noto Sans CJK SC"/>
        <a:ea typeface="Noto Sans CJK SC"/>
        <a:cs typeface="Noto Sans CJK SC"/>
      </a:minorFont>
    </a:fontScheme>
    <a:fmtScheme name="答辩公开版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eed0c85e5564d7d" /><Relationship Type="http://schemas.openxmlformats.org/officeDocument/2006/relationships/notesMaster" Target="/ppt/notesMasters/notesMaster1.xml" Id="R63edfd3a67eb46e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ca79ef27ba3404e" /><Relationship Type="http://schemas.openxmlformats.org/officeDocument/2006/relationships/notesMaster" Target="/ppt/notesMasters/notesMaster1.xml" Id="Ra6419d4ec520479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d4feb9804594f92" /><Relationship Type="http://schemas.openxmlformats.org/officeDocument/2006/relationships/notesMaster" Target="/ppt/notesMasters/notesMaster1.xml" Id="R2e72db2d3fa2407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3e470b05e0f4a6d" /><Relationship Type="http://schemas.openxmlformats.org/officeDocument/2006/relationships/notesMaster" Target="/ppt/notesMasters/notesMaster1.xml" Id="R8b848cf3d8fb49a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834a035f66c4fd7" /><Relationship Type="http://schemas.openxmlformats.org/officeDocument/2006/relationships/notesMaster" Target="/ppt/notesMasters/notesMaster1.xml" Id="R682d8fb833804d2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b16a2c20857408b" /><Relationship Type="http://schemas.openxmlformats.org/officeDocument/2006/relationships/notesMaster" Target="/ppt/notesMasters/notesMaster1.xml" Id="R650cdf311e6a427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5a0c239b1594498" /><Relationship Type="http://schemas.openxmlformats.org/officeDocument/2006/relationships/notesMaster" Target="/ppt/notesMasters/notesMaster1.xml" Id="Rbb657df7bc1c4a5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3da486371c342c6" /><Relationship Type="http://schemas.openxmlformats.org/officeDocument/2006/relationships/notesMaster" Target="/ppt/notesMasters/notesMaster1.xml" Id="Rdef70e461c614a3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7c43c9b8aec4bd3" /><Relationship Type="http://schemas.openxmlformats.org/officeDocument/2006/relationships/notesMaster" Target="/ppt/notesMasters/notesMaster1.xml" Id="Rcea999131238426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e96c2dc6d2c4d67" /><Relationship Type="http://schemas.openxmlformats.org/officeDocument/2006/relationships/notesMaster" Target="/ppt/notesMasters/notesMaster1.xml" Id="Rd3503ccfaaf440d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68f55c65a6a420e" /><Relationship Type="http://schemas.openxmlformats.org/officeDocument/2006/relationships/notesMaster" Target="/ppt/notesMasters/notesMaster1.xml" Id="R3d547290cb054b5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788038fe81c426c" /><Relationship Type="http://schemas.openxmlformats.org/officeDocument/2006/relationships/notesMaster" Target="/ppt/notesMasters/notesMaster1.xml" Id="Re215152fd5ea4ce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b3773a332364a64" /><Relationship Type="http://schemas.openxmlformats.org/officeDocument/2006/relationships/notesMaster" Target="/ppt/notesMasters/notesMaster1.xml" Id="Rd1413ece1925403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54cafa251ab482f" /><Relationship Type="http://schemas.openxmlformats.org/officeDocument/2006/relationships/notesMaster" Target="/ppt/notesMasters/notesMaster1.xml" Id="R519bc151d85b46e5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f74010f6c5d4551" /><Relationship Type="http://schemas.openxmlformats.org/officeDocument/2006/relationships/notesMaster" Target="/ppt/notesMasters/notesMaster1.xml" Id="R1c98a7ca3f76463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fe18eb7d4140e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7bc550a8e4b49ef" /><Relationship Type="http://schemas.openxmlformats.org/officeDocument/2006/relationships/slideLayout" Target="/ppt/slideLayouts/slideLayout1.xml" Id="Rc30a2ac298dd4ab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30a2ac298dd4ab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Noto Sans CJK SC"/>
          <a:ea typeface="Noto Sans CJK SC"/>
          <a:cs typeface="Noto Sans CJK SC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Noto Sans CJK SC"/>
          <a:ea typeface="Noto Sans CJK SC"/>
          <a:cs typeface="Noto Sans CJK SC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Noto Sans CJK SC"/>
          <a:ea typeface="Noto Sans CJK SC"/>
          <a:cs typeface="Noto Sans CJK SC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Noto Sans CJK SC"/>
          <a:ea typeface="Noto Sans CJK SC"/>
          <a:cs typeface="Noto Sans CJK SC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9pPr>
    </p:otherStyle>
  </p:txStyles>
</p:sldMaster>
</file>

<file path=ppt/slideMasters/theme/theme2.xml><?xml version="1.0" encoding="utf-8"?>
<a:theme xmlns:a="http://schemas.openxmlformats.org/drawingml/2006/main" name="答辩公开版">
  <a:themeElements>
    <a:clrScheme name="答辩公开版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Noto Sans CJK SC"/>
        <a:ea typeface="Noto Sans CJK SC"/>
        <a:cs typeface="Noto Sans CJK SC"/>
      </a:majorFont>
      <a:minorFont>
        <a:latin typeface="Noto Sans CJK SC"/>
        <a:ea typeface="Noto Sans CJK SC"/>
        <a:cs typeface="Noto Sans CJK SC"/>
      </a:minorFont>
    </a:fontScheme>
    <a:fmtScheme name="答辩公开版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bcbdb0a9434466" /><Relationship Type="http://schemas.openxmlformats.org/officeDocument/2006/relationships/image" Target="/ppt/media/image.png" Id="R935881cc460c4721" /><Relationship Type="http://schemas.openxmlformats.org/officeDocument/2006/relationships/image" Target="/ppt/media/image2.png" Id="R8627b0c438d34339" /><Relationship Type="http://schemas.openxmlformats.org/officeDocument/2006/relationships/notesSlide" Target="/ppt/notesSlides/notesSlide1.xml" Id="R40e55f31abc44c5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a07506f5f04964" /><Relationship Type="http://schemas.openxmlformats.org/officeDocument/2006/relationships/image" Target="/ppt/media/image3.png" Id="R181ede047895423a" /><Relationship Type="http://schemas.openxmlformats.org/officeDocument/2006/relationships/image" Target="/ppt/media/image4.png" Id="Ra5949be03f1c4627" /><Relationship Type="http://schemas.openxmlformats.org/officeDocument/2006/relationships/notesSlide" Target="/ppt/notesSlides/notesSlide2.xml" Id="R638b6f40471b4fd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5314672e8e4096" /><Relationship Type="http://schemas.openxmlformats.org/officeDocument/2006/relationships/image" Target="/ppt/media/image5.png" Id="R9220c64142264900" /><Relationship Type="http://schemas.openxmlformats.org/officeDocument/2006/relationships/image" Target="/ppt/media/image6.png" Id="Rca6ee9c0561d41fa" /><Relationship Type="http://schemas.openxmlformats.org/officeDocument/2006/relationships/notesSlide" Target="/ppt/notesSlides/notesSlide3.xml" Id="Rf1810dcde1a5485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ddc42851d94e05" /><Relationship Type="http://schemas.openxmlformats.org/officeDocument/2006/relationships/image" Target="/ppt/media/image7.png" Id="R3a568f87e05e43ac" /><Relationship Type="http://schemas.openxmlformats.org/officeDocument/2006/relationships/image" Target="/ppt/media/image8.png" Id="R3ff9df4f90834e75" /><Relationship Type="http://schemas.openxmlformats.org/officeDocument/2006/relationships/notesSlide" Target="/ppt/notesSlides/notesSlide4.xml" Id="R2a4e1cbfdc644d9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52229eff144f16" /><Relationship Type="http://schemas.openxmlformats.org/officeDocument/2006/relationships/image" Target="/ppt/media/image9.png" Id="R0874d8ebd0c34ce6" /><Relationship Type="http://schemas.openxmlformats.org/officeDocument/2006/relationships/image" Target="/ppt/media/image10.png" Id="R8d5f2c697b144a05" /><Relationship Type="http://schemas.openxmlformats.org/officeDocument/2006/relationships/notesSlide" Target="/ppt/notesSlides/notesSlide5.xml" Id="R792b7161aa94499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46a84354e64d6f" /><Relationship Type="http://schemas.openxmlformats.org/officeDocument/2006/relationships/image" Target="/ppt/media/image11.png" Id="R1697716f24ae4994" /><Relationship Type="http://schemas.openxmlformats.org/officeDocument/2006/relationships/image" Target="/ppt/media/image12.png" Id="Rd230cc75eead40d4" /><Relationship Type="http://schemas.openxmlformats.org/officeDocument/2006/relationships/notesSlide" Target="/ppt/notesSlides/notesSlide6.xml" Id="R24b8ab8f51a640d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61b3ab8ea6433d" /><Relationship Type="http://schemas.openxmlformats.org/officeDocument/2006/relationships/image" Target="/ppt/media/image13.png" Id="Raa4ef49bc68c4fbf" /><Relationship Type="http://schemas.openxmlformats.org/officeDocument/2006/relationships/image" Target="/ppt/media/image14.png" Id="R40542f936ef8437d" /><Relationship Type="http://schemas.openxmlformats.org/officeDocument/2006/relationships/image" Target="/ppt/media/image15.png" Id="R528d6416269d40e6" /><Relationship Type="http://schemas.openxmlformats.org/officeDocument/2006/relationships/notesSlide" Target="/ppt/notesSlides/notesSlide7.xml" Id="R82cc60ff6c28446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98b18b14ad419b" /><Relationship Type="http://schemas.openxmlformats.org/officeDocument/2006/relationships/image" Target="/ppt/media/image16.png" Id="Ra1f064e265fd4c35" /><Relationship Type="http://schemas.openxmlformats.org/officeDocument/2006/relationships/image" Target="/ppt/media/image17.png" Id="Rb376fd4c7a524433" /><Relationship Type="http://schemas.openxmlformats.org/officeDocument/2006/relationships/image" Target="/ppt/media/image18.png" Id="Rbc71e965199a489a" /><Relationship Type="http://schemas.openxmlformats.org/officeDocument/2006/relationships/notesSlide" Target="/ppt/notesSlides/notesSlide8.xml" Id="R3cec8f47fdfc422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eedfafc8b245f2" /><Relationship Type="http://schemas.openxmlformats.org/officeDocument/2006/relationships/image" Target="/ppt/media/image19.png" Id="R3a57d56f5490492d" /><Relationship Type="http://schemas.openxmlformats.org/officeDocument/2006/relationships/image" Target="/ppt/media/image20.png" Id="R3fe875e8237043ef" /><Relationship Type="http://schemas.openxmlformats.org/officeDocument/2006/relationships/notesSlide" Target="/ppt/notesSlides/notesSlide9.xml" Id="R1099c1815a694d2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e46e65b646492f" /><Relationship Type="http://schemas.openxmlformats.org/officeDocument/2006/relationships/image" Target="/ppt/media/image21.png" Id="R6ce43ae9e3404568" /><Relationship Type="http://schemas.openxmlformats.org/officeDocument/2006/relationships/image" Target="/ppt/media/image22.png" Id="Rce021733d2dd462d" /><Relationship Type="http://schemas.openxmlformats.org/officeDocument/2006/relationships/notesSlide" Target="/ppt/notesSlides/notesSlide10.xml" Id="R7fc79eed8a11401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c5b805d8b84577" /><Relationship Type="http://schemas.openxmlformats.org/officeDocument/2006/relationships/image" Target="/ppt/media/image23.png" Id="R68911db81173450b" /><Relationship Type="http://schemas.openxmlformats.org/officeDocument/2006/relationships/image" Target="/ppt/media/image24.png" Id="R2856ab0f870a4f29" /><Relationship Type="http://schemas.openxmlformats.org/officeDocument/2006/relationships/notesSlide" Target="/ppt/notesSlides/notesSlide11.xml" Id="Rac7c7b5c005442e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1b3072919b49d4" /><Relationship Type="http://schemas.openxmlformats.org/officeDocument/2006/relationships/image" Target="/ppt/media/image25.png" Id="R0bb2b7b8d08e4e0f" /><Relationship Type="http://schemas.openxmlformats.org/officeDocument/2006/relationships/image" Target="/ppt/media/image26.png" Id="Ra78fc3e904fb424e" /><Relationship Type="http://schemas.openxmlformats.org/officeDocument/2006/relationships/notesSlide" Target="/ppt/notesSlides/notesSlide12.xml" Id="R0fb4521314b844c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7d7df4a41f4899" /><Relationship Type="http://schemas.openxmlformats.org/officeDocument/2006/relationships/image" Target="/ppt/media/image27.png" Id="Rdf7cf6f003f942bb" /><Relationship Type="http://schemas.openxmlformats.org/officeDocument/2006/relationships/image" Target="/ppt/media/image28.png" Id="Rffeaf0770f3d4e9f" /><Relationship Type="http://schemas.openxmlformats.org/officeDocument/2006/relationships/image" Target="/ppt/media/image29.png" Id="R69ee4f6f90a54a83" /><Relationship Type="http://schemas.openxmlformats.org/officeDocument/2006/relationships/notesSlide" Target="/ppt/notesSlides/notesSlide13.xml" Id="R0a41bce4de41474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dc5d43681a452a" /><Relationship Type="http://schemas.openxmlformats.org/officeDocument/2006/relationships/image" Target="/ppt/media/image30.png" Id="Rd7a337dcbb3d4afd" /><Relationship Type="http://schemas.openxmlformats.org/officeDocument/2006/relationships/image" Target="/ppt/media/image31.png" Id="R9a836c15b6dd432b" /><Relationship Type="http://schemas.openxmlformats.org/officeDocument/2006/relationships/notesSlide" Target="/ppt/notesSlides/notesSlide14.xml" Id="Ra4767853604f4b9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0863827a5f41a6" /><Relationship Type="http://schemas.openxmlformats.org/officeDocument/2006/relationships/image" Target="/ppt/media/image32.png" Id="R6c5ae8a0ec204af9" /><Relationship Type="http://schemas.openxmlformats.org/officeDocument/2006/relationships/image" Target="/ppt/media/image33.png" Id="R41c52a6f56d14a37" /><Relationship Type="http://schemas.openxmlformats.org/officeDocument/2006/relationships/image" Target="/ppt/media/image34.png" Id="Ra3533d66fced4817" /><Relationship Type="http://schemas.openxmlformats.org/officeDocument/2006/relationships/notesSlide" Target="/ppt/notesSlides/notesSlide15.xml" Id="Re08d268133874ba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934AE3-821B-41F0-AF0C-D17C3B967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0050"/>
            <a:ext cx="361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00" b="1" i="0">
                <a:solidFill>
                  <a:srgbClr val="2A829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 i="0">
                <a:solidFill>
                  <a:srgbClr val="2A8298"/>
                </a:solidFill>
                <a:latin typeface="Noto Sans CJK SC"/>
                <a:ea typeface="Noto Sans CJK SC"/>
                <a:cs typeface="Noto Sans CJK SC"/>
              </a:rPr>
              <a:t>C1  ·  FlashKDA on SM100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D80EBD-3586-4418-A322-03D1D0553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81000"/>
            <a:ext cx="1066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12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奶龙必胜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179040-5C30-4505-8CDB-1334A5C1A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52425"/>
            <a:ext cx="0" cy="2952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A8298"/>
            </a:solidFill>
            <a:prstDash val="solid"/>
          </a:ln>
        </p:spPr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5881cc460c4721"/>
          <a:stretch xmlns:a="http://schemas.openxmlformats.org/drawingml/2006/main"/>
        </p:blipFill>
        <p:spPr>
          <a:xfrm xmlns:a="http://schemas.openxmlformats.org/drawingml/2006/main">
            <a:off x="9829800" y="314325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36301B-AB1E-4A47-96C5-DF5077458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352425"/>
            <a:ext cx="0" cy="2952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A8298"/>
            </a:solidFill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27b0c438d34339"/>
          <a:stretch xmlns:a="http://schemas.openxmlformats.org/drawingml/2006/main"/>
        </p:blipFill>
        <p:spPr>
          <a:xfrm xmlns:a="http://schemas.openxmlformats.org/drawingml/2006/main">
            <a:off x="10439400" y="373788"/>
            <a:ext cx="1104900" cy="252549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7E683C-2FD7-4FF7-82E1-A445C5C42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38200"/>
            <a:ext cx="10782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A8298"/>
            </a:solidFill>
            <a:prstDash val="solid"/>
          </a:ln>
        </p:spPr>
      </p:sp>
      <p:sp>
        <p:nvSpPr>
          <p:cNvPr id="8" name="cover-title">
            <a:extLst xmlns:a="http://schemas.openxmlformats.org/drawingml/2006/main">
              <a:ext uri="{FF2B5EF4-FFF2-40B4-BE49-F238E27FC236}">
                <a16:creationId xmlns:a16="http://schemas.microsoft.com/office/drawing/2014/main" id="{F64FB875-7021-40BA-A9C0-F5DE188EF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24050"/>
            <a:ext cx="10096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8000"/>
              </a:lnSpc>
              <a:buNone/>
              <a:defRPr sz="435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435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FlashKDA 迁移到 SM100</a:t>
            </a:r>
          </a:p>
          <a:p xmlns:a="http://schemas.openxmlformats.org/drawingml/2006/main">
            <a:pPr algn="ctr">
              <a:lnSpc>
                <a:spcPct val="98000"/>
              </a:lnSpc>
              <a:buNone/>
              <a:defRPr sz="435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435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是否值得？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E1E6B6-A088-44FA-81AA-0114C544A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638550"/>
            <a:ext cx="819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80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rPr>
              <a:t>B300 上的复现、因果分析与双分支探索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3D6322-A74D-49A8-8063-906EF948C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334000"/>
            <a:ext cx="1009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65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奶龙必胜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A9EE33-ACE3-48D4-9837-10AB8CA0E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791200"/>
            <a:ext cx="1009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125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rPr>
              <a:t>复现与测量  ·  分析与知识写回  ·  挑战与条件部署</a:t>
            </a:r>
          </a:p>
        </p:txBody>
      </p:sp>
    </p:spTree>
    <p:extLst>
      <p:ext uri="{BB962C8B-B14F-4D97-AF65-F5344CB8AC3E}">
        <p14:creationId xmlns:p14="http://schemas.microsoft.com/office/powerpoint/2010/main" val="176440400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53B1A20-D4E3-4ED2-AF9D-7A1947B85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125" b="1" i="0">
                <a:solidFill>
                  <a:srgbClr val="D2AA5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 i="0">
                <a:solidFill>
                  <a:srgbClr val="D2AA52"/>
                </a:solidFill>
                <a:latin typeface="Noto Sans CJK SC"/>
                <a:ea typeface="Noto Sans CJK SC"/>
                <a:cs typeface="Noto Sans CJK SC"/>
              </a:rPr>
              <a:t>02  主线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D8DA4C-68E4-4F9A-9EAE-720D6A833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315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C1 研究主线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3621FC-7CAB-41EA-8C63-0E2D5CC15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1920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A829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F723B3-0F77-4D51-9E56-2565A0941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6825" y="276225"/>
            <a:ext cx="781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97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奶龙必胜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16ECD0-7E6C-457D-818F-249E12630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1225" y="247650"/>
            <a:ext cx="0" cy="2952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A8298"/>
            </a:solidFill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1ede047895423a"/>
          <a:stretch xmlns:a="http://schemas.openxmlformats.org/drawingml/2006/main"/>
        </p:blipFill>
        <p:spPr>
          <a:xfrm xmlns:a="http://schemas.openxmlformats.org/drawingml/2006/main">
            <a:off x="9934575" y="20955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0E4C15-048B-4BAA-B797-A036CDC51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247650"/>
            <a:ext cx="0" cy="2952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A8298"/>
            </a:solidFill>
            <a:prstDash val="solid"/>
          </a:ln>
        </p:spPr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949be03f1c4627"/>
          <a:stretch xmlns:a="http://schemas.openxmlformats.org/drawingml/2006/main"/>
        </p:blipFill>
        <p:spPr>
          <a:xfrm xmlns:a="http://schemas.openxmlformats.org/drawingml/2006/main">
            <a:off x="10544175" y="269013"/>
            <a:ext cx="1104900" cy="252549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C71D5C-B64E-4713-AD3E-D39EC5364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050" b="0" i="0">
                <a:solidFill>
                  <a:srgbClr val="AAB1B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 i="0">
                <a:solidFill>
                  <a:srgbClr val="AAB1B8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C3B89D-091A-41A6-9CDB-B71B9B53E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04950"/>
            <a:ext cx="10382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b="1">
                <a:solidFill>
                  <a:srgbClr val="66707A"/>
                </a:solidFill>
              </a:rPr>
              <a:t>研究问题  </a:t>
            </a:r>
            <a:r>
              <a:rPr b="1">
                <a:solidFill>
                  <a:srgbClr val="151A21"/>
                </a:solidFill>
              </a:rPr>
              <a:t>在同一套 FlashKDA 接口与数值约束下，SM100 原生路径能否产生足以覆盖迁移成本的实际收益？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D84EA0-6A4F-4530-9A10-A7A46E9B1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7650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00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AE6E23-8C58-473F-B826-2D717B38C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447925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7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复现与测量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86174D-E46F-4266-B854-69E1DC51B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457450"/>
            <a:ext cx="571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rPr>
              <a:t>锁定执行身份、正确性与公开接口计时边界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F5AFE4-319E-4829-8A37-D42FF80DD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4574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350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rPr>
              <a:t>指令身份、利用率与计时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E2D925B-BED3-4F2F-A8F3-C92C45E68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057525"/>
            <a:ext cx="990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3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F6FC48-4155-4C45-A4E1-A4CDC6A0A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242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00" b="1" i="0">
                <a:solidFill>
                  <a:srgbClr val="D2AA5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 i="0">
                <a:solidFill>
                  <a:srgbClr val="D2AA52"/>
                </a:solidFill>
                <a:latin typeface="Noto Sans CJK SC"/>
                <a:ea typeface="Noto Sans CJK SC"/>
                <a:cs typeface="Noto Sans CJK SC"/>
              </a:rPr>
              <a:t>02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7EB283C-257F-4F08-9AAA-9701A5A55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495675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7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分析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AA8F343-B02A-40DC-A8E2-52EB447EA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505200"/>
            <a:ext cx="571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rPr>
              <a:t>用双分支闭环生成可比证据，再把六问收敛为规律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7641C0F-E903-4F7C-A745-6B0AC2F80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5052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350" b="1" i="0">
                <a:solidFill>
                  <a:srgbClr val="D2AA5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 i="0">
                <a:solidFill>
                  <a:srgbClr val="D2AA52"/>
                </a:solidFill>
                <a:latin typeface="Noto Sans CJK SC"/>
                <a:ea typeface="Noto Sans CJK SC"/>
                <a:cs typeface="Noto Sans CJK SC"/>
              </a:rPr>
              <a:t>双分支 agent 与双层 IR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CC7FB2A-9B55-462F-BB1D-236BDC1DC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05275"/>
            <a:ext cx="990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3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C766057-D52D-4140-A4DB-5DC1E5AF4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00" b="1" i="0">
                <a:solidFill>
                  <a:srgbClr val="C66A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 i="0">
                <a:solidFill>
                  <a:srgbClr val="C66A3D"/>
                </a:solidFill>
                <a:latin typeface="Noto Sans CJK SC"/>
                <a:ea typeface="Noto Sans CJK SC"/>
                <a:cs typeface="Noto Sans CJK SC"/>
              </a:rPr>
              <a:t>03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9E1A5E4-CBD8-4037-BA8E-93DA141C1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543425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7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挑战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BCC7F89-D982-443B-ABAF-31C8B0A2B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552950"/>
            <a:ext cx="571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rPr>
              <a:t>沿四条路径推进候选，并用数据与知识完成晋级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500BBF6-42BF-4ACC-813B-3B7A1B50A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5529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350" b="1" i="0">
                <a:solidFill>
                  <a:srgbClr val="C66A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 i="0">
                <a:solidFill>
                  <a:srgbClr val="C66A3D"/>
                </a:solidFill>
                <a:latin typeface="Noto Sans CJK SC"/>
                <a:ea typeface="Noto Sans CJK SC"/>
                <a:cs typeface="Noto Sans CJK SC"/>
              </a:rPr>
              <a:t>替换、布局与全栈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984B3D7-132C-425C-97F5-BD804DDDE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53025"/>
            <a:ext cx="990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3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0629454-5448-47B9-B5BB-F2D7EE289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657850"/>
            <a:ext cx="9525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b="1">
                <a:solidFill>
                  <a:srgbClr val="2F7A68"/>
                </a:solidFill>
              </a:rPr>
              <a:t>回答  </a:t>
            </a:r>
            <a:r>
              <a:rPr>
                <a:solidFill>
                  <a:srgbClr val="151A21"/>
                </a:solidFill>
              </a:rPr>
              <a:t>在已测 B300 工作负载上，SM100 值得以受条件保护的后端方式加入；有效迁移单位是全栈协同，而不是单独替换矩阵乘加指令。</a:t>
            </a:r>
          </a:p>
        </p:txBody>
      </p:sp>
    </p:spTree>
    <p:extLst>
      <p:ext uri="{BB962C8B-B14F-4D97-AF65-F5344CB8AC3E}">
        <p14:creationId xmlns:p14="http://schemas.microsoft.com/office/powerpoint/2010/main" val="193050156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B36CC4A-2A63-4819-A7CB-B2E83A727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125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rPr>
              <a:t>03  背景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976DC3-5D9C-4D98-9D3F-63DFA1396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315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KDA 递推结构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428000-9EBD-4897-AD0E-3798A7FAA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1920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A829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9128B5-4C7E-41B0-AE6A-356E0EA54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6825" y="276225"/>
            <a:ext cx="781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97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奶龙必胜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103A4D-9EF4-44EC-9628-153F6FB9C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1225" y="247650"/>
            <a:ext cx="0" cy="2952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A8298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20c64142264900"/>
          <a:stretch xmlns:a="http://schemas.openxmlformats.org/drawingml/2006/main"/>
        </p:blipFill>
        <p:spPr>
          <a:xfrm xmlns:a="http://schemas.openxmlformats.org/drawingml/2006/main">
            <a:off x="9934575" y="20955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12816D-AB96-48AD-A629-ADB02E9C1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247650"/>
            <a:ext cx="0" cy="2952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A8298"/>
            </a:solidFill>
            <a:prstDash val="solid"/>
          </a:ln>
        </p:spPr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6ee9c0561d41fa"/>
          <a:stretch xmlns:a="http://schemas.openxmlformats.org/drawingml/2006/main"/>
        </p:blipFill>
        <p:spPr>
          <a:xfrm xmlns:a="http://schemas.openxmlformats.org/drawingml/2006/main">
            <a:off x="10544175" y="269013"/>
            <a:ext cx="1104900" cy="252549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36E0F7-EE7A-4B52-AA77-85CB85FB5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050" b="0" i="0">
                <a:solidFill>
                  <a:srgbClr val="AAB1B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 i="0">
                <a:solidFill>
                  <a:srgbClr val="AAB1B8"/>
                </a:solidFill>
                <a:latin typeface="Noto Sans CJK SC"/>
                <a:ea typeface="Noto Sans CJK SC"/>
                <a:cs typeface="Noto Sans CJK SC"/>
              </a:rPr>
              <a:t>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D6DBD4-33C7-4DE6-9815-78BA31147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24000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125" b="1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rPr>
              <a:t>一个 chunk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D2EE8A-A593-40BC-9CF0-D1D17FCB5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81175"/>
            <a:ext cx="114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6707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2B68B8-DE0C-470C-896D-7EEF117F5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76450"/>
            <a:ext cx="1428750" cy="70485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E9EFF6"/>
          </a:solidFill>
          <a:ln xmlns:a="http://schemas.openxmlformats.org/drawingml/2006/main" w="9525">
            <a:solidFill>
              <a:srgbClr val="2C5F9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BB9582-9613-4888-ADB9-DC07743C8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76450"/>
            <a:ext cx="12001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725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rPr>
              <a:t>state t−1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A17DB6-21F7-4E3F-B2D0-E1AE2512D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076450"/>
            <a:ext cx="1619250" cy="70485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3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3A298E-D42F-475B-8B86-BD5064352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2076450"/>
            <a:ext cx="1333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72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K1  prepare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071F68-4EAF-4CDA-8B59-013CD7AD5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943100"/>
            <a:ext cx="2381250" cy="971550"/>
          </a:xfrm>
          <a:prstGeom xmlns:a="http://schemas.openxmlformats.org/drawingml/2006/main" prst="roundRect">
            <a:avLst>
              <a:gd name="adj" fmla="val 3922"/>
            </a:avLst>
          </a:prstGeom>
          <a:solidFill xmlns:a="http://schemas.openxmlformats.org/drawingml/2006/main">
            <a:srgbClr val="F5EAE3"/>
          </a:solidFill>
          <a:ln xmlns:a="http://schemas.openxmlformats.org/drawingml/2006/main" w="9525">
            <a:solidFill>
              <a:srgbClr val="C66A3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22F2BA-C54A-42B4-939C-CFA888D05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000250"/>
            <a:ext cx="2000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1800" b="1" i="0">
                <a:solidFill>
                  <a:srgbClr val="C66A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 i="0">
                <a:solidFill>
                  <a:srgbClr val="C66A3D"/>
                </a:solidFill>
                <a:latin typeface="Noto Sans CJK SC"/>
                <a:ea typeface="Noto Sans CJK SC"/>
                <a:cs typeface="Noto Sans CJK SC"/>
              </a:rPr>
              <a:t>K2</a:t>
            </a:r>
          </a:p>
          <a:p xmlns:a="http://schemas.openxmlformats.org/drawingml/2006/main">
            <a:pPr algn="ctr">
              <a:lnSpc>
                <a:spcPct val="96000"/>
              </a:lnSpc>
              <a:buNone/>
              <a:defRPr sz="1800" b="1" i="0">
                <a:solidFill>
                  <a:srgbClr val="C66A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 i="0">
                <a:solidFill>
                  <a:srgbClr val="C66A3D"/>
                </a:solidFill>
                <a:latin typeface="Noto Sans CJK SC"/>
                <a:ea typeface="Noto Sans CJK SC"/>
                <a:cs typeface="Noto Sans CJK SC"/>
              </a:rPr>
              <a:t>16-step recurrence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616FCED-F293-4600-B808-1D496330D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076450"/>
            <a:ext cx="1333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725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rPr>
              <a:t>state 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1464D54-A010-4710-B8B4-66A073905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4288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66707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468831F-A25B-4F52-BAF0-30545C624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3907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70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D05F399-6B2D-447E-B8D7-9B6529738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4288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66707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5503AB5-D1AF-40AA-8840-9BDBAFC21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3907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70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7B18ED4-D8A6-4616-AF05-5B0EE9EF0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428875"/>
            <a:ext cx="114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66707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856E94F-6208-44B8-89F7-B592AA5D7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3907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70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AF435F2-D8BE-459E-B5FA-98F8B0BC4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428875"/>
            <a:ext cx="876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66707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4B5FA02-07BF-406D-8239-ACCC5EF4E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098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05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rPr>
              <a:t>next chunk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0C65DB2-E7B8-4BA5-A2C0-6C056F928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29000"/>
            <a:ext cx="107156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3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8CB8ABE-D688-4260-97D4-930B411DE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671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1" i="0">
                <a:solidFill>
                  <a:srgbClr val="C66A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C66A3D"/>
                </a:solidFill>
                <a:latin typeface="Noto Sans CJK SC"/>
                <a:ea typeface="Noto Sans CJK SC"/>
                <a:cs typeface="Noto Sans CJK SC"/>
              </a:rPr>
              <a:t>CHUNK = 16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7308F8E-758E-4CB5-BFF5-16A469CFD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848100"/>
            <a:ext cx="828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rPr>
              <a:t>数值范围、16×16 求解与 SM80 MMA 形状共同形成的设计点。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913171A-B540-4C4D-A353-6BA3C3C8D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362450"/>
            <a:ext cx="8286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DF2F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F14CF4F-354D-4A3A-8BD7-F8B25C4B1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101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rPr>
              <a:t>递推正确性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B87674A-7217-4475-ABF1-5926BEEC2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591050"/>
            <a:ext cx="828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rPr>
              <a:t>一次调用要同时验证 output 与 final state；连续调用还要检查 state handoff。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C0186CE-BE5E-48BE-AF24-84F933DCE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105400"/>
            <a:ext cx="8286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DF2F4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8C6C692-7072-4B4E-BA14-A85F2564C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530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1" i="0">
                <a:solidFill>
                  <a:srgbClr val="2F7A6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2F7A68"/>
                </a:solidFill>
                <a:latin typeface="Noto Sans CJK SC"/>
                <a:ea typeface="Noto Sans CJK SC"/>
                <a:cs typeface="Noto Sans CJK SC"/>
              </a:rPr>
              <a:t>可利用并行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145640A-A2BE-4063-939D-5D2850168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334000"/>
            <a:ext cx="828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rPr>
              <a:t>chunk 内 K2 串行，但 head、value slice、sequence 与角色仍可并行。</a:t>
            </a:r>
          </a:p>
        </p:txBody>
      </p:sp>
    </p:spTree>
    <p:extLst>
      <p:ext uri="{BB962C8B-B14F-4D97-AF65-F5344CB8AC3E}">
        <p14:creationId xmlns:p14="http://schemas.microsoft.com/office/powerpoint/2010/main" val="136909096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CB36666-0D0E-422D-9982-65007621C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125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rPr>
              <a:t>04  复现与测量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A3F9EC-4455-48F3-B2C9-AB647C6DA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315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官方路径仍使用 HMMA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521483-9D1A-4AAE-BD24-DDD0396DC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1920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A829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1FFACD-4454-4D7F-AA67-AE55F38ED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6825" y="276225"/>
            <a:ext cx="781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97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奶龙必胜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E03C61-AF08-4AD8-AE96-A3CD63B35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1225" y="247650"/>
            <a:ext cx="0" cy="2952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A8298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568f87e05e43ac"/>
          <a:stretch xmlns:a="http://schemas.openxmlformats.org/drawingml/2006/main"/>
        </p:blipFill>
        <p:spPr>
          <a:xfrm xmlns:a="http://schemas.openxmlformats.org/drawingml/2006/main">
            <a:off x="9934575" y="20955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4D4E9B-57FB-4EC9-9D41-545D432E2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247650"/>
            <a:ext cx="0" cy="2952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A8298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f9df4f90834e75"/>
          <a:stretch xmlns:a="http://schemas.openxmlformats.org/drawingml/2006/main"/>
        </p:blipFill>
        <p:spPr>
          <a:xfrm xmlns:a="http://schemas.openxmlformats.org/drawingml/2006/main">
            <a:off x="10544175" y="269013"/>
            <a:ext cx="1104900" cy="252549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897B0C-A7ED-45E7-ADA2-438BEB49E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050" b="0" i="0">
                <a:solidFill>
                  <a:srgbClr val="AAB1B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 i="0">
                <a:solidFill>
                  <a:srgbClr val="AAB1B8"/>
                </a:solidFill>
                <a:latin typeface="Noto Sans CJK SC"/>
                <a:ea typeface="Noto Sans CJK SC"/>
                <a:cs typeface="Noto Sans CJK SC"/>
              </a:rPr>
              <a:t>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3F9D58-09CA-4D2A-87BA-416AD2145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24000"/>
            <a:ext cx="104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125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rPr>
              <a:t>执行身份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E85E70-574B-42FF-9BFB-C8D70B57D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81175"/>
            <a:ext cx="1047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C5F9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AD6F57-A735-4A0B-BB59-E494025FD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43125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FlashKDA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7B1955-64E7-46DC-A741-F510F99D9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955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125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rPr>
              <a:t>版本已固定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F7DED3-6EDC-4296-9633-C0B67F0C0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343150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9E3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3302C2-BF21-40E4-9084-019459D9C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3050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E3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E0C826-6C9C-4B4C-A9D9-A7016B357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143125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CUTLASS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A0956B-DDD9-4DD3-9E2B-BA5CDBB52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4955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125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rPr>
              <a:t>版本已固定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41CA029-97F0-4510-946E-36BADC190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2343150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9E3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F71CA4D-21D0-411B-A37C-BB430EC1F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3050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E3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FCBADE8-FA7A-4A8B-B4FC-6FC7FDF32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143125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目标架构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B0A1802-4523-4BC8-B15D-D3317EC40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4955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125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rPr>
              <a:t>sm_103a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38310A6-32D8-4524-A9F4-5DF4593A8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2343150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9E3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ACE3569-5C80-44AD-AD56-4E83E01BC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3050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E3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5B733D9-292A-4423-B470-8DB1EFE24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43125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反汇编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11CA079-5139-443F-BDCC-644ABC541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4955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125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rPr>
              <a:t>实际加载 .so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41830FC-6802-44ED-BA93-7941C0C43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19250"/>
            <a:ext cx="0" cy="39528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3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04B6907-6E24-445E-9047-81BF3E7A7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762125"/>
            <a:ext cx="2571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4350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4350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rPr>
              <a:t>3,640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AECDD22-B8B1-40DA-AA9E-ECF1F5FE4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55270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75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rPr>
              <a:t>条 HMMA 矩阵乘加指令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B79ED8A-8291-4FA8-A614-FBCF804F1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333750"/>
            <a:ext cx="257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4200" b="1" i="0">
                <a:solidFill>
                  <a:srgbClr val="C66A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4200" b="1" i="0">
                <a:solidFill>
                  <a:srgbClr val="C66A3D"/>
                </a:solidFill>
                <a:latin typeface="Noto Sans CJK SC"/>
                <a:ea typeface="Noto Sans CJK SC"/>
                <a:cs typeface="Noto Sans CJK SC"/>
              </a:rPr>
              <a:t>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2A2B167-9CCD-44F5-88A8-353B98317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038600"/>
            <a:ext cx="3524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rPr>
              <a:t>SM100 原生 tcgen05、UTCMMA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9E876B9-BFF2-405B-A0B7-1DEA819D7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953000"/>
            <a:ext cx="295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rPr>
              <a:t>源码命名不是证据；实际加载二进制的指令身份才是。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A40DFAA-4998-49F2-821E-298B6C802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95650"/>
            <a:ext cx="6667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3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706EC0E-535D-46E1-8580-B9D12970F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3855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同一复现同时记录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52FFFA9-81D7-4405-961A-DF2CC2F11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3385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050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rPr>
              <a:t>01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B634B9A-AC1D-4220-B56E-7D017D949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11480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rPr>
              <a:t>实际加载模块路径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73201CD-1D8E-4046-B750-0D94587FB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050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rPr>
              <a:t>02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853D0AC-673B-4E14-89C7-14E5F98EF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rPr>
              <a:t>源码与二进制 SHA-256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797A468-8160-4A7E-958E-B0851FD77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5775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050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rPr>
              <a:t>03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C680585-EED2-4138-BC6D-427431EC8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83870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rPr>
              <a:t>Python 导入来源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B610EB3-4A53-4EA0-BBEB-F777759EE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1970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050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rPr>
              <a:t>04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FEEEE2E-9AF2-4BC1-9616-D8ED615C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520065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rPr>
              <a:t>CUDA 头文件版本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F2737D2-0D26-410D-8B02-0CCC43167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8165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050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rPr>
              <a:t>05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0CF8A6D-B759-4A86-9838-AFBD44F6F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556260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rPr>
              <a:t>实际执行路径</a:t>
            </a:r>
          </a:p>
        </p:txBody>
      </p:sp>
    </p:spTree>
    <p:extLst>
      <p:ext uri="{BB962C8B-B14F-4D97-AF65-F5344CB8AC3E}">
        <p14:creationId xmlns:p14="http://schemas.microsoft.com/office/powerpoint/2010/main" val="95644191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5F63BC7-12EE-4F8E-A655-E6AAD0FB1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125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rPr>
              <a:t>05  复现与测量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13B9F2-5457-4C6D-9BA4-961BAE0B8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315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计时与正确性边界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111574-662D-4FD4-9A4C-A16BCD24A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1920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A829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96835C-6B20-44DD-9326-0EA595A81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6825" y="276225"/>
            <a:ext cx="781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97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奶龙必胜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91619A-31E3-4FEE-BE87-F52DDF80B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1225" y="247650"/>
            <a:ext cx="0" cy="2952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A8298"/>
            </a:solidFill>
            <a:prstDash val="solid"/>
          </a:ln>
        </p:spPr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74d8ebd0c34ce6"/>
          <a:stretch xmlns:a="http://schemas.openxmlformats.org/drawingml/2006/main"/>
        </p:blipFill>
        <p:spPr>
          <a:xfrm xmlns:a="http://schemas.openxmlformats.org/drawingml/2006/main">
            <a:off x="9934575" y="20955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7C0A35-EA17-495F-AC8B-9D5850F83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247650"/>
            <a:ext cx="0" cy="2952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A8298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5f2c697b144a05"/>
          <a:stretch xmlns:a="http://schemas.openxmlformats.org/drawingml/2006/main"/>
        </p:blipFill>
        <p:spPr>
          <a:xfrm xmlns:a="http://schemas.openxmlformats.org/drawingml/2006/main">
            <a:off x="10544175" y="269013"/>
            <a:ext cx="1104900" cy="252549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37EBB7-58DC-41D9-BC79-A13715BC4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050" b="0" i="0">
                <a:solidFill>
                  <a:srgbClr val="AAB1B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 i="0">
                <a:solidFill>
                  <a:srgbClr val="AAB1B8"/>
                </a:solidFill>
                <a:latin typeface="Noto Sans CJK SC"/>
                <a:ea typeface="Noto Sans CJK SC"/>
                <a:cs typeface="Noto Sans CJK SC"/>
              </a:rPr>
              <a:t>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399960-3BB0-4386-9D60-3FB622EBD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38275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00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rPr>
              <a:t>计时边界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C86BA8-8D05-41E5-8A64-F3526A832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09750"/>
            <a:ext cx="1428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2860">
            <a:solidFill>
              <a:srgbClr val="2C5F9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87169D-EC8C-452A-A27D-72BAAF2F4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764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rPr>
              <a:t>首次编译与一次性分配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F683E3-B5C8-44DB-9F3A-E4F5E5C1A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952625"/>
            <a:ext cx="6096000" cy="609600"/>
          </a:xfrm>
          <a:prstGeom xmlns:a="http://schemas.openxmlformats.org/drawingml/2006/main" prst="roundRect">
            <a:avLst>
              <a:gd name="adj" fmla="val 4688"/>
            </a:avLst>
          </a:prstGeom>
          <a:solidFill xmlns:a="http://schemas.openxmlformats.org/drawingml/2006/main">
            <a:srgbClr val="E9EFF6"/>
          </a:solidFill>
          <a:ln xmlns:a="http://schemas.openxmlformats.org/drawingml/2006/main" w="9525">
            <a:solidFill>
              <a:srgbClr val="2C5F9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980867-DAE1-4B88-8B9D-51496A22A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952625"/>
            <a:ext cx="1524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rPr>
              <a:t>布局处理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CC9E82-6C49-4BEC-8504-1724DC707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105025"/>
            <a:ext cx="0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7C8D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6B4FA8E-1B6C-492B-9D00-C0498CA86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952625"/>
            <a:ext cx="1524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rPr>
              <a:t>工作区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2798BC-2244-4E22-8792-4D42CC652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105025"/>
            <a:ext cx="0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7C8D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F6A9138-B85F-40B7-9C78-156A68E17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52625"/>
            <a:ext cx="1524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rPr>
              <a:t>内核执行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651B5BB-0F52-4861-84DB-18609558E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105025"/>
            <a:ext cx="0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7C8D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CCCA4F7-2694-4C1B-8BCB-B9E5C38CE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952625"/>
            <a:ext cx="1524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rPr>
              <a:t>状态回写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D61FCE2-4610-4E60-84E2-C69567A25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07645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rPr>
              <a:t>后续调用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3993E8E-E590-4955-BA16-E51E40C24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81300"/>
            <a:ext cx="1028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9E3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CDEE999-E4C6-4A85-8254-81A05089B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2743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E3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D69F054-B02D-46F5-B3A6-BD25FE929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78130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C5F9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208F625-40BD-4C15-B30E-EAEF12DCD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724150"/>
            <a:ext cx="0" cy="114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2C5F9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A939595-5DA9-4423-AF4D-B9A192489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724150"/>
            <a:ext cx="0" cy="114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2C5F9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6F6CEC1-B88D-47C5-AAE5-27302D3F5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24175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125" b="1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rPr>
              <a:t>计时外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1A78075-2735-4EA8-8FC5-84A6E889E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924175"/>
            <a:ext cx="1943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rPr>
              <a:t>公开接口计时范围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22D0CB5-6A25-4625-B53D-C95678CE0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43300"/>
            <a:ext cx="1066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3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FBC2DD6-F17C-41CF-BB0D-22DD94B6F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342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050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rPr>
              <a:t>01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7E30A69-147C-4916-898D-D37BCC5F4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8862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状态一致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3E516DC-0CE2-4EEF-9C12-1BE333A59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3886200"/>
            <a:ext cx="828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rPr>
              <a:t>每次调用使用相同非零初态，重复测量时轮转状态槽位。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BF9E9A3-F473-4B76-8F0D-B02DE0815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19600"/>
            <a:ext cx="342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050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rPr>
              <a:t>02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618791A-5602-4C74-9E9A-A1B2238FE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40055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进程隔离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91D5E05-7376-4D78-A2DD-57D66B077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4400550"/>
            <a:ext cx="828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rPr>
              <a:t>每个实现使用独立进程，避免 CUDA 符号覆盖改变实际执行路径。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DC5CBAF-F49D-40F7-872B-FC5EBA859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33950"/>
            <a:ext cx="342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050" b="1" i="0">
                <a:solidFill>
                  <a:srgbClr val="C66A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1" i="0">
                <a:solidFill>
                  <a:srgbClr val="C66A3D"/>
                </a:solidFill>
                <a:latin typeface="Noto Sans CJK SC"/>
                <a:ea typeface="Noto Sans CJK SC"/>
                <a:cs typeface="Noto Sans CJK SC"/>
              </a:rPr>
              <a:t>03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466548C-719C-46EE-8068-73FA92BD0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9149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双重正确性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68DF951-4F2D-40B1-B0DB-CEC9A58C2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4914900"/>
            <a:ext cx="828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rPr>
              <a:t>同时检查输出与最终状态，并覆盖打包、尾块和连续两次调用。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3E4FAB7-40CD-4127-945A-B394C1B3B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48300"/>
            <a:ext cx="342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050" b="1" i="0">
                <a:solidFill>
                  <a:srgbClr val="C66A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1" i="0">
                <a:solidFill>
                  <a:srgbClr val="C66A3D"/>
                </a:solidFill>
                <a:latin typeface="Noto Sans CJK SC"/>
                <a:ea typeface="Noto Sans CJK SC"/>
                <a:cs typeface="Noto Sans CJK SC"/>
              </a:rPr>
              <a:t>04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58A1739-CEFA-4D6C-9183-209FAFFC1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42925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正式性能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F1A54D3-217C-47A1-8329-D19B67C53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5429250"/>
            <a:ext cx="828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rPr>
              <a:t>冷 L2、CUDA 性能接口（CUPTI）、平衡顺序与 ABBA 交替复测。</a:t>
            </a:r>
          </a:p>
        </p:txBody>
      </p:sp>
    </p:spTree>
    <p:extLst>
      <p:ext uri="{BB962C8B-B14F-4D97-AF65-F5344CB8AC3E}">
        <p14:creationId xmlns:p14="http://schemas.microsoft.com/office/powerpoint/2010/main" val="61891906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DB5A3A1-2AB9-445D-A646-5F9910EBB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125" b="1" i="0">
                <a:solidFill>
                  <a:srgbClr val="D2AA5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 i="0">
                <a:solidFill>
                  <a:srgbClr val="D2AA52"/>
                </a:solidFill>
                <a:latin typeface="Noto Sans CJK SC"/>
                <a:ea typeface="Noto Sans CJK SC"/>
                <a:cs typeface="Noto Sans CJK SC"/>
              </a:rPr>
              <a:t>06  分析方法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9C76D0-7E21-4E5E-AF8F-538746405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315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双分支的公平性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5E8752-E46D-49AC-A04E-D014AC366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1920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A829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C38C0B-EAA2-46CE-9A4B-3979EE3CF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6825" y="276225"/>
            <a:ext cx="781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97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奶龙必胜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675E21-115B-4868-9023-47199A482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1225" y="247650"/>
            <a:ext cx="0" cy="2952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A8298"/>
            </a:solidFill>
            <a:prstDash val="solid"/>
          </a:ln>
        </p:spPr>
      </p:sp>
      <p:pic>
        <p:nvPicPr>
          <p:cNvPr id="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97716f24ae4994"/>
          <a:stretch xmlns:a="http://schemas.openxmlformats.org/drawingml/2006/main"/>
        </p:blipFill>
        <p:spPr>
          <a:xfrm xmlns:a="http://schemas.openxmlformats.org/drawingml/2006/main">
            <a:off x="9934575" y="20955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3BE6FF-C8C7-4D18-B156-B32EB652A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247650"/>
            <a:ext cx="0" cy="2952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A8298"/>
            </a:solidFill>
            <a:prstDash val="solid"/>
          </a:ln>
        </p:spPr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30cc75eead40d4"/>
          <a:stretch xmlns:a="http://schemas.openxmlformats.org/drawingml/2006/main"/>
        </p:blipFill>
        <p:spPr>
          <a:xfrm xmlns:a="http://schemas.openxmlformats.org/drawingml/2006/main">
            <a:off x="10544175" y="269013"/>
            <a:ext cx="1104900" cy="252549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6F75F4-D8F6-482E-8484-46821E737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050" b="0" i="0">
                <a:solidFill>
                  <a:srgbClr val="AAB1B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 i="0">
                <a:solidFill>
                  <a:srgbClr val="AAB1B8"/>
                </a:solidFill>
                <a:latin typeface="Noto Sans CJK SC"/>
                <a:ea typeface="Noto Sans CJK SC"/>
                <a:cs typeface="Noto Sans CJK SC"/>
              </a:rPr>
              <a:t>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1EA6EC-D68C-4C4B-824F-7E60E458C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66850"/>
            <a:ext cx="857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7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架构收益只能从“同预算的最优边界”中被分离出来。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BBDBCB-A7E4-419F-B0FB-52A0A7E98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8595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rPr>
              <a:t>两条支路的搜索能量可以不同，但机会预算与证据门槛必须一致。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4E5DF2-5EF2-4D72-AF64-2EC0630B0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24150"/>
            <a:ext cx="1104900" cy="2628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101D2E"/>
          </a:solidFill>
          <a:ln xmlns:a="http://schemas.openxmlformats.org/drawingml/2006/main" w="14288">
            <a:solidFill>
              <a:srgbClr val="D2AA5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142410-EFF8-4D9A-8B64-41CE32555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67050"/>
            <a:ext cx="8001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575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共同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1575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F45B38B-773C-4D52-A35D-5C2A9967F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71950"/>
            <a:ext cx="800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125" b="0" i="0">
                <a:solidFill>
                  <a:srgbClr val="C9D3D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0" i="0">
                <a:solidFill>
                  <a:srgbClr val="C9D3DC"/>
                </a:solidFill>
                <a:latin typeface="Noto Sans CJK SC"/>
                <a:ea typeface="Noto Sans CJK SC"/>
                <a:cs typeface="Noto Sans CJK SC"/>
              </a:rPr>
              <a:t>同一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1125" b="0" i="0">
                <a:solidFill>
                  <a:srgbClr val="C9D3D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0" i="0">
                <a:solidFill>
                  <a:srgbClr val="C9D3DC"/>
                </a:solidFill>
                <a:latin typeface="Noto Sans CJK SC"/>
                <a:ea typeface="Noto Sans CJK SC"/>
                <a:cs typeface="Noto Sans CJK SC"/>
              </a:rPr>
              <a:t>workload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4E1867-124C-4F2B-B312-80E56DE36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219450"/>
            <a:ext cx="5048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2C5F9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3F96C8-A6CD-489F-9527-CD925CABB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1051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DB9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FCBD3AD-82E2-45E7-BA6A-0E6CC20F8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07657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DB9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546F0E-5BC6-4F52-B10C-B0F253028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1051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7A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5240163-F7D0-4C34-9FAC-F54CF45AA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628900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75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rPr>
              <a:t>HMMA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8E35C31-BBEA-4A2A-A07B-2351E486B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476625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75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rPr>
              <a:t>H0  官方路径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6B8B3B2-6DE9-4950-B50D-59E5D5C15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7662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rPr>
              <a:t>H1  同预算最优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324D484-1094-41CA-B898-2C4A29CDA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838450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200" b="1" i="0">
                <a:solidFill>
                  <a:srgbClr val="2F7A6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 i="0">
                <a:solidFill>
                  <a:srgbClr val="2F7A68"/>
                </a:solidFill>
                <a:latin typeface="Noto Sans CJK SC"/>
                <a:ea typeface="Noto Sans CJK SC"/>
                <a:cs typeface="Noto Sans CJK SC"/>
              </a:rPr>
              <a:t>局部闭包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DD86142-56F5-403A-A074-D80DC902C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591050"/>
            <a:ext cx="5048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0">
            <a:solidFill>
              <a:srgbClr val="C66A3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3DE071A-354E-4E91-9A01-D1E74AF5C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4577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A0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91ED264-D397-4F0C-86ED-3F68E0C96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4196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A0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627B9A9-9F3B-4B40-97DF-B8ECD3313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4767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7A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390B85C-EA5E-41B2-AD81-D6D498507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5010150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75" b="1" i="0">
                <a:solidFill>
                  <a:srgbClr val="C66A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 i="0">
                <a:solidFill>
                  <a:srgbClr val="C66A3D"/>
                </a:solidFill>
                <a:latin typeface="Noto Sans CJK SC"/>
                <a:ea typeface="Noto Sans CJK SC"/>
                <a:cs typeface="Noto Sans CJK SC"/>
              </a:rPr>
              <a:t>tcgen05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A212DFA-0201-44A9-9135-0F1D1095F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09575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75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rPr>
              <a:t>T0  同预算接入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01BA1FE-9B43-498A-9D9A-F810B835A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953000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1" i="0">
                <a:solidFill>
                  <a:srgbClr val="C66A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 i="0">
                <a:solidFill>
                  <a:srgbClr val="C66A3D"/>
                </a:solidFill>
                <a:latin typeface="Noto Sans CJK SC"/>
                <a:ea typeface="Noto Sans CJK SC"/>
                <a:cs typeface="Noto Sans CJK SC"/>
              </a:rPr>
              <a:t>T1 / T2  布局与全栈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324F9E1-9827-42D1-A862-52E29377C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381250"/>
            <a:ext cx="0" cy="3543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3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56B1C52-AC62-4810-9D13-65E6DE578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495550"/>
            <a:ext cx="333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共享证据合同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E020F31-8183-470F-8B1E-D2EE058C1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1051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050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rPr>
              <a:t>01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94FB672-5699-4DCE-9352-C96B4B8C3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0670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rPr>
              <a:t>工作负载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55B922E-DF3A-4FBF-8478-5ADCE2568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362325"/>
            <a:ext cx="2724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125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rPr>
              <a:t>q / k / v、状态与打包边界一致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AF0770A-F171-48C8-BF29-84B27C5B8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84810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050" b="1" i="0">
                <a:solidFill>
                  <a:srgbClr val="D2AA5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1" i="0">
                <a:solidFill>
                  <a:srgbClr val="D2AA52"/>
                </a:solidFill>
                <a:latin typeface="Noto Sans CJK SC"/>
                <a:ea typeface="Noto Sans CJK SC"/>
                <a:cs typeface="Noto Sans CJK SC"/>
              </a:rPr>
              <a:t>02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DF14EF6-652B-4F8E-BAF0-D0F230567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8100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1" i="0">
                <a:solidFill>
                  <a:srgbClr val="D2AA5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D2AA52"/>
                </a:solidFill>
                <a:latin typeface="Noto Sans CJK SC"/>
                <a:ea typeface="Noto Sans CJK SC"/>
                <a:cs typeface="Noto Sans CJK SC"/>
              </a:rPr>
              <a:t>机会预算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A333F72-0AAE-4620-90F7-A68706EDA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105275"/>
            <a:ext cx="2724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125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rPr>
              <a:t>候选数与搜索机会按轮匹配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ED31B79-33B8-42CA-9581-C69AC5340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5910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050" b="1" i="0">
                <a:solidFill>
                  <a:srgbClr val="C66A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1" i="0">
                <a:solidFill>
                  <a:srgbClr val="C66A3D"/>
                </a:solidFill>
                <a:latin typeface="Noto Sans CJK SC"/>
                <a:ea typeface="Noto Sans CJK SC"/>
                <a:cs typeface="Noto Sans CJK SC"/>
              </a:rPr>
              <a:t>03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C607C27-E365-40CD-84B9-8F640C50C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5529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1" i="0">
                <a:solidFill>
                  <a:srgbClr val="C66A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C66A3D"/>
                </a:solidFill>
                <a:latin typeface="Noto Sans CJK SC"/>
                <a:ea typeface="Noto Sans CJK SC"/>
                <a:cs typeface="Noto Sans CJK SC"/>
              </a:rPr>
              <a:t>证据门槛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455E928-E9BE-40DC-99DA-EA43458C7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848225"/>
            <a:ext cx="2724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125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rPr>
              <a:t>身份、双重正确性与 public-full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DF57DA7-A8F9-4051-B265-591FBF6C5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41020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3E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F290D6D-0D1C-45CE-99BC-D24CF75D7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619750"/>
            <a:ext cx="3371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b="1">
                <a:solidFill>
                  <a:srgbClr val="2F7A68"/>
                </a:solidFill>
              </a:rPr>
              <a:t>比较对象  </a:t>
            </a:r>
            <a:r>
              <a:rPr>
                <a:solidFill>
                  <a:srgbClr val="151A21"/>
                </a:solidFill>
              </a:rPr>
              <a:t>两条支路在同一合同下得到的最优边界。</a:t>
            </a:r>
          </a:p>
        </p:txBody>
      </p:sp>
    </p:spTree>
    <p:extLst>
      <p:ext uri="{BB962C8B-B14F-4D97-AF65-F5344CB8AC3E}">
        <p14:creationId xmlns:p14="http://schemas.microsoft.com/office/powerpoint/2010/main" val="56547544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4ef49bc68c4fbf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463C27-3CB8-4073-AEC0-E3DE25F97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6825" y="257175"/>
            <a:ext cx="781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97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奶龙必胜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EA06CD-D8D5-4139-9A78-5D255D329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1225" y="228600"/>
            <a:ext cx="0" cy="2952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A8298"/>
            </a:solidFill>
            <a:prstDash val="solid"/>
          </a:ln>
        </p:spPr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542f936ef8437d"/>
          <a:stretch xmlns:a="http://schemas.openxmlformats.org/drawingml/2006/main"/>
        </p:blipFill>
        <p:spPr>
          <a:xfrm xmlns:a="http://schemas.openxmlformats.org/drawingml/2006/main">
            <a:off x="9934575" y="19050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3DDD69-1B9B-44C1-AC9D-C6B23C03D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228600"/>
            <a:ext cx="0" cy="2952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A8298"/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8d6416269d40e6"/>
          <a:stretch xmlns:a="http://schemas.openxmlformats.org/drawingml/2006/main"/>
        </p:blipFill>
        <p:spPr>
          <a:xfrm xmlns:a="http://schemas.openxmlformats.org/drawingml/2006/main">
            <a:off x="10544175" y="249963"/>
            <a:ext cx="1104900" cy="25254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976611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f064e265fd4c35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005B81-19FD-44E9-9673-3FB261D6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6825" y="257175"/>
            <a:ext cx="781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97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奶龙必胜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799168-7051-4583-A0C6-9DE248B9D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1225" y="228600"/>
            <a:ext cx="0" cy="2952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A8298"/>
            </a:solidFill>
            <a:prstDash val="solid"/>
          </a:ln>
        </p:spPr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76fd4c7a524433"/>
          <a:stretch xmlns:a="http://schemas.openxmlformats.org/drawingml/2006/main"/>
        </p:blipFill>
        <p:spPr>
          <a:xfrm xmlns:a="http://schemas.openxmlformats.org/drawingml/2006/main">
            <a:off x="9934575" y="19050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4349B9-B089-496D-806B-D1BDD6EE9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228600"/>
            <a:ext cx="0" cy="2952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A8298"/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71e965199a489a"/>
          <a:stretch xmlns:a="http://schemas.openxmlformats.org/drawingml/2006/main"/>
        </p:blipFill>
        <p:spPr>
          <a:xfrm xmlns:a="http://schemas.openxmlformats.org/drawingml/2006/main">
            <a:off x="10544175" y="249963"/>
            <a:ext cx="1104900" cy="25254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185738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93D4452-DDF5-41AC-97A7-E4DC6C470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125" b="1" i="0">
                <a:solidFill>
                  <a:srgbClr val="D2AA5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 i="0">
                <a:solidFill>
                  <a:srgbClr val="D2AA52"/>
                </a:solidFill>
                <a:latin typeface="Noto Sans CJK SC"/>
                <a:ea typeface="Noto Sans CJK SC"/>
                <a:cs typeface="Noto Sans CJK SC"/>
              </a:rPr>
              <a:t>09  分析结论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EB60CF-E719-4B7F-8FAE-291F266AC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315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三个关键结论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7E6696-8C79-47DC-9651-D1B416B86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1920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A829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5FB037-D56D-4CE9-908F-0F84D2128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6825" y="276225"/>
            <a:ext cx="781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97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奶龙必胜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EB94F9-E89F-4CFF-904C-53D4D86DD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1225" y="247650"/>
            <a:ext cx="0" cy="2952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A8298"/>
            </a:solidFill>
            <a:prstDash val="solid"/>
          </a:ln>
        </p:spPr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57d56f5490492d"/>
          <a:stretch xmlns:a="http://schemas.openxmlformats.org/drawingml/2006/main"/>
        </p:blipFill>
        <p:spPr>
          <a:xfrm xmlns:a="http://schemas.openxmlformats.org/drawingml/2006/main">
            <a:off x="9934575" y="20955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9D5A84-C17E-43BF-B37C-1E220AECE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247650"/>
            <a:ext cx="0" cy="2952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A8298"/>
            </a:solidFill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e875e8237043ef"/>
          <a:stretch xmlns:a="http://schemas.openxmlformats.org/drawingml/2006/main"/>
        </p:blipFill>
        <p:spPr>
          <a:xfrm xmlns:a="http://schemas.openxmlformats.org/drawingml/2006/main">
            <a:off x="10544175" y="269013"/>
            <a:ext cx="1104900" cy="252549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C82DE0-A10D-488B-9FC3-A0F4299D9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050" b="0" i="0">
                <a:solidFill>
                  <a:srgbClr val="AAB1B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 i="0">
                <a:solidFill>
                  <a:srgbClr val="AAB1B8"/>
                </a:solidFill>
                <a:latin typeface="Noto Sans CJK SC"/>
                <a:ea typeface="Noto Sans CJK SC"/>
                <a:cs typeface="Noto Sans CJK SC"/>
              </a:rPr>
              <a:t>9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6943B3-4127-46A0-A0B4-82529C65E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62100"/>
            <a:ext cx="104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125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rPr>
              <a:t>Q1 · Q5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10CAE6-C3DF-4468-ABF9-6C8148579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1524000"/>
            <a:ext cx="3714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0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数值约束决定分块设计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534A5D-9FF0-460C-BC27-F30AF76B2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1990725"/>
            <a:ext cx="685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rPr>
              <a:t>CHUNK16 同时约束指数恢复、16×16 求解和 BF16 状态舍入；扩大到 C32/C64 需要重新缩放或分块求解。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D58E4E-9CF6-4B1F-8ADB-88E4ACFCD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771650"/>
            <a:ext cx="2333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275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rPr>
              <a:t>输出、最终状态、连续两次调用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9862F3-F88B-4459-91A8-88097C088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819400"/>
            <a:ext cx="9382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3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C13350-1383-4267-A7CF-CF1598697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05150"/>
            <a:ext cx="104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125" b="1" i="0">
                <a:solidFill>
                  <a:srgbClr val="C66A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 i="0">
                <a:solidFill>
                  <a:srgbClr val="C66A3D"/>
                </a:solidFill>
                <a:latin typeface="Noto Sans CJK SC"/>
                <a:ea typeface="Noto Sans CJK SC"/>
                <a:cs typeface="Noto Sans CJK SC"/>
              </a:rPr>
              <a:t>Q2 · Q4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1F7705-0209-4537-93FE-A31594F55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067050"/>
            <a:ext cx="3714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0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分块合法不等于整体高效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ECEF2D2-6D0B-4C09-A965-30D0D97A8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533775"/>
            <a:ext cx="685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rPr>
              <a:t>tcgen05 还要承担张量内存（TMEM）、地址描述符、同步和读回；H12 受低并行度与关键路径限制。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FCD4B5E-B435-4C51-9CC8-F8BA9F1BE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314700"/>
            <a:ext cx="2333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275" b="1" i="0">
                <a:solidFill>
                  <a:srgbClr val="C66A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1" i="0">
                <a:solidFill>
                  <a:srgbClr val="C66A3D"/>
                </a:solidFill>
                <a:latin typeface="Noto Sans CJK SC"/>
                <a:ea typeface="Noto Sans CJK SC"/>
                <a:cs typeface="Noto Sans CJK SC"/>
              </a:rPr>
              <a:t>V128 0.920×   计算/显存 2.64%/1.24%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9DCBDF7-7207-4031-862C-0719B02EB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362450"/>
            <a:ext cx="9382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3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C992D0-78FE-46CA-BCE0-513AD91BC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48200"/>
            <a:ext cx="104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125" b="1" i="0">
                <a:solidFill>
                  <a:srgbClr val="2F7A6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 i="0">
                <a:solidFill>
                  <a:srgbClr val="2F7A68"/>
                </a:solidFill>
                <a:latin typeface="Noto Sans CJK SC"/>
                <a:ea typeface="Noto Sans CJK SC"/>
                <a:cs typeface="Noto Sans CJK SC"/>
              </a:rPr>
              <a:t>Q3 · Q6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47DB5BC-7ABE-436E-9E56-BA9B0534C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610100"/>
            <a:ext cx="3714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0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并行机会决定迁移和部署方式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8C5A742-75AC-4225-98D2-F24ABB649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076825"/>
            <a:ext cx="685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rPr>
              <a:t>注意力头、数值维、序列和生产/消费角色仍可并行；收益经工作负载认证后进入条件后端。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0F94124-75E4-4795-B698-F1277132E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857750"/>
            <a:ext cx="2333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275" b="1" i="0">
                <a:solidFill>
                  <a:srgbClr val="2F7A6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1" i="0">
                <a:solidFill>
                  <a:srgbClr val="2F7A68"/>
                </a:solidFill>
                <a:latin typeface="Noto Sans CJK SC"/>
                <a:ea typeface="Noto Sans CJK SC"/>
                <a:cs typeface="Noto Sans CJK SC"/>
              </a:rPr>
              <a:t>H12 value 切片时延 −27.0%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200DDF1-A9E5-4FAF-A6DE-8B5253D18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905500"/>
            <a:ext cx="9382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3E8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26021612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02A7DC5-4C1A-4A4C-9657-9125756EE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125" b="1" i="0">
                <a:solidFill>
                  <a:srgbClr val="C66A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 i="0">
                <a:solidFill>
                  <a:srgbClr val="C66A3D"/>
                </a:solidFill>
                <a:latin typeface="Noto Sans CJK SC"/>
                <a:ea typeface="Noto Sans CJK SC"/>
                <a:cs typeface="Noto Sans CJK SC"/>
              </a:rPr>
              <a:t>10  挑战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B43862-A2E1-4E54-99F7-B8DD5C578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315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四条挑战路径的投入与回报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23DAAB-52ED-4784-8D78-582DE67AC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1920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A829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2C816E-808A-4EA6-B4FC-78AC42AFC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6825" y="276225"/>
            <a:ext cx="781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97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奶龙必胜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48F415-E719-4EC0-821A-29C336F52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1225" y="247650"/>
            <a:ext cx="0" cy="2952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A8298"/>
            </a:solidFill>
            <a:prstDash val="solid"/>
          </a:ln>
        </p:spPr>
      </p:sp>
      <p:pic>
        <p:nvPicPr>
          <p:cNvPr id="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e43ae9e3404568"/>
          <a:stretch xmlns:a="http://schemas.openxmlformats.org/drawingml/2006/main"/>
        </p:blipFill>
        <p:spPr>
          <a:xfrm xmlns:a="http://schemas.openxmlformats.org/drawingml/2006/main">
            <a:off x="9934575" y="20955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D5815B-E096-4699-8B5E-2B02DDEB0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247650"/>
            <a:ext cx="0" cy="2952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A8298"/>
            </a:solidFill>
            <a:prstDash val="solid"/>
          </a:ln>
        </p:spPr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021733d2dd462d"/>
          <a:stretch xmlns:a="http://schemas.openxmlformats.org/drawingml/2006/main"/>
        </p:blipFill>
        <p:spPr>
          <a:xfrm xmlns:a="http://schemas.openxmlformats.org/drawingml/2006/main">
            <a:off x="10544175" y="269013"/>
            <a:ext cx="1104900" cy="252549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16E587-E87F-4159-9CA4-7A4BAEF5F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050" b="0" i="0">
                <a:solidFill>
                  <a:srgbClr val="AAB1B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 i="0">
                <a:solidFill>
                  <a:srgbClr val="AAB1B8"/>
                </a:solidFill>
                <a:latin typeface="Noto Sans CJK SC"/>
                <a:ea typeface="Noto Sans CJK SC"/>
                <a:cs typeface="Noto Sans CJK SC"/>
              </a:rPr>
              <a:t>10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D147C2-B040-4DCE-8874-57B78D204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66850"/>
            <a:ext cx="7429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rPr>
              <a:t>核心探针与 public-full 分开标注，1.0× 表示各自基线。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18ED29-0619-453B-96A2-9664CE160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133600"/>
            <a:ext cx="0" cy="32766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9E3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362029-2EC0-4F5B-9277-F4F13C8F5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410200"/>
            <a:ext cx="8553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9E3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9029C5-50B4-4B98-9E71-74BD51B0D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514850"/>
            <a:ext cx="8553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151A2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3EBE25-C121-4FB4-9527-74DF6B04F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40055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05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1.0×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E770E94-F031-4FC7-83A0-F2308236A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3360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75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rPr>
              <a:t>实测加速比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D1D8BE-AF48-47EB-B8EB-7889F4406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5529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84D47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4FEBAB-B44A-42C4-AD11-DDA37DF28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210050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 i="0">
                <a:solidFill>
                  <a:srgbClr val="A84D4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 i="0">
                <a:solidFill>
                  <a:srgbClr val="A84D47"/>
                </a:solidFill>
                <a:latin typeface="Noto Sans CJK SC"/>
                <a:ea typeface="Noto Sans CJK SC"/>
                <a:cs typeface="Noto Sans CJK SC"/>
              </a:rPr>
              <a:t>0.920×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82D32E-A064-43D6-BB79-6A91278EF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3143250"/>
            <a:ext cx="0" cy="1809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66A3D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FB5334-B019-4FDF-BB31-FDA40AB8F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3025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7A6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8F20921-BC4C-416C-A6B4-721DDC300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48387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84D47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37BB526-321A-45D4-940B-EA2E2A402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2743200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275" b="1" i="0">
                <a:solidFill>
                  <a:srgbClr val="2F7A6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1" i="0">
                <a:solidFill>
                  <a:srgbClr val="2F7A68"/>
                </a:solidFill>
                <a:latin typeface="Noto Sans CJK SC"/>
                <a:ea typeface="Noto Sans CJK SC"/>
                <a:cs typeface="Noto Sans CJK SC"/>
              </a:rPr>
              <a:t>core  1.615×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BC43A4C-35F6-4876-9BEC-0B8E09D84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7825" y="48387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75" b="1" i="0">
                <a:solidFill>
                  <a:srgbClr val="A84D4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1" i="0">
                <a:solidFill>
                  <a:srgbClr val="A84D47"/>
                </a:solidFill>
                <a:latin typeface="Noto Sans CJK SC"/>
                <a:ea typeface="Noto Sans CJK SC"/>
                <a:cs typeface="Noto Sans CJK SC"/>
              </a:rPr>
              <a:t>public  0.779×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DFA13C6-D719-4618-B450-8A854799E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3829050"/>
            <a:ext cx="990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125" b="1" i="0">
                <a:solidFill>
                  <a:srgbClr val="C66A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 i="0">
                <a:solidFill>
                  <a:srgbClr val="C66A3D"/>
                </a:solidFill>
                <a:latin typeface="Noto Sans CJK SC"/>
                <a:ea typeface="Noto Sans CJK SC"/>
                <a:cs typeface="Noto Sans CJK SC"/>
              </a:rPr>
              <a:t>承载成本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FD9DE85-1865-48AA-BA80-F6065543B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6101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84D47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9639DDB-E300-45B4-8872-2657CCC1F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267200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 i="0">
                <a:solidFill>
                  <a:srgbClr val="A84D4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 i="0">
                <a:solidFill>
                  <a:srgbClr val="A84D47"/>
                </a:solidFill>
                <a:latin typeface="Noto Sans CJK SC"/>
                <a:ea typeface="Noto Sans CJK SC"/>
                <a:cs typeface="Noto Sans CJK SC"/>
              </a:rPr>
              <a:t>0.906×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977FC8D-780A-4D22-993F-1CE15102E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019300"/>
            <a:ext cx="72390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1ED"/>
          </a:solidFill>
          <a:ln xmlns:a="http://schemas.openxmlformats.org/drawingml/2006/main" w="11430">
            <a:solidFill>
              <a:srgbClr val="2F7A6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A89C202-1B52-4BC0-B71A-3A3A87FF6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2098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7A6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142527E-2879-433B-BD97-EAE7957FF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1695450"/>
            <a:ext cx="1181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725" b="1" i="0">
                <a:solidFill>
                  <a:srgbClr val="2F7A6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 i="0">
                <a:solidFill>
                  <a:srgbClr val="2F7A68"/>
                </a:solidFill>
                <a:latin typeface="Noto Sans CJK SC"/>
                <a:ea typeface="Noto Sans CJK SC"/>
                <a:cs typeface="Noto Sans CJK SC"/>
              </a:rPr>
              <a:t>2.482×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5B6C72E-BB24-46D1-8C9D-D8CEA7C3F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81940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1" i="0">
                <a:solidFill>
                  <a:srgbClr val="2F7A6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1" i="0">
                <a:solidFill>
                  <a:srgbClr val="2F7A68"/>
                </a:solidFill>
                <a:latin typeface="Noto Sans CJK SC"/>
                <a:ea typeface="Noto Sans CJK SC"/>
                <a:cs typeface="Noto Sans CJK SC"/>
              </a:rPr>
              <a:t>9 / 9 获益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BD1DE14-6054-46B8-A367-BF2D5A4FE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334000"/>
            <a:ext cx="0" cy="152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9E3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EEB2ECA-DDDF-471E-B883-679B437C5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5581650"/>
            <a:ext cx="1752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01  Direct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25412D7-FE52-42B0-B5F5-0C9CE3FCD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867400"/>
            <a:ext cx="190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05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rPr>
              <a:t>矩阵乘加替换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06E975B-404A-4FF4-92D1-1851FE921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5334000"/>
            <a:ext cx="0" cy="152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9E3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8BB959E-6579-4FAE-9493-922CB0C67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5581650"/>
            <a:ext cx="1752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02  V16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664A529-B43A-43D1-8BFB-624C325F6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5867400"/>
            <a:ext cx="190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05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rPr>
              <a:t>布局与 carrier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0BB026A-627C-4143-8169-2A3688314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334000"/>
            <a:ext cx="0" cy="152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9E3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2E019FC-A97E-4BA5-B7D9-93743F52E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581650"/>
            <a:ext cx="1752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03  H3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32C4AB6-6E50-47B7-8C7A-E0BFD8075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867400"/>
            <a:ext cx="190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05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rPr>
              <a:t>数据流重排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AFA987C-534C-4075-82F6-35BC5C6BA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5334000"/>
            <a:ext cx="0" cy="152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9E3E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2815919-CD6F-4627-AA8A-46056FFF9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5581650"/>
            <a:ext cx="1752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04  CAKE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A503BB0-9365-4370-BD45-73192401C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867400"/>
            <a:ext cx="190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05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rPr>
              <a:t>全栈协同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8C83314-C423-4810-AC5C-D669A0CB4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055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b="1">
                <a:solidFill>
                  <a:srgbClr val="C66A3D"/>
                </a:solidFill>
              </a:rPr>
              <a:t>轨迹展示的不是线性进步。 </a:t>
            </a:r>
            <a:r>
              <a:rPr>
                <a:solidFill>
                  <a:srgbClr val="151A21"/>
                </a:solidFill>
              </a:rPr>
              <a:t>Direct 和 H3 留下负边界，V16 揭示 carrier 问题，CAKE 才将这些知识组成完整收益。</a:t>
            </a:r>
          </a:p>
        </p:txBody>
      </p:sp>
    </p:spTree>
    <p:extLst>
      <p:ext uri="{BB962C8B-B14F-4D97-AF65-F5344CB8AC3E}">
        <p14:creationId xmlns:p14="http://schemas.microsoft.com/office/powerpoint/2010/main" val="78953537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5C92F1B-A516-40A6-A68F-1234D58C9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125" b="1" i="0">
                <a:solidFill>
                  <a:srgbClr val="C66A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 i="0">
                <a:solidFill>
                  <a:srgbClr val="C66A3D"/>
                </a:solidFill>
                <a:latin typeface="Noto Sans CJK SC"/>
                <a:ea typeface="Noto Sans CJK SC"/>
                <a:cs typeface="Noto Sans CJK SC"/>
              </a:rPr>
              <a:t>11  挑战结果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40356B-AF21-43FD-A88B-4765F524E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315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tcgen05 的承载成本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41FC3A-B984-4B26-BD36-149E31078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1920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A829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C60760-7906-49DD-AB7E-B109B21D9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6825" y="276225"/>
            <a:ext cx="781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97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奶龙必胜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3219D6-B830-4BA7-A6BB-C95BA9831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1225" y="247650"/>
            <a:ext cx="0" cy="2952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A8298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911db81173450b"/>
          <a:stretch xmlns:a="http://schemas.openxmlformats.org/drawingml/2006/main"/>
        </p:blipFill>
        <p:spPr>
          <a:xfrm xmlns:a="http://schemas.openxmlformats.org/drawingml/2006/main">
            <a:off x="9934575" y="20955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1EC606-C898-47AE-B682-D1590D188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247650"/>
            <a:ext cx="0" cy="2952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A8298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56ab0f870a4f29"/>
          <a:stretch xmlns:a="http://schemas.openxmlformats.org/drawingml/2006/main"/>
        </p:blipFill>
        <p:spPr>
          <a:xfrm xmlns:a="http://schemas.openxmlformats.org/drawingml/2006/main">
            <a:off x="10544175" y="269013"/>
            <a:ext cx="1104900" cy="252549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1B8E3C-31E0-4F99-A4EF-CE7F97093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050" b="0" i="0">
                <a:solidFill>
                  <a:srgbClr val="AAB1B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 i="0">
                <a:solidFill>
                  <a:srgbClr val="AAB1B8"/>
                </a:solidFill>
                <a:latin typeface="Noto Sans CJK SC"/>
                <a:ea typeface="Noto Sans CJK SC"/>
                <a:cs typeface="Noto Sans CJK SC"/>
              </a:rPr>
              <a:t>11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C88EDC-992E-4AC1-9465-8814802E9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6685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75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rPr>
              <a:t>每一行使用自己的基线和计时范围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C7E3B8-F1A4-4CE2-960D-B1659F7A8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866900"/>
            <a:ext cx="0" cy="95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3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3A93DC-CAE1-4045-BC41-D4FCDB0A8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1628775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975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rPr>
              <a:t>0.0×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777C72-E1BD-41E0-8FE9-C1E77FCB6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4125" y="1866900"/>
            <a:ext cx="0" cy="95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3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943D536-44D4-4FF3-BB98-166AA10CB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6000" y="1628775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975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rPr>
              <a:t>0.5×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B832A4-837F-4531-A8FE-02E3589EB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9750" y="1866900"/>
            <a:ext cx="0" cy="95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3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14A3F8-52D6-4943-810A-B41D64FA0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1625" y="1628775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975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rPr>
              <a:t>1.0×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FEEB1AA-D3C6-4C85-9CA7-CDF33FFFD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866900"/>
            <a:ext cx="0" cy="95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3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AA8DC51-7958-4EA7-BA9C-E6607EC0B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628775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975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rPr>
              <a:t>1.5×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DE1945-DD49-48AF-802B-D02BA2ED3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9750" y="1971675"/>
            <a:ext cx="0" cy="3429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151A2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BBFFF92-8B4B-4DCD-8E3B-029ADFC1C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955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Direct V128 直接替换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E0A6477-0D59-4CE3-9512-6E39E71DE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384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05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rPr>
              <a:t>完整承载层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5D35940-64C5-44C9-A01A-ABCFD4646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095500"/>
            <a:ext cx="3358208" cy="36195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A84D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23421B5-1D80-40BE-894B-2DCA21A52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1008" y="2095500"/>
            <a:ext cx="104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1" i="0">
                <a:solidFill>
                  <a:srgbClr val="A84D4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 i="0">
                <a:solidFill>
                  <a:srgbClr val="A84D47"/>
                </a:solidFill>
                <a:latin typeface="Noto Sans CJK SC"/>
                <a:ea typeface="Noto Sans CJK SC"/>
                <a:cs typeface="Noto Sans CJK SC"/>
              </a:rPr>
              <a:t>0.920×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3EAF34C-C25E-4744-B9F4-26636D411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385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V16 首选布局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B43ACC8-7583-49E7-9130-A334466A5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814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05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rPr>
              <a:t>核心探针 L0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966CF6A-EC14-4A87-A96A-EDAB7B5DC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238500"/>
            <a:ext cx="5896845" cy="36195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2F7A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76B39FE-0F83-47AC-972B-B16B66171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9645" y="3238500"/>
            <a:ext cx="104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1" i="0">
                <a:solidFill>
                  <a:srgbClr val="2F7A6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 i="0">
                <a:solidFill>
                  <a:srgbClr val="2F7A68"/>
                </a:solidFill>
                <a:latin typeface="Noto Sans CJK SC"/>
                <a:ea typeface="Noto Sans CJK SC"/>
                <a:cs typeface="Noto Sans CJK SC"/>
              </a:rPr>
              <a:t>1.615×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D0C7272-2228-4491-9982-9B1EBA20E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815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V16 标量重构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0170F57-8D27-49F7-A1ED-E877FFACC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244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05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rPr>
              <a:t>承载层 L1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B053661-EC0A-47EB-A5C9-05292E1E7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381500"/>
            <a:ext cx="2842582" cy="36195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A84D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6D72038-77BB-483E-BCA1-E30C50069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5382" y="4381500"/>
            <a:ext cx="104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1" i="0">
                <a:solidFill>
                  <a:srgbClr val="A84D4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 i="0">
                <a:solidFill>
                  <a:srgbClr val="A84D47"/>
                </a:solidFill>
                <a:latin typeface="Noto Sans CJK SC"/>
                <a:ea typeface="Noto Sans CJK SC"/>
                <a:cs typeface="Noto Sans CJK SC"/>
              </a:rPr>
              <a:t>0.779×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2C4DB0A-C911-4F0F-B72A-313E6D68D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1771650"/>
            <a:ext cx="0" cy="3695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3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DDA04EA-09CA-4D21-95C4-27B451ECF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1981200"/>
            <a:ext cx="1181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承载层成本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94DB128-AA6B-4C96-85CC-26FC96E53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5717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rPr>
              <a:t>地址描述符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19499A6-B369-4F18-B689-1048DA4EB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2933700"/>
            <a:ext cx="914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DF2F4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4294958-B7B3-45BA-BB59-604DA983F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30670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rPr>
              <a:t>张量内存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3380778-6746-402F-BAB8-7073FBE91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429000"/>
            <a:ext cx="914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DF2F4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2D6B2B4-61D8-4F80-9B90-DC40C58A7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35623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rPr>
              <a:t>提交 / 等待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EB5B694-F697-4278-82E5-B5EDA4B31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924300"/>
            <a:ext cx="914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DF2F4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1FD9684-7FB5-4293-A285-4BA5EB631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40576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rPr>
              <a:t>结果读回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6B5A2FB-ACCC-4C3E-9A42-67F48D5C6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4419600"/>
            <a:ext cx="914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DF2F4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8BB955C-DE3B-4DE0-946A-5BFC2BC29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45529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0" i="0">
                <a:solidFill>
                  <a:srgbClr val="C66A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 i="0">
                <a:solidFill>
                  <a:srgbClr val="C66A3D"/>
                </a:solidFill>
                <a:latin typeface="Noto Sans CJK SC"/>
                <a:ea typeface="Noto Sans CJK SC"/>
                <a:cs typeface="Noto Sans CJK SC"/>
              </a:rPr>
              <a:t>数据布局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5B8CA4D-42C8-4066-A13E-A6923C1B7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810250"/>
            <a:ext cx="981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b="1">
                <a:solidFill>
                  <a:srgbClr val="C66A3D"/>
                </a:solidFill>
              </a:rPr>
              <a:t>知识  </a:t>
            </a:r>
            <a:r>
              <a:rPr>
                <a:solidFill>
                  <a:srgbClr val="151A21"/>
                </a:solidFill>
              </a:rPr>
              <a:t>tcgen05 核心计算有潜力，但布局、张量内存与同步协议决定公开路径是否胜出。</a:t>
            </a:r>
          </a:p>
        </p:txBody>
      </p:sp>
    </p:spTree>
    <p:extLst>
      <p:ext uri="{BB962C8B-B14F-4D97-AF65-F5344CB8AC3E}">
        <p14:creationId xmlns:p14="http://schemas.microsoft.com/office/powerpoint/2010/main" val="191382634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73BB2E9-A1EA-4573-8012-7F18F2291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125" b="1" i="0">
                <a:solidFill>
                  <a:srgbClr val="2F7A6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 i="0">
                <a:solidFill>
                  <a:srgbClr val="2F7A68"/>
                </a:solidFill>
                <a:latin typeface="Noto Sans CJK SC"/>
                <a:ea typeface="Noto Sans CJK SC"/>
                <a:cs typeface="Noto Sans CJK SC"/>
              </a:rPr>
              <a:t>12  挑战结果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4F8C2A-1AED-4EA3-AF7C-EC7734D60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315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CAKE 全栈路径：9/9 获益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5807C2-F18C-4689-B51C-BFBCFB356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1920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A829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ED07B2-A170-4BD5-9437-22FE83D91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6825" y="276225"/>
            <a:ext cx="781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97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奶龙必胜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630FFB-D82B-49F9-96B2-09820A948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1225" y="247650"/>
            <a:ext cx="0" cy="2952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A8298"/>
            </a:solidFill>
            <a:prstDash val="solid"/>
          </a:ln>
        </p:spPr>
      </p:sp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b2b7b8d08e4e0f"/>
          <a:stretch xmlns:a="http://schemas.openxmlformats.org/drawingml/2006/main"/>
        </p:blipFill>
        <p:spPr>
          <a:xfrm xmlns:a="http://schemas.openxmlformats.org/drawingml/2006/main">
            <a:off x="9934575" y="20955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9142F1-B033-45C3-9910-D94C988D4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247650"/>
            <a:ext cx="0" cy="2952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A8298"/>
            </a:solidFill>
            <a:prstDash val="solid"/>
          </a:ln>
        </p:spPr>
      </p:sp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8fc3e904fb424e"/>
          <a:stretch xmlns:a="http://schemas.openxmlformats.org/drawingml/2006/main"/>
        </p:blipFill>
        <p:spPr>
          <a:xfrm xmlns:a="http://schemas.openxmlformats.org/drawingml/2006/main">
            <a:off x="10544175" y="269013"/>
            <a:ext cx="1104900" cy="252549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8A4CDB-D5EB-4791-A0E5-310E4485E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050" b="0" i="0">
                <a:solidFill>
                  <a:srgbClr val="AAB1B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 i="0">
                <a:solidFill>
                  <a:srgbClr val="AAB1B8"/>
                </a:solidFill>
                <a:latin typeface="Noto Sans CJK SC"/>
                <a:ea typeface="Noto Sans CJK SC"/>
                <a:cs typeface="Noto Sans CJK SC"/>
              </a:rPr>
              <a:t>12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10F5D6-2DBD-4DCA-BCA7-051A7AA56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66850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75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rPr>
              <a:t>公开接口完整加速比 = 官方时延 / 候选时延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2AA07B-9B53-4B9D-8492-AD970BDAB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466850"/>
            <a:ext cx="428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20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rPr>
              <a:t>图示代表工作负载；H3 为局部重排，CAKE 为全栈协同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775951-B996-420C-881B-F40882C9A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6692" y="1885950"/>
            <a:ext cx="0" cy="33909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151A2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9A75D3-9719-4EF9-877A-2C1F6E604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192" y="53340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97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1.0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506796-5B5E-4546-B58C-79EECD430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1930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H3 · H12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ED2F3B-B3E2-4158-86B2-B23BC68D5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4315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05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rPr>
              <a:t>公开接口完整计时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668277-44EB-474A-8B6B-EED8EC3D5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038350"/>
            <a:ext cx="2388430" cy="3429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A84D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D623098-3917-4405-B862-3A021FC16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1730" y="2038350"/>
            <a:ext cx="1047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1" i="0">
                <a:solidFill>
                  <a:srgbClr val="A84D4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A84D47"/>
                </a:solidFill>
                <a:latin typeface="Noto Sans CJK SC"/>
                <a:ea typeface="Noto Sans CJK SC"/>
                <a:cs typeface="Noto Sans CJK SC"/>
              </a:rPr>
              <a:t>0.905×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896D135-A50D-4449-9CDB-1FA12F664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9560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H3 · H96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022C6B6-E3E1-4CE9-8DC3-BD8EE6B5D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1945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05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rPr>
              <a:t>公开接口完整计时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F0287F7-7DB2-48A5-8B88-101DEE495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914650"/>
            <a:ext cx="1999635" cy="3429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A84D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048565E-7E23-46F2-A208-21A4ABD54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2935" y="2914650"/>
            <a:ext cx="1047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1" i="0">
                <a:solidFill>
                  <a:srgbClr val="A84D4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A84D47"/>
                </a:solidFill>
                <a:latin typeface="Noto Sans CJK SC"/>
                <a:ea typeface="Noto Sans CJK SC"/>
                <a:cs typeface="Noto Sans CJK SC"/>
              </a:rPr>
              <a:t>0.758×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861EBB2-7D20-49C6-AB5D-2274CACDE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2430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CAKE · H12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29CB4C1-DDDA-4FB7-9AE9-FFB1B6989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4815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05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rPr>
              <a:t>完整计时 · T2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13C136E-6696-48B1-A5B2-E3CF7F9EC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943350"/>
            <a:ext cx="6547544" cy="3429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2F7A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FE1CA9F-FD78-423F-A93A-95EEE3E71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0844" y="3943350"/>
            <a:ext cx="1047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1" i="0">
                <a:solidFill>
                  <a:srgbClr val="2F7A6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2F7A68"/>
                </a:solidFill>
                <a:latin typeface="Noto Sans CJK SC"/>
                <a:ea typeface="Noto Sans CJK SC"/>
                <a:cs typeface="Noto Sans CJK SC"/>
              </a:rPr>
              <a:t>2.482×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EDE3EFA-AEF7-4C5C-9D05-350E35D37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0060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CAKE · H96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8DD322E-8764-4E7C-9A2B-A7C8BE711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2445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05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rPr>
              <a:t>完整计时 · T2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B701CB9-5A26-4FF0-9093-4EF54C4AE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819650"/>
            <a:ext cx="5943248" cy="3429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2F7A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8E0F72A-9FAA-41FA-B378-AE81464A6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548" y="4819650"/>
            <a:ext cx="1047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1" i="0">
                <a:solidFill>
                  <a:srgbClr val="2F7A6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2F7A68"/>
                </a:solidFill>
                <a:latin typeface="Noto Sans CJK SC"/>
                <a:ea typeface="Noto Sans CJK SC"/>
                <a:cs typeface="Noto Sans CJK SC"/>
              </a:rPr>
              <a:t>2.253×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DDAAB95-6102-4509-973E-2DAA9E69B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95950"/>
            <a:ext cx="10572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3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B3D8FC1-9A9E-49B1-955E-2B0072F53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86450"/>
            <a:ext cx="1038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b="1">
                <a:solidFill>
                  <a:srgbClr val="2F7A68"/>
                </a:solidFill>
              </a:rPr>
              <a:t>知识  </a:t>
            </a:r>
            <a:r>
              <a:rPr>
                <a:solidFill>
                  <a:srgbClr val="151A21"/>
                </a:solidFill>
              </a:rPr>
              <a:t>代数重排不足以缩短完整路径；驻留、角色、同步屏障、流水、布局与分发的协同才形成稳定收益。</a:t>
            </a:r>
          </a:p>
        </p:txBody>
      </p:sp>
    </p:spTree>
    <p:extLst>
      <p:ext uri="{BB962C8B-B14F-4D97-AF65-F5344CB8AC3E}">
        <p14:creationId xmlns:p14="http://schemas.microsoft.com/office/powerpoint/2010/main" val="165130585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7cf6f003f942bb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406DF5-6EB0-4C91-B060-54A2036A5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6825" y="257175"/>
            <a:ext cx="781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97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奶龙必胜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46D463-D1D4-4C46-95B0-D21F0F07E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1225" y="228600"/>
            <a:ext cx="0" cy="2952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A8298"/>
            </a:solidFill>
            <a:prstDash val="solid"/>
          </a:ln>
        </p:spPr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eaf0770f3d4e9f"/>
          <a:stretch xmlns:a="http://schemas.openxmlformats.org/drawingml/2006/main"/>
        </p:blipFill>
        <p:spPr>
          <a:xfrm xmlns:a="http://schemas.openxmlformats.org/drawingml/2006/main">
            <a:off x="9934575" y="19050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E46BA0-A008-4021-A229-6D6A5C315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228600"/>
            <a:ext cx="0" cy="2952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A8298"/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ee4f6f90a54a83"/>
          <a:stretch xmlns:a="http://schemas.openxmlformats.org/drawingml/2006/main"/>
        </p:blipFill>
        <p:spPr>
          <a:xfrm xmlns:a="http://schemas.openxmlformats.org/drawingml/2006/main">
            <a:off x="10544175" y="249963"/>
            <a:ext cx="1104900" cy="25254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202428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EC07C1B-B7E4-4239-A29C-968D947FD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125" b="1" i="0">
                <a:solidFill>
                  <a:srgbClr val="2F7A6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 i="0">
                <a:solidFill>
                  <a:srgbClr val="2F7A68"/>
                </a:solidFill>
                <a:latin typeface="Noto Sans CJK SC"/>
                <a:ea typeface="Noto Sans CJK SC"/>
                <a:cs typeface="Noto Sans CJK SC"/>
              </a:rPr>
              <a:t>14  结论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91297A-3145-444E-ADD3-DC17EB795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315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证据驱动的条件部署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58AD3D-82C5-4D2F-AA5E-F33291557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1920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A829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4D6A3F-E1C9-4DF4-AAD6-145D0B89D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6825" y="276225"/>
            <a:ext cx="781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97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奶龙必胜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F857E4-34AF-4FCC-A4FA-EEE682C2D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1225" y="247650"/>
            <a:ext cx="0" cy="2952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A8298"/>
            </a:solidFill>
            <a:prstDash val="solid"/>
          </a:ln>
        </p:spPr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a337dcbb3d4afd"/>
          <a:stretch xmlns:a="http://schemas.openxmlformats.org/drawingml/2006/main"/>
        </p:blipFill>
        <p:spPr>
          <a:xfrm xmlns:a="http://schemas.openxmlformats.org/drawingml/2006/main">
            <a:off x="9934575" y="20955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FF1F8F-D012-4001-8D6F-97857B668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247650"/>
            <a:ext cx="0" cy="2952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A8298"/>
            </a:solidFill>
            <a:prstDash val="solid"/>
          </a:ln>
        </p:spPr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836c15b6dd432b"/>
          <a:stretch xmlns:a="http://schemas.openxmlformats.org/drawingml/2006/main"/>
        </p:blipFill>
        <p:spPr>
          <a:xfrm xmlns:a="http://schemas.openxmlformats.org/drawingml/2006/main">
            <a:off x="10544175" y="269013"/>
            <a:ext cx="1104900" cy="252549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F755D1-8A17-4CDA-8293-E212F48D8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050" b="0" i="0">
                <a:solidFill>
                  <a:srgbClr val="AAB1B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 i="0">
                <a:solidFill>
                  <a:srgbClr val="AAB1B8"/>
                </a:solidFill>
                <a:latin typeface="Noto Sans CJK SC"/>
                <a:ea typeface="Noto Sans CJK SC"/>
                <a:cs typeface="Noto Sans CJK SC"/>
              </a:rPr>
              <a:t>14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B56A31-AF5D-4ED0-9B24-47EC65B70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66850"/>
            <a:ext cx="1028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每个请求依次通过执行身份、递推正确性和 public-full 证据，再决定后端。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4754AA-7102-4FEC-9968-B13A8EDBA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95700"/>
            <a:ext cx="8001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1D2E"/>
          </a:solidFill>
          <a:ln xmlns:a="http://schemas.openxmlformats.org/drawingml/2006/main" w="17145">
            <a:solidFill>
              <a:srgbClr val="D2AA5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EE6524-718D-4960-9E93-06749D71F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90950"/>
            <a:ext cx="533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50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运行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150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请求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EF61D8-380F-46C3-ADD6-3F7714366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610100"/>
            <a:ext cx="1200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05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rPr>
              <a:t>device · profile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6C4166-7D07-4308-BD28-7E3004E5B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095750"/>
            <a:ext cx="5467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66707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2AA214-EFE2-4A10-8D9B-67CC94A41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397192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5F91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AE49A7-5793-40D9-B592-745847A44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1432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rPr>
              <a:t>执行身份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84B8A25-B70C-4A56-B88C-B23B32419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438525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05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rPr>
              <a:t>实际 module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390CC60-C827-4977-8258-72DD636B9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3925" y="397192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6A3D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A83085F-414E-473B-A5D1-D4EB48433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4577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 i="0">
                <a:solidFill>
                  <a:srgbClr val="C66A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 i="0">
                <a:solidFill>
                  <a:srgbClr val="C66A3D"/>
                </a:solidFill>
                <a:latin typeface="Noto Sans CJK SC"/>
                <a:ea typeface="Noto Sans CJK SC"/>
                <a:cs typeface="Noto Sans CJK SC"/>
              </a:rPr>
              <a:t>递推正确性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379D4EE-E813-4C01-900C-E990085C2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752975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05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rPr>
              <a:t>output + final state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5BF2169-8B86-4A3A-B82F-C70EB3DEB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397192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7A6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643A135-5F2F-4503-814C-8340DB0BC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1432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 i="0">
                <a:solidFill>
                  <a:srgbClr val="2F7A6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 i="0">
                <a:solidFill>
                  <a:srgbClr val="2F7A68"/>
                </a:solidFill>
                <a:latin typeface="Noto Sans CJK SC"/>
                <a:ea typeface="Noto Sans CJK SC"/>
                <a:cs typeface="Noto Sans CJK SC"/>
              </a:rPr>
              <a:t>公开完整计时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5BE0AF7-419C-4292-9048-6DF945AC2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438525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05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rPr>
              <a:t>public-full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A01C762-F80F-41B3-9195-651B14190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333750"/>
            <a:ext cx="0" cy="1619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66707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9FA298E-683E-4D56-AA80-44C84B838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333750"/>
            <a:ext cx="390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0">
            <a:solidFill>
              <a:srgbClr val="2F7A6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A5F4689-2676-4AE8-B065-0C5F895D8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953000"/>
            <a:ext cx="390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75">
            <a:solidFill>
              <a:srgbClr val="2C5F9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7356F68-0A46-4B8E-BED6-1845B3A99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53725" y="32194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7A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7F68362-8D6E-42F8-9EF0-7DA2446E6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48577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5F9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9ED35EA-E622-4C97-AE5F-F56BE3EFC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9527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125" b="1" i="0">
                <a:solidFill>
                  <a:srgbClr val="2F7A6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 i="0">
                <a:solidFill>
                  <a:srgbClr val="2F7A68"/>
                </a:solidFill>
                <a:latin typeface="Noto Sans CJK SC"/>
                <a:ea typeface="Noto Sans CJK SC"/>
                <a:cs typeface="Noto Sans CJK SC"/>
              </a:rPr>
              <a:t>全部通过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C8A15C6-8501-4787-BEC0-B85FD2EC4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086350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125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rPr>
              <a:t>否则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8FC1F98-5DE8-4DE4-A718-E7ADD2D96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19350"/>
            <a:ext cx="2647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2025" b="1" i="0">
                <a:solidFill>
                  <a:srgbClr val="2F7A6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 i="0">
                <a:solidFill>
                  <a:srgbClr val="2F7A68"/>
                </a:solidFill>
                <a:latin typeface="Noto Sans CJK SC"/>
                <a:ea typeface="Noto Sans CJK SC"/>
                <a:cs typeface="Noto Sans CJK SC"/>
              </a:rPr>
              <a:t>SM100 专用后端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658AC70-ACFF-4EAE-B505-B59062C3B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838450"/>
            <a:ext cx="2647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350" b="0" i="0">
                <a:solidFill>
                  <a:srgbClr val="2F7A6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 i="0">
                <a:solidFill>
                  <a:srgbClr val="2F7A68"/>
                </a:solidFill>
                <a:latin typeface="Noto Sans CJK SC"/>
                <a:ea typeface="Noto Sans CJK SC"/>
                <a:cs typeface="Noto Sans CJK SC"/>
              </a:rPr>
              <a:t>T2 · 仅认证 profile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FAEA123-B305-4729-8E21-3FA6315F9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257800"/>
            <a:ext cx="2647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2025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rPr>
              <a:t>HMMA 兼容后端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90D8B97-92F6-410C-903A-D192DEB3A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657850"/>
            <a:ext cx="2933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275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rPr>
              <a:t>默认回退 · 保持跨代可用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A63EA7D-0D24-454D-BA65-2531C5EB7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53150"/>
            <a:ext cx="10572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3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DC4AFE2-77D8-4D05-BEE2-30E11FACF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436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b="1">
                <a:solidFill>
                  <a:srgbClr val="C66A3D"/>
                </a:solidFill>
              </a:rPr>
              <a:t>路由原则  </a:t>
            </a:r>
            <a:r>
              <a:rPr>
                <a:solidFill>
                  <a:srgbClr val="151A21"/>
                </a:solidFill>
              </a:rPr>
              <a:t>已认证 profile 才进入 SM100，未覆盖或证据不足时保留 HMMA。</a:t>
            </a:r>
          </a:p>
        </p:txBody>
      </p:sp>
    </p:spTree>
    <p:extLst>
      <p:ext uri="{BB962C8B-B14F-4D97-AF65-F5344CB8AC3E}">
        <p14:creationId xmlns:p14="http://schemas.microsoft.com/office/powerpoint/2010/main" val="68774986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B7DC593-2559-4479-B04B-FC8980930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6191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300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000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论文方法图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9E12E8-6C61-4F0C-8A63-47A5F7E49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71500"/>
            <a:ext cx="2914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125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rPr>
              <a:t>论文图 1  方法框架摘录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8D74C1-A39C-42E0-9B1D-7B918FD7D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6825" y="247650"/>
            <a:ext cx="781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97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1" i="0">
                <a:solidFill>
                  <a:srgbClr val="151A21"/>
                </a:solidFill>
                <a:latin typeface="Noto Sans CJK SC"/>
                <a:ea typeface="Noto Sans CJK SC"/>
                <a:cs typeface="Noto Sans CJK SC"/>
              </a:rPr>
              <a:t>奶龙必胜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799A62-15D8-4E61-911F-5523F8D45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1225" y="219075"/>
            <a:ext cx="0" cy="2952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A8298"/>
            </a:solidFill>
            <a:prstDash val="solid"/>
          </a:ln>
        </p:spPr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5ae8a0ec204af9"/>
          <a:stretch xmlns:a="http://schemas.openxmlformats.org/drawingml/2006/main"/>
        </p:blipFill>
        <p:spPr>
          <a:xfrm xmlns:a="http://schemas.openxmlformats.org/drawingml/2006/main">
            <a:off x="9934575" y="180975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8FDE82-00F4-4CD0-BEF3-034CFAA67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219075"/>
            <a:ext cx="0" cy="2952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A8298"/>
            </a:solidFill>
            <a:prstDash val="solid"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c52a6f56d14a37"/>
          <a:stretch xmlns:a="http://schemas.openxmlformats.org/drawingml/2006/main"/>
        </p:blipFill>
        <p:spPr>
          <a:xfrm xmlns:a="http://schemas.openxmlformats.org/drawingml/2006/main">
            <a:off x="10544175" y="240438"/>
            <a:ext cx="1104900" cy="252549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59EE9C-A5E0-4C72-BAD1-E89286C80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14450"/>
            <a:ext cx="6858000" cy="3810000"/>
          </a:xfrm>
          <a:prstGeom xmlns:a="http://schemas.openxmlformats.org/drawingml/2006/main" prst="roundRect">
            <a:avLst>
              <a:gd name="adj" fmla="val 7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3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533d66fced4817"/>
          <a:stretch xmlns:a="http://schemas.openxmlformats.org/drawingml/2006/main"/>
        </p:blipFill>
        <p:spPr>
          <a:xfrm xmlns:a="http://schemas.openxmlformats.org/drawingml/2006/main">
            <a:off x="838200" y="1622247"/>
            <a:ext cx="6572250" cy="3175357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6577A6-E8D7-40EB-8485-5E64BA66F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40970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125" b="1" i="0">
                <a:solidFill>
                  <a:srgbClr val="C66A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 i="0">
                <a:solidFill>
                  <a:srgbClr val="C66A3D"/>
                </a:solidFill>
                <a:latin typeface="Noto Sans CJK SC"/>
                <a:ea typeface="Noto Sans CJK SC"/>
                <a:cs typeface="Noto Sans CJK SC"/>
              </a:rPr>
              <a:t>图中方法的中文释义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19505C-82BC-413A-98BC-783972C90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666875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66A3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B1BD5D-C61E-469E-B77A-1D1C2B788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9812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rPr>
              <a:t>双分支搜索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E993F0-0863-41ED-9142-E241F3E22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05050"/>
            <a:ext cx="323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75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rPr>
              <a:t>HMMA 与 tcgen05 独立优化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A9474A-EA21-47DB-A7E7-9704ECF66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7622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1" i="0">
                <a:solidFill>
                  <a:srgbClr val="C66A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C66A3D"/>
                </a:solidFill>
                <a:latin typeface="Noto Sans CJK SC"/>
                <a:ea typeface="Noto Sans CJK SC"/>
                <a:cs typeface="Noto Sans CJK SC"/>
              </a:rPr>
              <a:t>证据式晋级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53E9D3-700D-4E6F-90A0-29FBF4C67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086100"/>
            <a:ext cx="323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75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rPr>
              <a:t>实际路径、正确性、成本同时携带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66290A-D0EC-4059-82B6-A10D9C47E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5433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2C5F91"/>
                </a:solidFill>
                <a:latin typeface="Noto Sans CJK SC"/>
                <a:ea typeface="Noto Sans CJK SC"/>
                <a:cs typeface="Noto Sans CJK SC"/>
              </a:rPr>
              <a:t>双层中间表示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64247AC-B5EA-4654-BF19-13E4D75F9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867150"/>
            <a:ext cx="323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75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rPr>
              <a:t>把运行数据转成带适用范围的经验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223D41B-728E-448B-A610-FE891CC62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3243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1" i="0">
                <a:solidFill>
                  <a:srgbClr val="C66A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C66A3D"/>
                </a:solidFill>
                <a:latin typeface="Noto Sans CJK SC"/>
                <a:ea typeface="Noto Sans CJK SC"/>
                <a:cs typeface="Noto Sans CJK SC"/>
              </a:rPr>
              <a:t>部署策略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8E257A-5345-47F3-891C-2A3B58867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648200"/>
            <a:ext cx="323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75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rPr>
              <a:t>已认证 SM100 路径，未覆盖 profile 回退 HMMA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F7E3A98-C08D-4DF9-8F5D-85B3ADFDA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10810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3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567DCB2-3E6B-42DE-91EA-0A6409E7E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848350"/>
            <a:ext cx="8858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2C33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b="1">
                <a:solidFill>
                  <a:srgbClr val="C66A3D"/>
                </a:solidFill>
              </a:rPr>
              <a:t>最终回答  </a:t>
            </a:r>
            <a:r>
              <a:rPr b="1">
                <a:solidFill>
                  <a:srgbClr val="151A21"/>
                </a:solidFill>
              </a:rPr>
              <a:t>SM100 值得以受条件保护的后端方式加入 FlashKDA。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8516AD0-E946-43DC-B386-EDD9F7298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362700"/>
            <a:ext cx="1857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20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 i="0">
                <a:solidFill>
                  <a:srgbClr val="66707A"/>
                </a:solidFill>
                <a:latin typeface="Noto Sans CJK SC"/>
                <a:ea typeface="Noto Sans CJK SC"/>
                <a:cs typeface="Noto Sans CJK SC"/>
              </a:rPr>
              <a:t>提问　奶龙必胜</a:t>
            </a:r>
          </a:p>
        </p:txBody>
      </p:sp>
    </p:spTree>
    <p:extLst>
      <p:ext uri="{BB962C8B-B14F-4D97-AF65-F5344CB8AC3E}">
        <p14:creationId xmlns:p14="http://schemas.microsoft.com/office/powerpoint/2010/main" val="1780421369"/>
      </p:ext>
    </p:extLst>
  </p:cSld>
</p:sld>
</file>

<file path=ppt/theme/theme1.xml><?xml version="1.0" encoding="utf-8"?>
<a:theme xmlns:a="http://schemas.openxmlformats.org/drawingml/2006/main" name="答辩公开版">
  <a:themeElements>
    <a:clrScheme name="答辩公开版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Noto Sans CJK SC"/>
        <a:ea typeface="Noto Sans CJK SC"/>
        <a:cs typeface="Noto Sans CJK SC"/>
      </a:majorFont>
      <a:minorFont>
        <a:latin typeface="Noto Sans CJK SC"/>
        <a:ea typeface="Noto Sans CJK SC"/>
        <a:cs typeface="Noto Sans CJK SC"/>
      </a:minorFont>
    </a:fontScheme>
    <a:fmtScheme name="答辩公开版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奶龙必胜</dc:creator>
  <lastModifiedBy>Walnut Exporter</lastModifiedBy>
  <dc:title>FlashKDA SM100 迁移分析</dc:title>
  <dcterms:created xsi:type="dcterms:W3CDTF">2026-09-11T02:36:33.2970000Z</dcterms:created>
  <dcterms:modified xsi:type="dcterms:W3CDTF">2026-09-11T02:36:33.2970000Z</dcterms:modified>
</coreProperties>
</file>