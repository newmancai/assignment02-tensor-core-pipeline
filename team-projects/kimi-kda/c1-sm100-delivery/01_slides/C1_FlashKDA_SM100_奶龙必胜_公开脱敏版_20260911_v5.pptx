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e194c3bb6e4896" /><Relationship Type="http://schemas.openxmlformats.org/officeDocument/2006/relationships/extended-properties" Target="/docProps/app.xml" Id="R3d28b5f686cc44ee" /><Relationship Type="http://schemas.openxmlformats.org/officeDocument/2006/relationships/officeDocument" Target="/ppt/presentation.xml" Id="Rb0366cf31fd34a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2fbe8134574de2"/>
  </p:sldMasterIdLst>
  <p:notesMasterIdLst>
    <p:notesMasterId xmlns:r="http://schemas.openxmlformats.org/officeDocument/2006/relationships" r:id="Rfead30ef4f834e21"/>
  </p:notesMasterIdLst>
  <p:sldIdLst>
    <p:sldId xmlns:r="http://schemas.openxmlformats.org/officeDocument/2006/relationships" id="256" r:id="Rc1552aac74da4996"/>
    <p:sldId xmlns:r="http://schemas.openxmlformats.org/officeDocument/2006/relationships" id="257" r:id="R71aca926ceff4785"/>
    <p:sldId xmlns:r="http://schemas.openxmlformats.org/officeDocument/2006/relationships" id="258" r:id="Re603dca4ae954f9b"/>
    <p:sldId xmlns:r="http://schemas.openxmlformats.org/officeDocument/2006/relationships" id="259" r:id="Rc79dd8ad08b142e5"/>
    <p:sldId xmlns:r="http://schemas.openxmlformats.org/officeDocument/2006/relationships" id="260" r:id="Re95afe5a1ea54c1a"/>
    <p:sldId xmlns:r="http://schemas.openxmlformats.org/officeDocument/2006/relationships" id="261" r:id="R397b71e95ed14f8c"/>
    <p:sldId xmlns:r="http://schemas.openxmlformats.org/officeDocument/2006/relationships" id="262" r:id="R7447fc4c16884959"/>
    <p:sldId xmlns:r="http://schemas.openxmlformats.org/officeDocument/2006/relationships" id="263" r:id="Rd692e995a12b447d"/>
    <p:sldId xmlns:r="http://schemas.openxmlformats.org/officeDocument/2006/relationships" id="264" r:id="Rc52596d9866a45b4"/>
    <p:sldId xmlns:r="http://schemas.openxmlformats.org/officeDocument/2006/relationships" id="265" r:id="R905f00133a904670"/>
    <p:sldId xmlns:r="http://schemas.openxmlformats.org/officeDocument/2006/relationships" id="266" r:id="R8f56a838655b45c8"/>
    <p:sldId xmlns:r="http://schemas.openxmlformats.org/officeDocument/2006/relationships" id="267" r:id="R3247ae36bd374420"/>
    <p:sldId xmlns:r="http://schemas.openxmlformats.org/officeDocument/2006/relationships" id="268" r:id="R43729cbd3fca4dca"/>
    <p:sldId xmlns:r="http://schemas.openxmlformats.org/officeDocument/2006/relationships" id="269" r:id="R19200cd33e4e4bb6"/>
    <p:sldId xmlns:r="http://schemas.openxmlformats.org/officeDocument/2006/relationships" id="270" r:id="R4fde746e54de4d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5f3aff77104d13" /><Relationship Type="http://schemas.openxmlformats.org/officeDocument/2006/relationships/slideMaster" Target="/ppt/slideMasters/slideMaster1.xml" Id="R362fbe8134574de2" /><Relationship Type="http://schemas.openxmlformats.org/officeDocument/2006/relationships/notesMaster" Target="/ppt/notesMasters/notesMaster1.xml" Id="Rfead30ef4f834e21" /><Relationship Type="http://schemas.openxmlformats.org/officeDocument/2006/relationships/presProps" Target="/ppt/presProps.xml" Id="Rb899f5a4a08e483f" /><Relationship Type="http://schemas.openxmlformats.org/officeDocument/2006/relationships/tableStyles" Target="/ppt/tableStyles.xml" Id="R52556825cc86480c" /><Relationship Type="http://schemas.openxmlformats.org/officeDocument/2006/relationships/slide" Target="/ppt/slides/slide1.xml" Id="Rc1552aac74da4996" /><Relationship Type="http://schemas.openxmlformats.org/officeDocument/2006/relationships/slide" Target="/ppt/slides/slide2.xml" Id="R71aca926ceff4785" /><Relationship Type="http://schemas.openxmlformats.org/officeDocument/2006/relationships/slide" Target="/ppt/slides/slide3.xml" Id="Re603dca4ae954f9b" /><Relationship Type="http://schemas.openxmlformats.org/officeDocument/2006/relationships/slide" Target="/ppt/slides/slide4.xml" Id="Rc79dd8ad08b142e5" /><Relationship Type="http://schemas.openxmlformats.org/officeDocument/2006/relationships/slide" Target="/ppt/slides/slide5.xml" Id="Re95afe5a1ea54c1a" /><Relationship Type="http://schemas.openxmlformats.org/officeDocument/2006/relationships/slide" Target="/ppt/slides/slide6.xml" Id="R397b71e95ed14f8c" /><Relationship Type="http://schemas.openxmlformats.org/officeDocument/2006/relationships/slide" Target="/ppt/slides/slide7.xml" Id="R7447fc4c16884959" /><Relationship Type="http://schemas.openxmlformats.org/officeDocument/2006/relationships/slide" Target="/ppt/slides/slide8.xml" Id="Rd692e995a12b447d" /><Relationship Type="http://schemas.openxmlformats.org/officeDocument/2006/relationships/slide" Target="/ppt/slides/slide9.xml" Id="Rc52596d9866a45b4" /><Relationship Type="http://schemas.openxmlformats.org/officeDocument/2006/relationships/slide" Target="/ppt/slides/slide10.xml" Id="R905f00133a904670" /><Relationship Type="http://schemas.openxmlformats.org/officeDocument/2006/relationships/slide" Target="/ppt/slides/slide11.xml" Id="R8f56a838655b45c8" /><Relationship Type="http://schemas.openxmlformats.org/officeDocument/2006/relationships/slide" Target="/ppt/slides/slide12.xml" Id="R3247ae36bd374420" /><Relationship Type="http://schemas.openxmlformats.org/officeDocument/2006/relationships/slide" Target="/ppt/slides/slide13.xml" Id="R43729cbd3fca4dca" /><Relationship Type="http://schemas.openxmlformats.org/officeDocument/2006/relationships/slide" Target="/ppt/slides/slide14.xml" Id="R19200cd33e4e4bb6" /><Relationship Type="http://schemas.openxmlformats.org/officeDocument/2006/relationships/slide" Target="/ppt/slides/slide15.xml" Id="R4fde746e54de4d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76ea30c55c4f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答辩公开版">
  <a:themeElements>
    <a:clrScheme name="答辩公开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Noto Sans CJK SC"/>
        <a:ea typeface="Noto Sans CJK SC"/>
        <a:cs typeface="Noto Sans CJK SC"/>
      </a:majorFont>
      <a:minorFont>
        <a:latin typeface="Noto Sans CJK SC"/>
        <a:ea typeface="Noto Sans CJK SC"/>
        <a:cs typeface="Noto Sans CJK SC"/>
      </a:minorFont>
    </a:fontScheme>
    <a:fmtScheme name="答辩公开版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67d6e0d73b4348" /><Relationship Type="http://schemas.openxmlformats.org/officeDocument/2006/relationships/notesMaster" Target="/ppt/notesMasters/notesMaster1.xml" Id="R32b87793133c4a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45f44b626b40ef" /><Relationship Type="http://schemas.openxmlformats.org/officeDocument/2006/relationships/notesMaster" Target="/ppt/notesMasters/notesMaster1.xml" Id="R0a0ae158a59d4f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35b38946d04bbb" /><Relationship Type="http://schemas.openxmlformats.org/officeDocument/2006/relationships/notesMaster" Target="/ppt/notesMasters/notesMaster1.xml" Id="Rb3b692a541be4a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331476580b4526" /><Relationship Type="http://schemas.openxmlformats.org/officeDocument/2006/relationships/notesMaster" Target="/ppt/notesMasters/notesMaster1.xml" Id="R69ead8313b014a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b70037002e4adb" /><Relationship Type="http://schemas.openxmlformats.org/officeDocument/2006/relationships/notesMaster" Target="/ppt/notesMasters/notesMaster1.xml" Id="R25f8c7bb63be43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7ff084324e4b6b" /><Relationship Type="http://schemas.openxmlformats.org/officeDocument/2006/relationships/notesMaster" Target="/ppt/notesMasters/notesMaster1.xml" Id="R4dbbede6284e43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25408319ce4505" /><Relationship Type="http://schemas.openxmlformats.org/officeDocument/2006/relationships/notesMaster" Target="/ppt/notesMasters/notesMaster1.xml" Id="R4e92fafbfe2a4f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2f0fb40c70413e" /><Relationship Type="http://schemas.openxmlformats.org/officeDocument/2006/relationships/notesMaster" Target="/ppt/notesMasters/notesMaster1.xml" Id="R8184e3e62f934f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608dc520f84bd3" /><Relationship Type="http://schemas.openxmlformats.org/officeDocument/2006/relationships/notesMaster" Target="/ppt/notesMasters/notesMaster1.xml" Id="R41c28c1b109449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9b48dcaddd4559" /><Relationship Type="http://schemas.openxmlformats.org/officeDocument/2006/relationships/notesMaster" Target="/ppt/notesMasters/notesMaster1.xml" Id="R580efce7723d405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30b66a6d094162" /><Relationship Type="http://schemas.openxmlformats.org/officeDocument/2006/relationships/notesMaster" Target="/ppt/notesMasters/notesMaster1.xml" Id="Rdef7abca057c41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09108fe45cc4c7a" /><Relationship Type="http://schemas.openxmlformats.org/officeDocument/2006/relationships/notesMaster" Target="/ppt/notesMasters/notesMaster1.xml" Id="R58f9abd2827a43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b25d801cf294f61" /><Relationship Type="http://schemas.openxmlformats.org/officeDocument/2006/relationships/notesMaster" Target="/ppt/notesMasters/notesMaster1.xml" Id="Receb197c8f0f48c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862c4787ade4abc" /><Relationship Type="http://schemas.openxmlformats.org/officeDocument/2006/relationships/notesMaster" Target="/ppt/notesMasters/notesMaster1.xml" Id="R1230a12850ec421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add8837911f4cba" /><Relationship Type="http://schemas.openxmlformats.org/officeDocument/2006/relationships/notesMaster" Target="/ppt/notesMasters/notesMaster1.xml" Id="Re88980e69c9143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4134288a1945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b374d06dd1465e" /><Relationship Type="http://schemas.openxmlformats.org/officeDocument/2006/relationships/slideLayout" Target="/ppt/slideLayouts/slideLayout1.xml" Id="R9a97b86eee7543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97b86eee7543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Noto Sans CJK SC"/>
          <a:ea typeface="Noto Sans CJK SC"/>
          <a:cs typeface="Noto Sans CJK SC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otherStyle>
  </p:txStyles>
</p:sldMaster>
</file>

<file path=ppt/slideMasters/theme/theme2.xml><?xml version="1.0" encoding="utf-8"?>
<a:theme xmlns:a="http://schemas.openxmlformats.org/drawingml/2006/main" name="答辩公开版">
  <a:themeElements>
    <a:clrScheme name="答辩公开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Noto Sans CJK SC"/>
        <a:ea typeface="Noto Sans CJK SC"/>
        <a:cs typeface="Noto Sans CJK SC"/>
      </a:majorFont>
      <a:minorFont>
        <a:latin typeface="Noto Sans CJK SC"/>
        <a:ea typeface="Noto Sans CJK SC"/>
        <a:cs typeface="Noto Sans CJK SC"/>
      </a:minorFont>
    </a:fontScheme>
    <a:fmtScheme name="答辩公开版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19caee9e945f1" /><Relationship Type="http://schemas.openxmlformats.org/officeDocument/2006/relationships/image" Target="/ppt/media/image.png" Id="Rfe10e46aa998446a" /><Relationship Type="http://schemas.openxmlformats.org/officeDocument/2006/relationships/image" Target="/ppt/media/image2.png" Id="Ra418cdf976374873" /><Relationship Type="http://schemas.openxmlformats.org/officeDocument/2006/relationships/notesSlide" Target="/ppt/notesSlides/notesSlide1.xml" Id="Re2d51be5fd8a4e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ad855f1ec4171" /><Relationship Type="http://schemas.openxmlformats.org/officeDocument/2006/relationships/image" Target="/ppt/media/image3.png" Id="R4e3c7f709e654723" /><Relationship Type="http://schemas.openxmlformats.org/officeDocument/2006/relationships/image" Target="/ppt/media/image4.png" Id="R0a050a4e5d7a4c21" /><Relationship Type="http://schemas.openxmlformats.org/officeDocument/2006/relationships/notesSlide" Target="/ppt/notesSlides/notesSlide2.xml" Id="R0a8cc916f5234f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0827c7dca4016" /><Relationship Type="http://schemas.openxmlformats.org/officeDocument/2006/relationships/image" Target="/ppt/media/image5.png" Id="Rada901917627434c" /><Relationship Type="http://schemas.openxmlformats.org/officeDocument/2006/relationships/image" Target="/ppt/media/image6.png" Id="Rc6fd6d2ec71f4090" /><Relationship Type="http://schemas.openxmlformats.org/officeDocument/2006/relationships/notesSlide" Target="/ppt/notesSlides/notesSlide3.xml" Id="Rdc4e8da949cd4d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17aba08d84ce8" /><Relationship Type="http://schemas.openxmlformats.org/officeDocument/2006/relationships/image" Target="/ppt/media/image7.png" Id="Raba5789eb021429e" /><Relationship Type="http://schemas.openxmlformats.org/officeDocument/2006/relationships/image" Target="/ppt/media/image8.png" Id="Rbcd99d211ae44a57" /><Relationship Type="http://schemas.openxmlformats.org/officeDocument/2006/relationships/notesSlide" Target="/ppt/notesSlides/notesSlide4.xml" Id="R48db0b7c3d4b40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f3a3749494f72" /><Relationship Type="http://schemas.openxmlformats.org/officeDocument/2006/relationships/image" Target="/ppt/media/image9.png" Id="Radbb7e8376854715" /><Relationship Type="http://schemas.openxmlformats.org/officeDocument/2006/relationships/image" Target="/ppt/media/image10.png" Id="R1054af86726a46b4" /><Relationship Type="http://schemas.openxmlformats.org/officeDocument/2006/relationships/notesSlide" Target="/ppt/notesSlides/notesSlide5.xml" Id="Rb460cafec8f54f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7146aa3e648fb" /><Relationship Type="http://schemas.openxmlformats.org/officeDocument/2006/relationships/image" Target="/ppt/media/image11.png" Id="Rba637ee10e024485" /><Relationship Type="http://schemas.openxmlformats.org/officeDocument/2006/relationships/image" Target="/ppt/media/image12.png" Id="R1d8562da2141434d" /><Relationship Type="http://schemas.openxmlformats.org/officeDocument/2006/relationships/notesSlide" Target="/ppt/notesSlides/notesSlide6.xml" Id="R2d1ada7b9c464d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f5156665d470e" /><Relationship Type="http://schemas.openxmlformats.org/officeDocument/2006/relationships/image" Target="/ppt/media/image13.png" Id="Rab3ce8f9cac54588" /><Relationship Type="http://schemas.openxmlformats.org/officeDocument/2006/relationships/image" Target="/ppt/media/image14.png" Id="R37c28b4a654441e0" /><Relationship Type="http://schemas.openxmlformats.org/officeDocument/2006/relationships/image" Target="/ppt/media/image15.png" Id="Rf6677ee704c94700" /><Relationship Type="http://schemas.openxmlformats.org/officeDocument/2006/relationships/notesSlide" Target="/ppt/notesSlides/notesSlide7.xml" Id="R65db03b61f8c40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873b5141b4167" /><Relationship Type="http://schemas.openxmlformats.org/officeDocument/2006/relationships/image" Target="/ppt/media/image16.png" Id="R79b0d50c761c4137" /><Relationship Type="http://schemas.openxmlformats.org/officeDocument/2006/relationships/image" Target="/ppt/media/image17.png" Id="R2bbfd6f1373c4634" /><Relationship Type="http://schemas.openxmlformats.org/officeDocument/2006/relationships/image" Target="/ppt/media/image18.png" Id="R6fbecc5c88274a88" /><Relationship Type="http://schemas.openxmlformats.org/officeDocument/2006/relationships/notesSlide" Target="/ppt/notesSlides/notesSlide8.xml" Id="Rf35f59994e844d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5e69544f14835" /><Relationship Type="http://schemas.openxmlformats.org/officeDocument/2006/relationships/image" Target="/ppt/media/image19.png" Id="R8f4d0b5e6f2144cb" /><Relationship Type="http://schemas.openxmlformats.org/officeDocument/2006/relationships/image" Target="/ppt/media/image20.png" Id="Rc736b458bc4a4e72" /><Relationship Type="http://schemas.openxmlformats.org/officeDocument/2006/relationships/notesSlide" Target="/ppt/notesSlides/notesSlide9.xml" Id="R75b2bcaf34ee41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1300bcdd34d63" /><Relationship Type="http://schemas.openxmlformats.org/officeDocument/2006/relationships/image" Target="/ppt/media/image21.png" Id="Rd16b0934a9d24065" /><Relationship Type="http://schemas.openxmlformats.org/officeDocument/2006/relationships/image" Target="/ppt/media/image22.png" Id="Re876e9f78d834f7c" /><Relationship Type="http://schemas.openxmlformats.org/officeDocument/2006/relationships/notesSlide" Target="/ppt/notesSlides/notesSlide10.xml" Id="Ra94813039e7e48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0c1bc32ee4b42" /><Relationship Type="http://schemas.openxmlformats.org/officeDocument/2006/relationships/image" Target="/ppt/media/image23.png" Id="R9df47f95c7194cf3" /><Relationship Type="http://schemas.openxmlformats.org/officeDocument/2006/relationships/image" Target="/ppt/media/image24.png" Id="R95f64ab9c7124c43" /><Relationship Type="http://schemas.openxmlformats.org/officeDocument/2006/relationships/notesSlide" Target="/ppt/notesSlides/notesSlide11.xml" Id="Rff2d6c8543da4b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6c32388ed4904" /><Relationship Type="http://schemas.openxmlformats.org/officeDocument/2006/relationships/image" Target="/ppt/media/image25.png" Id="Rc36035a46da84fea" /><Relationship Type="http://schemas.openxmlformats.org/officeDocument/2006/relationships/image" Target="/ppt/media/image26.png" Id="R17b626c23c974bcb" /><Relationship Type="http://schemas.openxmlformats.org/officeDocument/2006/relationships/notesSlide" Target="/ppt/notesSlides/notesSlide12.xml" Id="R0a0f049ab4ca4f1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4fae8becc42b5" /><Relationship Type="http://schemas.openxmlformats.org/officeDocument/2006/relationships/image" Target="/ppt/media/image27.png" Id="Reda6f96c68fa43a6" /><Relationship Type="http://schemas.openxmlformats.org/officeDocument/2006/relationships/image" Target="/ppt/media/image28.png" Id="R51db474bdb1f4cb6" /><Relationship Type="http://schemas.openxmlformats.org/officeDocument/2006/relationships/image" Target="/ppt/media/image29.png" Id="R5b39c206dfda4f61" /><Relationship Type="http://schemas.openxmlformats.org/officeDocument/2006/relationships/notesSlide" Target="/ppt/notesSlides/notesSlide13.xml" Id="R25882343500f41b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0323f10184a96" /><Relationship Type="http://schemas.openxmlformats.org/officeDocument/2006/relationships/image" Target="/ppt/media/image30.png" Id="Rfde9fcc426ef4c8c" /><Relationship Type="http://schemas.openxmlformats.org/officeDocument/2006/relationships/image" Target="/ppt/media/image31.png" Id="Re4613fad0b534c72" /><Relationship Type="http://schemas.openxmlformats.org/officeDocument/2006/relationships/notesSlide" Target="/ppt/notesSlides/notesSlide14.xml" Id="Rff26ef6d69214a9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cb0d5b64e4e3c" /><Relationship Type="http://schemas.openxmlformats.org/officeDocument/2006/relationships/image" Target="/ppt/media/image32.png" Id="R8c172a1bcaa74730" /><Relationship Type="http://schemas.openxmlformats.org/officeDocument/2006/relationships/image" Target="/ppt/media/image33.png" Id="R773d7729332348a5" /><Relationship Type="http://schemas.openxmlformats.org/officeDocument/2006/relationships/image" Target="/ppt/media/image34.png" Id="R1ffde45d78944bed" /><Relationship Type="http://schemas.openxmlformats.org/officeDocument/2006/relationships/hyperlink" Target="https://github.com/newmancai/assignment02-tensor-core-pipeline/tree/main/team-projects/kimi-kda/c1-sm100-delivery" TargetMode="External" Id="Rec8b78d34de84a0a" /><Relationship Type="http://schemas.openxmlformats.org/officeDocument/2006/relationships/notesSlide" Target="/ppt/notesSlides/notesSlide15.xml" Id="R1dc8ab7b93dc41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3FB8BD-1D3E-4C4E-9ABE-7B1E215C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2A829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2A8298"/>
                </a:solidFill>
                <a:latin typeface="Noto Sans CJK SC"/>
                <a:ea typeface="Noto Sans CJK SC"/>
                <a:cs typeface="Noto Sans CJK SC"/>
              </a:rPr>
              <a:t>C1  ·  FlashKDA on SM100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6C168-5B66-4FE6-A5AD-A4E03543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100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1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CCCA5-DE69-4697-B9B8-3788D4B2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24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10e46aa998446a"/>
          <a:stretch xmlns:a="http://schemas.openxmlformats.org/drawingml/2006/main"/>
        </p:blipFill>
        <p:spPr>
          <a:xfrm xmlns:a="http://schemas.openxmlformats.org/drawingml/2006/main">
            <a:off x="9829800" y="314325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03C70-719D-4F3C-86B3-708A4961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524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18cdf976374873"/>
          <a:stretch xmlns:a="http://schemas.openxmlformats.org/drawingml/2006/main"/>
        </p:blipFill>
        <p:spPr>
          <a:xfrm xmlns:a="http://schemas.openxmlformats.org/drawingml/2006/main">
            <a:off x="10439400" y="373788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8E65CE-B6B4-4C2B-ADDB-87A35FAB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382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CB68AA8-F0EE-472D-8C58-2BEA42F8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24050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43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3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FlashKDA 迁移到 SM100</a:t>
            </a:r>
          </a:p>
          <a:p xmlns:a="http://schemas.openxmlformats.org/drawingml/2006/main">
            <a:pPr algn="ctr">
              <a:lnSpc>
                <a:spcPct val="98000"/>
              </a:lnSpc>
              <a:buNone/>
              <a:defRPr sz="43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3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是否值得？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54B08A-DDB4-4F97-85E2-CB452DE7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3855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B300 上的复现、因果分析与双分支探索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A0CAEB-5DA9-4C9C-89D8-22016BAA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40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451D51-C827-493B-BD5B-CFAD3716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912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复现与测量  ·  分析与知识写回  ·  挑战与条件部署</a:t>
            </a:r>
          </a:p>
        </p:txBody>
      </p:sp>
    </p:spTree>
    <p:extLst>
      <p:ext uri="{BB962C8B-B14F-4D97-AF65-F5344CB8AC3E}">
        <p14:creationId xmlns:p14="http://schemas.microsoft.com/office/powerpoint/2010/main" val="14161325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D67A36-2D3A-4A1A-94D5-CEAF5DE9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02  主线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928C0-4EB2-4AB8-9084-FAE270BD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C1 研究主线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0224B-26DD-407C-94CD-58B18950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73FDD-8AF4-4031-ABE0-4826F1B2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466A9-8129-4AB5-B14D-FF296B62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c7f709e654723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8890E-478D-48E0-86BE-999F2DD3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050a4e5d7a4c21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1A3675-A12C-40E4-BF16-38AA0BC6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1049CF-97CF-4B74-A398-898E67ED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66707A"/>
                </a:solidFill>
              </a:rPr>
              <a:t>研究问题  </a:t>
            </a:r>
            <a:r>
              <a:rPr b="1">
                <a:solidFill>
                  <a:srgbClr val="151A21"/>
                </a:solidFill>
              </a:rPr>
              <a:t>在同一套 FlashKDA 接口与数值约束下，SM100 原生路径能否产生足以覆盖迁移成本的实际收益？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57D90E-5403-4AC8-BC98-AC5C8D2C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5D6DE4-EAF6-4C6B-AB5B-B1A765AA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479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复现与测量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61664C-B02A-4D7F-8BFA-D0E54E99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574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锁定执行身份、正确性与公开接口计时边界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E8D1C5-45B7-4FFD-8120-BCE38B40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574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指令身份、利用率与计时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AA2EA0-D3B4-460B-9595-CE2BA25C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575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14D464-B0E0-46D4-B8C2-1B903CD2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D1B153-5A4F-48D2-8D13-3CDA53D5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956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分析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D383EA-D6B2-4D84-A788-9FF48100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052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用双分支闭环生成可比证据，再把六问收敛为规律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F92AAB-E246-4517-9B5B-BC70B5D6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052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35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双分支 agent 与双层 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F09AE3-8148-40D6-8940-239C3D96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052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FF6040-1DCE-4A7E-9242-178D0854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D35BF2-8A3B-4508-A652-243A5ED4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434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挑战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9EFF8A-78BB-4BD2-BDB6-5B6B6AF6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529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沿四条路径推进候选，并用数据与知识完成晋级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0D86E1-E88B-4FB6-9DF4-2B55D968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52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3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替换、布局与全栈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2C4113-AC15-4172-BC97-93D353C6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530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29BA6F-33C6-49F9-8CE0-86DD5844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578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2F7A68"/>
                </a:solidFill>
              </a:rPr>
              <a:t>回答  </a:t>
            </a:r>
            <a:r>
              <a:rPr>
                <a:solidFill>
                  <a:srgbClr val="151A21"/>
                </a:solidFill>
              </a:rPr>
              <a:t>在已测 B300 工作负载上，SM100 值得以受条件保护的后端方式加入；有效迁移单位是全栈协同，而不是单独替换矩阵乘加指令。</a:t>
            </a:r>
          </a:p>
        </p:txBody>
      </p:sp>
    </p:spTree>
    <p:extLst>
      <p:ext uri="{BB962C8B-B14F-4D97-AF65-F5344CB8AC3E}">
        <p14:creationId xmlns:p14="http://schemas.microsoft.com/office/powerpoint/2010/main" val="20129213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757738-3457-42F4-BA23-CB867CA2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03  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83D7C-8C4A-4115-A935-90F318B1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KDA 递推结构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40DCB-B1D7-41DB-8C70-97DBB8E3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474FF-1608-4B79-A667-7F958141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9E6E6-9CE9-4EED-94CA-103EF5B9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a901917627434c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DB5FF4-0FE9-48FD-8344-062F287F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fd6d2ec71f4090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DE0DA-CC5D-42BF-ABDA-0C642517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045A0-6DBD-42AE-82A2-521C2B0A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一个 chunk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B7BE4D-C8B6-4CE4-A952-56DF53E4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0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DCE8BC-CA3C-4A55-BC3A-896C800A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42875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9EFF6"/>
          </a:solidFill>
          <a:ln xmlns:a="http://schemas.openxmlformats.org/drawingml/2006/main" w="9525">
            <a:solidFill>
              <a:srgbClr val="2C5F9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5E435A-D97E-4F58-B116-31579F61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1200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state t−1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4125F6-A0AD-46A6-B642-799336E9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76450"/>
            <a:ext cx="161925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3F817C-3EE3-491C-830A-959FEC7C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76450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K1  prepare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BCC08A-40A7-41CF-A280-2A5F4671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43100"/>
            <a:ext cx="2381250" cy="9715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5EAE3"/>
          </a:solidFill>
          <a:ln xmlns:a="http://schemas.openxmlformats.org/drawingml/2006/main" w="9525">
            <a:solidFill>
              <a:srgbClr val="C66A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2A0675-32A1-4B17-AF12-E03ED96B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0025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8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K2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8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16-step recurrence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FC257A-6D08-4FF7-B750-CB0E3937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state 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DA2484-0666-4929-BEAD-741AE536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288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51DA0A-98CA-4AB2-82AF-7D4B8031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90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A2D2A4-EBA3-4809-9EFF-191E4012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288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E029D6-3458-466A-A886-B095FCA7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90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886918-C3F8-4295-93CE-81516DC7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288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2EC5D6-5AD4-42DB-A735-CEEF5767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90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1413D6-0CC6-481C-B85F-2AF8809B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288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EF9439-206C-439F-B3CB-D123DB3A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0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next chunk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585CF1-4144-462F-8E27-AB8AE4D4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71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B11CAE-E954-4229-B615-E2375A2C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CHUNK = 16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7F6A42-CE1E-4E7F-A385-63939727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4810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数值范围、16×16 求解与 SM80 MMA 形状共同形成的设计点。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91A7F7-7B21-41F7-90D3-3C0A829A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6245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F2F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4A6704-16E4-432D-9613-3C011B06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递推正确性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8EB12D-8333-4471-8668-EC32FCE5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9105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一次调用要同时验证 output 与 final state；连续调用还要检查 state handoff。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34A5F3-7D34-437A-98F1-F436B6ED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054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F2F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52EBB3-8FBC-478D-96E0-76229CB7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可利用并行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DC74A2-6D8C-4FF6-92BC-E7517577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33400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chunk 内 K2 串行，但 head、value slice、sequence 与角色仍可并行。</a:t>
            </a:r>
          </a:p>
        </p:txBody>
      </p:sp>
    </p:spTree>
    <p:extLst>
      <p:ext uri="{BB962C8B-B14F-4D97-AF65-F5344CB8AC3E}">
        <p14:creationId xmlns:p14="http://schemas.microsoft.com/office/powerpoint/2010/main" val="10183160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A21CFF-DC98-4E45-81D2-25838A88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04  复现与测量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9EC33-F75B-4DA0-8230-BFBF987A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官方路径仍使用 HMMA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A1571-267B-4B61-8D87-F19FC674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C4E842-798E-4202-AA91-CD1BC3E3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99F26-CD70-4EE5-ABC8-8C32050D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a5789eb021429e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1357F6-298B-4D7A-95DA-EF0E0F05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99d211ae44a57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6CDCF-DE91-4824-92D9-1124EC8A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AB603-DA27-4F27-A590-8393169E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执行身份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846F8-2E64-4D25-AD17-07D58FFB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5F9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1C642D-D9FD-47F1-84A6-29D02CA1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FlashKDA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6BF2C1-9888-487F-9656-8D7FC876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版本已固定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FBF06A-F397-4C70-BF94-0269A75C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431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3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7EC24F-9CBF-4A5E-AC0E-C84501B0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05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C3644A-6B94-4DA8-95E0-A1A49D6F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43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CUTLASS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3619B5-8725-4D92-A65B-370543E0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版本已固定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798090-2BCF-41F8-B07D-1269ECE5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431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3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A37FA0-1DAB-4170-BC81-306F543B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05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D46621-AD3D-42EF-8455-104322CD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43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目标架构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35993F-2980-4D7B-831B-8501EEC3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sm_103a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EB6A06-3FBE-423C-BD6C-624DBF2B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431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3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731387-D581-4218-B5B6-553494FC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05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A0CB39-0C10-45AE-8B6C-94CA375F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反汇编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A03A26-7387-4601-9326-9E06109E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实际加载 .so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21CC00-DC9A-4EFD-831E-0E7A8849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0" cy="395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C699B4-3CD5-4468-8B99-B64B6A9D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4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3,640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CF5E59-8E84-4723-9864-F1669BF4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条 HMMA 矩阵乘加指令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32CAA3-AE9C-417A-8F65-41212A42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42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8D4079-E2EB-4CFB-8D80-E2727BAD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SM100 原生 tcgen05、UTCMMA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97710A-D690-484E-B2BD-22E4C34E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530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源码命名不是证据；实际加载二进制的指令身份才是。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1FA0F7-4227-48B5-ABCA-E29881A2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983EB4-0F9D-450E-819F-0B836D86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同一复现同时记录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AF2321-D0DC-4F60-84C4-54012A25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B23EDB-870A-4537-A476-F010A06F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14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实际加载模块路径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748D4F-1465-4783-BC37-34466606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9AAAEB-FFE8-44B0-8C04-346570D8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源码与二进制 SHA-256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F47235-9EC9-4B0D-AF93-EE88241B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B7C766-4332-435D-A7BE-649F7FAC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38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Python 导入来源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DDEE1E-551C-41D6-A35C-DED56056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08D33F-3EB2-4FBC-A51A-ACA283B0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00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CUDA 头文件版本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C099CB-0654-45F6-AE72-694DEA39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4564E2-E482-4BCA-9D35-BE589CCD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5626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实际执行路径</a:t>
            </a:r>
          </a:p>
        </p:txBody>
      </p:sp>
    </p:spTree>
    <p:extLst>
      <p:ext uri="{BB962C8B-B14F-4D97-AF65-F5344CB8AC3E}">
        <p14:creationId xmlns:p14="http://schemas.microsoft.com/office/powerpoint/2010/main" val="19487430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F74E3E-D215-47E4-97FD-089F7FCE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05  复现与测量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ABBEA-CDCC-4A0B-9398-951149FF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计时与正确性边界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CBE39-5FC2-4170-9164-58459FBD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B6D42-643A-41F4-9083-CFD092EF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9DF6C-C61D-42D1-9C9B-E262A6B3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bb7e8376854715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22D96-BC42-47CE-8933-D6E0C37C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4af86726a46b4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BAD0C9-1227-4A18-86CB-D18DA78F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0C5B2-6FB0-4B42-90B9-5A282564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382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计时边界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F15C57-8EE1-4725-BBB2-C3398DE1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C5F9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4FAC62-6180-4A2F-BA2B-78BF2171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首次编译与一次性分配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B8B87F-90BF-4F9E-A571-208D49A5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6096000" cy="6096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E9EFF6"/>
          </a:solidFill>
          <a:ln xmlns:a="http://schemas.openxmlformats.org/drawingml/2006/main" w="9525">
            <a:solidFill>
              <a:srgbClr val="2C5F9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73B9C-6F5B-4AFE-9167-7D70C176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布局处理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8AA661-B75C-4F64-BE11-2A02BD2F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05025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8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51EC5C-80BB-4179-AFD7-27112932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工作区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C303B8-DEAA-45D3-A51C-C406E20E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05025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8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9022CA-F7BF-4A14-8BC4-10D76E67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内核执行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825CF4-01C4-4FC1-8BC8-5B6BA74B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05025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8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CD873C-C06F-40FC-8FC7-ABAF2BD4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状态回写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9BA23E-977A-4A3B-A52A-6A3A11F2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764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后续调用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7DE7CD-B49C-491D-A721-079B7297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3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A27383-F260-42BA-A176-8AA26B92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743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4C335C-9427-4A3A-8C25-E2C6D802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813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C5F9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A191D5-F3C6-4813-A2DA-F053C6DD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241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C5F9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A437B8-A977-4FAC-AC64-F912B5BD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241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C5F9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40F5C9-0E17-4938-8D3D-3DA388C7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计时外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13D58D-F68C-49AF-8F87-C46E1D76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2417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公开接口计时范围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CF6C0D-95C3-4F4E-8037-3E85069D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2DD1DC-489E-4302-9D3A-021BB358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3A6982-90B9-4D49-8624-8746C9ED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86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状态一致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8BFC25-B660-4CA2-A41C-58419CD8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862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每次调用使用相同非零初态，重复测量时轮转状态槽位。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3BB310-898A-4B69-B38E-C63DB54B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CF6439-A142-4598-A364-79EF4467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005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进程隔离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DF808C-713C-477B-8930-90C94B55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4005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每个实现使用独立进程，避免 CUDA 符号覆盖改变实际执行路径。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2E20EE-99E7-45D9-8BF5-74AE5BD6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E58B1C-948F-4B2E-A96D-77D2903A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双重正确性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1982A8-BBDC-4C74-95D2-C1291AAF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914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同时检查输出与最终状态，并覆盖打包、尾块和连续两次调用。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A88C9F-4EB0-4CDD-81E1-4CC2C81A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11F4DD-1256-4972-9645-7F58EAA7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29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正式性能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31BE1B-9B83-4BBD-8D39-3A4CDE9B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4292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冷 L2、CUDA 性能接口（CUPTI）、平衡顺序与 ABBA 交替复测。</a:t>
            </a:r>
          </a:p>
        </p:txBody>
      </p:sp>
    </p:spTree>
    <p:extLst>
      <p:ext uri="{BB962C8B-B14F-4D97-AF65-F5344CB8AC3E}">
        <p14:creationId xmlns:p14="http://schemas.microsoft.com/office/powerpoint/2010/main" val="632938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0417D7-0704-408C-92A5-798C3E34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06  分析方法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4EE41-614A-453D-AB9B-916E1AF6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双分支的公平性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0E7D7-71F3-4D14-B8FC-A9E88C43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B23E1-3B13-4FB0-A61F-A34E4692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B8585-9C59-4CD3-B878-E32648C9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37ee10e024485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24CB1-2CC8-4BE1-AD73-9206F8A7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8562da2141434d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8A6D72-6225-4135-BC71-30320C58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19B0D-AB8B-4DCA-930E-927A9ADB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架构收益只能从“同预算的最优边界”中被分离出来。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F2B9D1-0854-4A80-BA95-3DCA125D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两条支路的搜索能量可以不同，但机会预算与证据门槛必须一致。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191671-7A88-47DB-807B-7F671C70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1104900" cy="2628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14288">
            <a:solidFill>
              <a:srgbClr val="D2AA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157D6-29D2-4628-BB18-822C6E3A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800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共同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5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7E5AFD-5782-41A2-BD08-9C45E665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80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0" i="0">
                <a:solidFill>
                  <a:srgbClr val="C9D3D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C9D3DC"/>
                </a:solidFill>
                <a:latin typeface="Noto Sans CJK SC"/>
                <a:ea typeface="Noto Sans CJK SC"/>
                <a:cs typeface="Noto Sans CJK SC"/>
              </a:rPr>
              <a:t>同一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125" b="0" i="0">
                <a:solidFill>
                  <a:srgbClr val="C9D3D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C9D3DC"/>
                </a:solidFill>
                <a:latin typeface="Noto Sans CJK SC"/>
                <a:ea typeface="Noto Sans CJK SC"/>
                <a:cs typeface="Noto Sans CJK SC"/>
              </a:rPr>
              <a:t>workload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31B4BC-00FB-4F70-8143-AA9C4FD9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1945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2C5F9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A8D0DF-474E-49DE-A48B-6D7DC4A7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B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B243BB-59A4-4290-86F2-A7C82AAC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765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B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FD0A7A-0BC7-4608-A411-C2DFA43A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78FF04-6604-42DC-9B21-948A2016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289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HMMA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088A32-045F-49BB-BBA9-3C1A4865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766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H0  官方路径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458019-C03D-42C7-AB2A-603635FA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766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H1  同预算最优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17EB87-40CA-4358-A43C-DC59944D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384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局部闭包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3DE1B9-A1EC-4665-827E-2872D43E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59105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0">
            <a:solidFill>
              <a:srgbClr val="C66A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9D9F26-FFE1-4E95-9EDC-AF8023C6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57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0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5B765E-4CBA-4F8E-8D28-81385A73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19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0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7FDBC5-F987-4B1E-A1CD-A0911ECA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76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286B97-CD84-4998-A2C1-172A12FA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101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tcgen05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E11DB2-685C-48D6-B40B-AB5E3A10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95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T0  同预算接入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453099-BF73-40B3-BFD0-CD15CEBA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9530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T1 / T2  布局与全栈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855D84-579B-4CA7-BCE6-430AA3EC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81250"/>
            <a:ext cx="0" cy="3543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ED6E2C-6D9B-4AEB-86AB-99BF20A4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955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共享证据合同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10582B-1AA6-4BAE-9C00-13AED913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051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0792F4-4E03-4E10-A8A9-C5BE66ED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67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工作负载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67189E-52D5-4AF5-BD90-09D00998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623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q / k / v、状态与打包边界一致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5BE5F5-62E4-489F-9D95-C9A712B9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481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065D85-CFF6-4AE2-893D-6EF2315F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10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机会预算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AD3A27-948A-4D42-B548-679EC6CA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0527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候选数与搜索机会按轮匹配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6CA6C1-46C9-4250-AFE1-896700B6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910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D10872-E6ED-4861-A52F-460ABE81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529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证据门槛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DCC359-16E7-431E-9A6A-6DA98E3C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482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身份、双重正确性与 public-full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1E768A-B7C1-49A1-8252-AB032BF6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41020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760052-F1E7-484B-B65E-F149ACC9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619750"/>
            <a:ext cx="3371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2F7A68"/>
                </a:solidFill>
              </a:rPr>
              <a:t>比较对象  </a:t>
            </a:r>
            <a:r>
              <a:rPr>
                <a:solidFill>
                  <a:srgbClr val="151A21"/>
                </a:solidFill>
              </a:rPr>
              <a:t>两条支路在同一合同下得到的最优边界。</a:t>
            </a:r>
          </a:p>
        </p:txBody>
      </p:sp>
    </p:spTree>
    <p:extLst>
      <p:ext uri="{BB962C8B-B14F-4D97-AF65-F5344CB8AC3E}">
        <p14:creationId xmlns:p14="http://schemas.microsoft.com/office/powerpoint/2010/main" val="4606888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3ce8f9cac5458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0A6EB-D22F-4C21-9C5E-D20C4835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5717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181052-29D0-4971-A368-FAE1B306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286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c28b4a654441e0"/>
          <a:stretch xmlns:a="http://schemas.openxmlformats.org/drawingml/2006/main"/>
        </p:blipFill>
        <p:spPr>
          <a:xfrm xmlns:a="http://schemas.openxmlformats.org/drawingml/2006/main">
            <a:off x="9934575" y="1905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42833-67F7-426C-A9C3-A3AB5A60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286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677ee704c94700"/>
          <a:stretch xmlns:a="http://schemas.openxmlformats.org/drawingml/2006/main"/>
        </p:blipFill>
        <p:spPr>
          <a:xfrm xmlns:a="http://schemas.openxmlformats.org/drawingml/2006/main">
            <a:off x="10544175" y="249963"/>
            <a:ext cx="1104900" cy="25254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6983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b0d50c761c413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9FF14-3E3C-4D4E-866D-1D24A9DE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5717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BA96E-E043-4548-96A7-0941903B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286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bfd6f1373c4634"/>
          <a:stretch xmlns:a="http://schemas.openxmlformats.org/drawingml/2006/main"/>
        </p:blipFill>
        <p:spPr>
          <a:xfrm xmlns:a="http://schemas.openxmlformats.org/drawingml/2006/main">
            <a:off x="9934575" y="1905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7E8A4-1ADB-4787-AC1D-D4863416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286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becc5c88274a88"/>
          <a:stretch xmlns:a="http://schemas.openxmlformats.org/drawingml/2006/main"/>
        </p:blipFill>
        <p:spPr>
          <a:xfrm xmlns:a="http://schemas.openxmlformats.org/drawingml/2006/main">
            <a:off x="10544175" y="249963"/>
            <a:ext cx="1104900" cy="25254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284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79C5E7-7432-42D6-8F3E-BCEB44DF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09  分析结论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84DC5-C79E-49F1-9AF7-C90D15AF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三个关键结论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F3F5F0-1F66-4EB2-B096-4DE98F26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1BFBD-44BA-4AA4-B2EB-66E6E88B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4DBDC-7020-4DCD-BFB8-437C199C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d0b5e6f2144cb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EBC5F-2815-4886-A03B-4A4C1F50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6b458bc4a4e72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5944F-D680-4C44-AA58-00F9CF46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58429-EEA6-4F48-AA92-C881F9E4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Q1 · Q5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5D540E-5F37-455D-9C14-642D8F47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240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数值约束决定分块设计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B3464-FD47-4803-A27E-5F6EE370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90725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CHUNK16 同时约束指数恢复、16×16 求解和 BF16 状态舍入；扩大到 C32/C64 需要重新缩放或分块求解。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EDA161-DB3A-432C-B268-76C9CC66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7165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输出、最终状态、连续两次调用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45C8C3-ECD2-4A05-89C9-7CAB452B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19400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8D76BB-7D2B-4000-8F35-E0B243C9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Q2 · Q4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18B209-317E-4E18-BA22-A1A8D66F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670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分块合法不等于整体高效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3C2ED0-7D74-404E-88DF-B02BDF87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33775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tcgen05 还要承担张量内存（TMEM）、地址描述符、同步和读回；H12 受低并行度与关键路径限制。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348145-09AB-4F4B-BE39-D2BA76DD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1470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V128 0.920×   计算/显存 2.64%/1.24%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51BA33-ABA6-4D40-9229-52581CAD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62450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D1DF99-E461-4D15-8A17-D6D9D44A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Q3 · Q6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2B361E-C468-4D26-8190-F8ECB52F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101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并行机会决定迁移和部署方式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844063-10D8-4224-99F1-7B1A14F5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76825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注意力头、数值维、序列和生产/消费角色仍可并行；收益经工作负载认证后进入条件后端。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8F125D-7BAD-4E42-B524-AE60FBBD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5775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H12 value 切片时延 −27.0%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9D76EB-157F-489D-8382-8EAD58B7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905500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42800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7750BF-3810-4A98-B4B1-FEA552E0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10  挑战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E3675-9BC8-4552-8ADA-92FEDF01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四条挑战路径的投入与回报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559ED7-11D4-45D4-81BE-4C45277C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273BA-ABD9-4278-99BA-636D3C8A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AF8527-CF93-438B-A51F-6021A390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6b0934a9d24065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97EEE8-20E5-46C5-8875-020638DE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6e9f78d834f7c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D19A8-12FA-4B51-BC31-01677A7D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86F278-597C-4BD0-9EBF-67668F30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核心探针与 public-full 分开标注，1.0× 表示各自基线。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924F4D-38FD-41EE-B8CC-3573986C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33600"/>
            <a:ext cx="0" cy="3276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3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0471F-71CE-498B-AF7B-9E766AB7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10200"/>
            <a:ext cx="855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3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AD6988-B1C9-44D5-A687-CF0269E8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14850"/>
            <a:ext cx="855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51A2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34BE3-DD58-4E4A-A3BB-62138DC7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00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1.0×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B41ED0-0E6A-41F0-85C0-AECE9AD9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实测加速比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B578D7-E575-4D62-911E-8D8F5972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4D4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AF8213-F02E-4F05-A99F-09BB9CD1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2100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0.920×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CDA219-6E8A-4907-82E7-E53BD2C4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43250"/>
            <a:ext cx="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66A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CEE4A3-622B-4BC6-B8E6-C210D4B6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9E649F-D02B-4D6D-9C22-51E0E36C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838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4D4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D71222-4E57-432E-932B-B515CD46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7432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core  1.615×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425C57-B8BB-4591-B57B-4118212E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838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public  0.779×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520BAB-2556-4C31-9776-DC21E5DF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82905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承载成本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66237D-B0C4-4141-87DB-6806A2A3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10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4D4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35082C-3D6B-4256-964D-B9B9D61D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672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0.906×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811A29-12E9-47BF-945B-B35879BC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193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11430">
            <a:solidFill>
              <a:srgbClr val="2F7A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A566B6-7E89-4BA3-B454-D848F10F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09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53626A-9618-4B21-97A5-190AAABC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954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2.482×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BC2FD0-3D88-4A6A-ACCA-3402EA8E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194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9 / 9 获益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22A15C-5DFC-4C85-8543-63F7B99A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340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3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DC3BFD-4BB9-4B7E-AA5C-EA0BD1DB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5816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01  Direct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FB0FA3-7770-4D16-8B59-D71986F2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674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矩阵乘加替换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1EAD71-04B2-4EC7-AC77-5DEC68B9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3340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3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56A9E4-8429-4344-B57D-12C427B6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5816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02  V16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5208E2-7A0C-4810-8866-9F3072C5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8674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布局与 carrier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90C02C-E1F7-4395-8CEE-979EAFA0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340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3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47A9D4-B98A-49D6-A19C-3918B22B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5816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03  H3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22A249-34FE-41A1-B57E-629415CD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8674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数据流重排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7E4F59-9EEB-41A9-828D-73E5B1DD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340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3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A91228-DDC5-4674-8A84-6A1AB3FF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5816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04  CAKE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E72995-B54B-4DC3-800F-732BB12B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8674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全栈协同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B1B2DC-7816-472C-B94D-202DAF6B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055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C66A3D"/>
                </a:solidFill>
              </a:rPr>
              <a:t>轨迹展示的不是线性进步。 </a:t>
            </a:r>
            <a:r>
              <a:rPr>
                <a:solidFill>
                  <a:srgbClr val="151A21"/>
                </a:solidFill>
              </a:rPr>
              <a:t>Direct 和 H3 留下负边界，V16 揭示 carrier 问题，CAKE 才将这些知识组成完整收益。</a:t>
            </a:r>
          </a:p>
        </p:txBody>
      </p:sp>
    </p:spTree>
    <p:extLst>
      <p:ext uri="{BB962C8B-B14F-4D97-AF65-F5344CB8AC3E}">
        <p14:creationId xmlns:p14="http://schemas.microsoft.com/office/powerpoint/2010/main" val="5371048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DE8B1EA-2CF8-4842-B1E1-3FBBACD5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11  挑战结果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9DD8B-CA37-4E39-8D40-A520D78B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tcgen05 的承载成本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2F7D9-EF11-44EA-BF5A-FE739E25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66FE2-2D14-4F1C-B6C6-74CB63F5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FDB7A-E5BC-4251-AE5E-1251E42D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47f95c7194cf3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329AC-34FE-4F55-BC84-4FB60D59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64ab9c7124c43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DECD16-25FA-4C55-84C7-EAB28EE2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17CCDD-757F-4E61-8D1F-F1D8A35D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每一行使用自己的基线和计时范围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F4911E-F80E-461A-A32E-8B659602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669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241DC-82A0-4CBE-B4C9-A1504694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0.0×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471027-5440-4EF3-AD9F-D87DC600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125" y="18669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FD0AC2-51FA-4067-A057-4ABC35F3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0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0.5×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EBD2A4-A5DE-464C-892D-8FF7C572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750" y="18669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710B68-174E-489F-A3C2-240C6DAC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625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1.0×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6E5ECB-CB6E-42FF-8AA9-C85C6085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669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18FA2B-14E9-466A-9817-534734AC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1.5×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B62BE3-DB74-4FB2-8B3F-C38D4DBE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750" y="1971675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51A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6A2FDF-717B-40A5-BACE-13DEA999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Direct V128 直接替换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69548C-4215-4E5D-A3E9-3A771F9A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完整承载层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091441-216E-4633-BF44-EA1976D2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3358208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A84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4C2090-EEA0-4E70-9F0C-D0249835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008" y="20955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0.920×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33D126-E339-465D-B0A5-7678EA8B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V16 首选布局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DFBA1E-916B-430E-8BF9-A2270DD3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核心探针 L0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DEB6D8-9FBF-4907-8D1D-F1F7CAE9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38500"/>
            <a:ext cx="5896845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CA324E-76E8-4E76-B9A9-1E0A8EB1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9645" y="32385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1.615×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F4D987-CA84-499C-9AA9-604F9632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V16 标量重构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E8DDB2-6580-487C-90D0-28638FA5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承载层 L1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8A7802-B537-41D9-BD14-3DE9B136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81500"/>
            <a:ext cx="2842582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A84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B7BE73-EDF2-451A-B672-9B0B49FC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382" y="43815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0.779×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0358F5-F735-4AEC-8FAE-1C2999D5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71650"/>
            <a:ext cx="0" cy="369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725001-51F3-4618-B6C5-3FC62C53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9812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承载层成本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395C54-1957-4CEC-8BD4-4CBD03A2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571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地址描述符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6A085D-6ECC-4D66-B782-CDEFF33D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337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F2F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C7B7BF-02BA-489F-8B4D-B6FE79A4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67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张量内存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64E4C2-5195-45C8-B1AF-8EC467D5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4290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F2F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D126DE-87EA-4157-8CB6-332A8F3A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562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提交 / 等待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61FB61-C018-4116-B4D6-AE087164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243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F2F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00FFA6-DB21-45CC-90E3-1894CBC9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057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结果读回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868CD6-EAF8-4D7D-A8BF-F4CD11DB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196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F2F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7306A5-3D0D-45E5-9386-A1AE654D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552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数据布局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DBE4C6-9303-44F8-BBBB-A8156E0B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C66A3D"/>
                </a:solidFill>
              </a:rPr>
              <a:t>知识  </a:t>
            </a:r>
            <a:r>
              <a:rPr>
                <a:solidFill>
                  <a:srgbClr val="151A21"/>
                </a:solidFill>
              </a:rPr>
              <a:t>tcgen05 核心计算有潜力，但布局、张量内存与同步协议决定公开路径是否胜出。</a:t>
            </a:r>
          </a:p>
        </p:txBody>
      </p:sp>
    </p:spTree>
    <p:extLst>
      <p:ext uri="{BB962C8B-B14F-4D97-AF65-F5344CB8AC3E}">
        <p14:creationId xmlns:p14="http://schemas.microsoft.com/office/powerpoint/2010/main" val="8127883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98E5D1-A4E1-4090-8CBC-D4BC9570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12  挑战结果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E1761-693C-4D59-AE78-5078DB22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CAKE 全栈路径：9/9 获益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2935A1-AF5E-4CC1-90DC-1E21055E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ED1DA1-E545-4F46-8508-E2D398E3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A9E0E-6FC4-49D8-973B-BFFC3415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6035a46da84fea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1791A-FD3B-4CD1-A354-1EA2FD47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b626c23c974bcb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1347E1-CF7D-467A-B0A5-07A242A4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8A73FD-6EA9-4E9A-8B2A-3DE0F8CE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公开接口完整加速比 = 官方时延 / 候选时延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665922-E864-4909-A16C-CCF78E9F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668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图示代表工作负载；H3 为局部重排，CAKE 为全栈协同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804CEB-55D9-4C50-BA68-0601470B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692" y="1885950"/>
            <a:ext cx="0" cy="3390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51A2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8B1273-F7D8-498D-8C1C-0A381767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192" y="5334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1.0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BD69D1-9C3E-4CAB-9648-98FD92B0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H3 · H12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1E2A35-4996-466A-BBDB-93FD1B08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公开接口完整计时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223EA-FE69-459E-B21E-E66259D8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38350"/>
            <a:ext cx="2388430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A84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91C748-2844-47F1-941C-07C8D722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1730" y="20383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0.905×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A91841-F2B4-4D0F-AF0F-7280AF47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H3 · H96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ED4AD4-6F5A-436C-8F5F-8E28EBDD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公开接口完整计时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6E2D5A-4B91-477A-9F3E-7F61D291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14650"/>
            <a:ext cx="1999635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A84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ECBB85-2B79-480B-A193-434B58A0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2935" y="29146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0.758×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BBAA18-143B-414A-8B30-4475E0DF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CAKE · H12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CA6590-90EA-4142-B155-9986502A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完整计时 · T2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0B1A2F-0632-4763-B828-336FEBFB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43350"/>
            <a:ext cx="6547544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697992-F483-4D9B-A8FB-21FA57AB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844" y="39433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2.482×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3224B3-4275-4747-8CC7-35D1EB5A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CAKE · H96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EB6FD7-1262-451E-8AB4-4E889B34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完整计时 · T2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F17292-5730-4BE1-AB67-637FE7BC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9650"/>
            <a:ext cx="5943248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E5511F-20B7-4F00-B3F1-090DD60C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548" y="48196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2.253×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700F6B-7746-4883-9806-8543D534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91EC0F-D1DD-44A7-9EB0-E101D0DE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2F7A68"/>
                </a:solidFill>
              </a:rPr>
              <a:t>知识  </a:t>
            </a:r>
            <a:r>
              <a:rPr>
                <a:solidFill>
                  <a:srgbClr val="151A21"/>
                </a:solidFill>
              </a:rPr>
              <a:t>代数重排不足以缩短完整路径；驻留、角色、同步屏障、流水、布局与分发的协同才形成稳定收益。</a:t>
            </a:r>
          </a:p>
        </p:txBody>
      </p:sp>
    </p:spTree>
    <p:extLst>
      <p:ext uri="{BB962C8B-B14F-4D97-AF65-F5344CB8AC3E}">
        <p14:creationId xmlns:p14="http://schemas.microsoft.com/office/powerpoint/2010/main" val="1775030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a6f96c68fa43a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C1E01-3CBD-46D6-9FEA-7CB35CBF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5717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2709A-C855-4D9F-8A87-F32E07FD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286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db474bdb1f4cb6"/>
          <a:stretch xmlns:a="http://schemas.openxmlformats.org/drawingml/2006/main"/>
        </p:blipFill>
        <p:spPr>
          <a:xfrm xmlns:a="http://schemas.openxmlformats.org/drawingml/2006/main">
            <a:off x="9934575" y="1905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4D08B-2119-4DCD-8DD0-D52312F1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286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39c206dfda4f61"/>
          <a:stretch xmlns:a="http://schemas.openxmlformats.org/drawingml/2006/main"/>
        </p:blipFill>
        <p:spPr>
          <a:xfrm xmlns:a="http://schemas.openxmlformats.org/drawingml/2006/main">
            <a:off x="10544175" y="249963"/>
            <a:ext cx="1104900" cy="25254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4533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08D281-810C-4AAB-BEF3-68C83CCB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14  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F1ECC-AB96-49E7-8C0F-2D780B50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证据驱动的条件部署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9A2C0-DB0E-40C9-8714-94F4046E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57E30-5917-4F6B-8A7A-B914882D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20B1F-1FDE-4506-B3B5-1ADD5413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e9fcc426ef4c8c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FB49D-3F55-414C-AD84-8EFCF6EE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613fad0b534c72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A8DB8F-2383-44D9-9D71-F0776D31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A950CA-B129-48A6-8D36-3694D491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每个请求依次通过执行身份、递推正确性和 public-full 证据，再决定后端。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6D3C28-F03E-4199-BB40-D4BADFC2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D2E"/>
          </a:solidFill>
          <a:ln xmlns:a="http://schemas.openxmlformats.org/drawingml/2006/main" w="17145">
            <a:solidFill>
              <a:srgbClr val="D2AA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12A283-73B1-4602-B733-E26FA288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53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运行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请求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52832C-2F02-44D4-8C40-20738BFE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010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device · profile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A63E3B-5FB4-4956-974E-00E3DA4B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95750"/>
            <a:ext cx="546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670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33D444-EB54-4C53-BB63-A66DDFE6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971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A257E3-B761-4529-B04E-26EBCFF5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43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执行身份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4DF470-43B5-4A82-B173-7F20CD96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385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实际 module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A2CEFA-9498-4B07-A0BD-A9D29714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971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6A3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096AA6-C1B8-4845-A29F-BC46D389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57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递推正确性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7310BE-D62F-411B-80B9-408BC900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529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output + final state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E3D7FA-7DFA-44D6-B9F0-424057FA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971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063E8C-ECD2-4A3C-A4A8-F7DB6A35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43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公开完整计时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C8E9A9-D797-4188-8F39-F5679815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385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public-full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77D0BF-D779-43D5-B948-271B8CEB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33750"/>
            <a:ext cx="0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6707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D9EEDD-7FBE-4654-9EF2-639330E4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3375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0">
            <a:solidFill>
              <a:srgbClr val="2F7A6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367517-A234-49F1-BD41-58C50F3D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5300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2C5F9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FC126F-E285-49FE-9351-F3DD1507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BEF0E4-4B9E-40D3-AFC5-C61E9E89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857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7BEAF0-C6D7-4397-A14D-0E447670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全部通过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FDFB87-3619-4452-8672-4371A370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86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否则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54E053-D577-460B-8D69-B3597643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1935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20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SM100 专用后端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6B539D-B7FD-47F9-A71D-127CEF98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384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350" b="0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T2 · 仅认证 profile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6F77DB-7B8E-4B8F-AAB4-CEABE4AD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5780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20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HMMA 兼容后端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630B39-5F1C-4739-8672-2AFB1670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5785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默认回退 · 保持跨代可用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A458E6-FEA2-4D6B-A88A-AE05FDCF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2AF8AA-D569-49E8-BE66-522A7520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C66A3D"/>
                </a:solidFill>
              </a:rPr>
              <a:t>路由原则  </a:t>
            </a:r>
            <a:r>
              <a:rPr>
                <a:solidFill>
                  <a:srgbClr val="151A21"/>
                </a:solidFill>
              </a:rPr>
              <a:t>已认证 profile 才进入 SM100，未覆盖或证据不足时保留 HMMA。</a:t>
            </a:r>
          </a:p>
        </p:txBody>
      </p:sp>
    </p:spTree>
    <p:extLst>
      <p:ext uri="{BB962C8B-B14F-4D97-AF65-F5344CB8AC3E}">
        <p14:creationId xmlns:p14="http://schemas.microsoft.com/office/powerpoint/2010/main" val="18070679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592A40-B02C-4222-B78D-8FEAD63C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论文方法图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BB472-21D3-41E9-8785-149FF2DD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论文图 1  方法框架摘录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5EAFC-00DE-44B8-9DF6-24485EFE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47650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C33639-2075-405A-B82B-BF0031F5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190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172a1bcaa74730"/>
          <a:stretch xmlns:a="http://schemas.openxmlformats.org/drawingml/2006/main"/>
        </p:blipFill>
        <p:spPr>
          <a:xfrm xmlns:a="http://schemas.openxmlformats.org/drawingml/2006/main">
            <a:off x="9934575" y="180975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65186-FE46-4CA2-ADED-170B20DB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190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3d7729332348a5"/>
          <a:stretch xmlns:a="http://schemas.openxmlformats.org/drawingml/2006/main"/>
        </p:blipFill>
        <p:spPr>
          <a:xfrm xmlns:a="http://schemas.openxmlformats.org/drawingml/2006/main">
            <a:off x="10544175" y="240438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6CE5B3-98C2-4A8B-9A16-C8E1AE13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6858000" cy="3810000"/>
          </a:xfrm>
          <a:prstGeom xmlns:a="http://schemas.openxmlformats.org/drawingml/2006/main" prst="roundRect">
            <a:avLst>
              <a:gd name="adj" fmla="val 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fde45d78944bed"/>
          <a:stretch xmlns:a="http://schemas.openxmlformats.org/drawingml/2006/main"/>
        </p:blipFill>
        <p:spPr>
          <a:xfrm xmlns:a="http://schemas.openxmlformats.org/drawingml/2006/main">
            <a:off x="838200" y="1622247"/>
            <a:ext cx="6572250" cy="3175357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85953-DA9F-42FA-8647-619DBB83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09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图中方法的中文释义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E2222-02DF-49DB-B197-8A03A694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6687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6A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2C9925-CF7A-4690-B0F7-AE3AE07D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81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双分支搜索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E431C4-633F-4898-8593-F5CB0BC7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050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HMMA 与 tcgen05 独立优化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2A01B8-F10F-44F4-95DE-E997612A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62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证据式晋级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01F0B3-961D-4A38-BD09-AC3F25B6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861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实际路径、正确性、成本同时携带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28DF35-447E-4C8B-ACDF-A7318551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43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双层中间表示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800615-B720-448F-99C4-A473196E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671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把运行数据转成带适用范围的经验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EE1E9D-57BE-479D-983E-304EF02C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24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部署策略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0CBC0A-3279-4166-B747-83DD2CE1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482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已认证 SM100 路径，未覆盖 profile 回退 HMMA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E89D00-1D7F-44C3-9081-5A04A240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17925E-55E9-4247-BC35-83E41C7C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C66A3D"/>
                </a:solidFill>
              </a:rPr>
              <a:t>最终回答  </a:t>
            </a:r>
            <a:r>
              <a:rPr b="1">
                <a:solidFill>
                  <a:srgbClr val="151A21"/>
                </a:solidFill>
              </a:rPr>
              <a:t>SM100 值得以受条件保护的后端方式加入 FlashKDA。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B26724-033A-47B9-8E91-FFDBB027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627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A829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 u="sng">
                <a:solidFill>
                  <a:srgbClr val="2A8298"/>
                </a:solidFill>
                <a:hlinkClick xmlns:r="http://schemas.openxmlformats.org/officeDocument/2006/relationships" r:id="Rec8b78d34de84a0a"/>
              </a:rPr>
              <a:t>GitHub · 代码与完整证据归档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DBC9EC-D898-4609-B061-94A2BA0E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627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提问　奶龙必胜</a:t>
            </a:r>
          </a:p>
        </p:txBody>
      </p:sp>
    </p:spTree>
    <p:extLst>
      <p:ext uri="{BB962C8B-B14F-4D97-AF65-F5344CB8AC3E}">
        <p14:creationId xmlns:p14="http://schemas.microsoft.com/office/powerpoint/2010/main" val="765356622"/>
      </p:ext>
    </p:extLst>
  </p:cSld>
</p:sld>
</file>

<file path=ppt/theme/theme1.xml><?xml version="1.0" encoding="utf-8"?>
<a:theme xmlns:a="http://schemas.openxmlformats.org/drawingml/2006/main" name="答辩公开版">
  <a:themeElements>
    <a:clrScheme name="答辩公开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Noto Sans CJK SC"/>
        <a:ea typeface="Noto Sans CJK SC"/>
        <a:cs typeface="Noto Sans CJK SC"/>
      </a:majorFont>
      <a:minorFont>
        <a:latin typeface="Noto Sans CJK SC"/>
        <a:ea typeface="Noto Sans CJK SC"/>
        <a:cs typeface="Noto Sans CJK SC"/>
      </a:minorFont>
    </a:fontScheme>
    <a:fmtScheme name="答辩公开版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奶龙必胜</dc:creator>
  <lastModifiedBy>Walnut Exporter</lastModifiedBy>
  <dc:title>FlashKDA SM100 迁移分析</dc:title>
  <dcterms:created xsi:type="dcterms:W3CDTF">2026-09-11T02:50:51.1690000Z</dcterms:created>
  <dcterms:modified xsi:type="dcterms:W3CDTF">2026-09-11T02:50:51.1690000Z</dcterms:modified>
</coreProperties>
</file>