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9e6b0e7c354a43" /><Relationship Type="http://schemas.openxmlformats.org/officeDocument/2006/relationships/extended-properties" Target="/docProps/app.xml" Id="R63ceb45c08ad4b51" /><Relationship Type="http://schemas.openxmlformats.org/officeDocument/2006/relationships/officeDocument" Target="/ppt/presentation.xml" Id="R17a2246e5a7e4f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4371873355436f"/>
  </p:sldMasterIdLst>
  <p:notesMasterIdLst>
    <p:notesMasterId xmlns:r="http://schemas.openxmlformats.org/officeDocument/2006/relationships" r:id="R50db819d289a41f5"/>
  </p:notesMasterIdLst>
  <p:sldIdLst>
    <p:sldId xmlns:r="http://schemas.openxmlformats.org/officeDocument/2006/relationships" id="256" r:id="R2bba1383a2e948de"/>
    <p:sldId xmlns:r="http://schemas.openxmlformats.org/officeDocument/2006/relationships" id="257" r:id="R135719265f8a4cf8"/>
    <p:sldId xmlns:r="http://schemas.openxmlformats.org/officeDocument/2006/relationships" id="258" r:id="Rd09eca65aaaa4aab"/>
    <p:sldId xmlns:r="http://schemas.openxmlformats.org/officeDocument/2006/relationships" id="259" r:id="Radda9b3067994893"/>
    <p:sldId xmlns:r="http://schemas.openxmlformats.org/officeDocument/2006/relationships" id="260" r:id="R5f1e1d7d01c94a2c"/>
    <p:sldId xmlns:r="http://schemas.openxmlformats.org/officeDocument/2006/relationships" id="261" r:id="R365c6b8250524423"/>
    <p:sldId xmlns:r="http://schemas.openxmlformats.org/officeDocument/2006/relationships" id="262" r:id="R7ccbeaaec54448c3"/>
    <p:sldId xmlns:r="http://schemas.openxmlformats.org/officeDocument/2006/relationships" id="263" r:id="Ra444f74402cf4c8f"/>
    <p:sldId xmlns:r="http://schemas.openxmlformats.org/officeDocument/2006/relationships" id="264" r:id="R70e3d2d9da364e1b"/>
    <p:sldId xmlns:r="http://schemas.openxmlformats.org/officeDocument/2006/relationships" id="265" r:id="R55306e6edffb4b57"/>
    <p:sldId xmlns:r="http://schemas.openxmlformats.org/officeDocument/2006/relationships" id="266" r:id="Ra740c6110f894e39"/>
    <p:sldId xmlns:r="http://schemas.openxmlformats.org/officeDocument/2006/relationships" id="267" r:id="R520769d1065b41b6"/>
    <p:sldId xmlns:r="http://schemas.openxmlformats.org/officeDocument/2006/relationships" id="268" r:id="R15b932bcae1642eb"/>
    <p:sldId xmlns:r="http://schemas.openxmlformats.org/officeDocument/2006/relationships" id="269" r:id="R8ced2cdf67894577"/>
    <p:sldId xmlns:r="http://schemas.openxmlformats.org/officeDocument/2006/relationships" id="270" r:id="R8d26754f0320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329a08aa1c4d81" /><Relationship Type="http://schemas.openxmlformats.org/officeDocument/2006/relationships/slideMaster" Target="/ppt/slideMasters/slideMaster1.xml" Id="R944371873355436f" /><Relationship Type="http://schemas.openxmlformats.org/officeDocument/2006/relationships/notesMaster" Target="/ppt/notesMasters/notesMaster1.xml" Id="R50db819d289a41f5" /><Relationship Type="http://schemas.openxmlformats.org/officeDocument/2006/relationships/presProps" Target="/ppt/presProps.xml" Id="R52027204722d454c" /><Relationship Type="http://schemas.openxmlformats.org/officeDocument/2006/relationships/viewProps" Target="/ppt/viewProps.xml" Id="R58ae453ef7e44f0c" /><Relationship Type="http://schemas.openxmlformats.org/officeDocument/2006/relationships/tableStyles" Target="/ppt/tableStyles.xml" Id="Rffc9e49f7b714fa3" /><Relationship Type="http://schemas.openxmlformats.org/officeDocument/2006/relationships/slide" Target="/ppt/slides/slide1.xml" Id="R2bba1383a2e948de" /><Relationship Type="http://schemas.openxmlformats.org/officeDocument/2006/relationships/slide" Target="/ppt/slides/slide2.xml" Id="R135719265f8a4cf8" /><Relationship Type="http://schemas.openxmlformats.org/officeDocument/2006/relationships/slide" Target="/ppt/slides/slide3.xml" Id="Rd09eca65aaaa4aab" /><Relationship Type="http://schemas.openxmlformats.org/officeDocument/2006/relationships/slide" Target="/ppt/slides/slide4.xml" Id="Radda9b3067994893" /><Relationship Type="http://schemas.openxmlformats.org/officeDocument/2006/relationships/slide" Target="/ppt/slides/slide5.xml" Id="R5f1e1d7d01c94a2c" /><Relationship Type="http://schemas.openxmlformats.org/officeDocument/2006/relationships/slide" Target="/ppt/slides/slide6.xml" Id="R365c6b8250524423" /><Relationship Type="http://schemas.openxmlformats.org/officeDocument/2006/relationships/slide" Target="/ppt/slides/slide7.xml" Id="R7ccbeaaec54448c3" /><Relationship Type="http://schemas.openxmlformats.org/officeDocument/2006/relationships/slide" Target="/ppt/slides/slide8.xml" Id="Ra444f74402cf4c8f" /><Relationship Type="http://schemas.openxmlformats.org/officeDocument/2006/relationships/slide" Target="/ppt/slides/slide9.xml" Id="R70e3d2d9da364e1b" /><Relationship Type="http://schemas.openxmlformats.org/officeDocument/2006/relationships/slide" Target="/ppt/slides/slide10.xml" Id="R55306e6edffb4b57" /><Relationship Type="http://schemas.openxmlformats.org/officeDocument/2006/relationships/slide" Target="/ppt/slides/slide11.xml" Id="Ra740c6110f894e39" /><Relationship Type="http://schemas.openxmlformats.org/officeDocument/2006/relationships/slide" Target="/ppt/slides/slide12.xml" Id="R520769d1065b41b6" /><Relationship Type="http://schemas.openxmlformats.org/officeDocument/2006/relationships/slide" Target="/ppt/slides/slide13.xml" Id="R15b932bcae1642eb" /><Relationship Type="http://schemas.openxmlformats.org/officeDocument/2006/relationships/slide" Target="/ppt/slides/slide14.xml" Id="R8ced2cdf67894577" /><Relationship Type="http://schemas.openxmlformats.org/officeDocument/2006/relationships/slide" Target="/ppt/slides/slide15.xml" Id="R8d26754f0320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f8a9e3288f45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3871575644a22" /><Relationship Type="http://schemas.openxmlformats.org/officeDocument/2006/relationships/notesMaster" Target="/ppt/notesMasters/notesMaster1.xml" Id="R7dd9a363bdad423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c1cdd966675460d" /><Relationship Type="http://schemas.openxmlformats.org/officeDocument/2006/relationships/notesMaster" Target="/ppt/notesMasters/notesMaster1.xml" Id="R3f24228ae54044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39d24b06fe44a0" /><Relationship Type="http://schemas.openxmlformats.org/officeDocument/2006/relationships/notesMaster" Target="/ppt/notesMasters/notesMaster1.xml" Id="Rd2be0ee188334d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53984cdffa469b" /><Relationship Type="http://schemas.openxmlformats.org/officeDocument/2006/relationships/notesMaster" Target="/ppt/notesMasters/notesMaster1.xml" Id="Rf0673e2cf7c749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b952ceb5a74fdd" /><Relationship Type="http://schemas.openxmlformats.org/officeDocument/2006/relationships/notesMaster" Target="/ppt/notesMasters/notesMaster1.xml" Id="R40c638a5bbeb4b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6a3874a7a49eb" /><Relationship Type="http://schemas.openxmlformats.org/officeDocument/2006/relationships/notesMaster" Target="/ppt/notesMasters/notesMaster1.xml" Id="R942c4bbfd5cb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f132c3f2e042a6" /><Relationship Type="http://schemas.openxmlformats.org/officeDocument/2006/relationships/notesMaster" Target="/ppt/notesMasters/notesMaster1.xml" Id="R10f6067af71b49d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48327f529848a6" /><Relationship Type="http://schemas.openxmlformats.org/officeDocument/2006/relationships/notesMaster" Target="/ppt/notesMasters/notesMaster1.xml" Id="R70eb0748bcd145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1bbc2576234cd2" /><Relationship Type="http://schemas.openxmlformats.org/officeDocument/2006/relationships/notesMaster" Target="/ppt/notesMasters/notesMaster1.xml" Id="R5039a94c729b4d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3e7e775af54b1a" /><Relationship Type="http://schemas.openxmlformats.org/officeDocument/2006/relationships/notesMaster" Target="/ppt/notesMasters/notesMaster1.xml" Id="Rdc0820c8087744c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f67a93acd54467b" /><Relationship Type="http://schemas.openxmlformats.org/officeDocument/2006/relationships/notesMaster" Target="/ppt/notesMasters/notesMaster1.xml" Id="R6f94be0e06a44bd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67370644e74d3f" /><Relationship Type="http://schemas.openxmlformats.org/officeDocument/2006/relationships/notesMaster" Target="/ppt/notesMasters/notesMaster1.xml" Id="R71bb16d6c7fc4f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4f43f8e5a4245b8" /><Relationship Type="http://schemas.openxmlformats.org/officeDocument/2006/relationships/notesMaster" Target="/ppt/notesMasters/notesMaster1.xml" Id="R04bdafed282b49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da202a5f165467f" /><Relationship Type="http://schemas.openxmlformats.org/officeDocument/2006/relationships/notesMaster" Target="/ppt/notesMasters/notesMaster1.xml" Id="R3c0f0b82c01b4a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27fd00a68d5422d" /><Relationship Type="http://schemas.openxmlformats.org/officeDocument/2006/relationships/notesMaster" Target="/ppt/notesMasters/notesMaster1.xml" Id="Rdaeef702342246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890626a2554c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27bacf73b4ab8" /><Relationship Type="http://schemas.openxmlformats.org/officeDocument/2006/relationships/slideLayout" Target="/ppt/slideLayouts/slideLayout1.xml" Id="R5532906e84cf45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2906e84cf45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7ed7157a34ac8" /><Relationship Type="http://schemas.openxmlformats.org/officeDocument/2006/relationships/notesSlide" Target="/ppt/notesSlides/notesSlide1.xml" Id="R6f72af2a75fe42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48fa537fa406f" /><Relationship Type="http://schemas.openxmlformats.org/officeDocument/2006/relationships/notesSlide" Target="/ppt/notesSlides/notesSlide2.xml" Id="R99ec4c849a5f44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26466a4e04be8" /><Relationship Type="http://schemas.openxmlformats.org/officeDocument/2006/relationships/notesSlide" Target="/ppt/notesSlides/notesSlide3.xml" Id="R1ea499a9831d42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7f2b1944d43aa" /><Relationship Type="http://schemas.openxmlformats.org/officeDocument/2006/relationships/notesSlide" Target="/ppt/notesSlides/notesSlide4.xml" Id="R2766c04ef0b840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97cd54ff7e425c" /><Relationship Type="http://schemas.openxmlformats.org/officeDocument/2006/relationships/notesSlide" Target="/ppt/notesSlides/notesSlide5.xml" Id="R1d9cbc75c2824d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b8d85cd94c4cd8" /><Relationship Type="http://schemas.openxmlformats.org/officeDocument/2006/relationships/notesSlide" Target="/ppt/notesSlides/notesSlide6.xml" Id="Rd759d9f838e646e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9b919aced44e80" /><Relationship Type="http://schemas.openxmlformats.org/officeDocument/2006/relationships/notesSlide" Target="/ppt/notesSlides/notesSlide7.xml" Id="Rd3157d19d3a340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610b1e7d74881" /><Relationship Type="http://schemas.openxmlformats.org/officeDocument/2006/relationships/notesSlide" Target="/ppt/notesSlides/notesSlide8.xml" Id="R6b3dfa2c8409472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c6f4287b142e5" /><Relationship Type="http://schemas.openxmlformats.org/officeDocument/2006/relationships/notesSlide" Target="/ppt/notesSlides/notesSlide9.xml" Id="R46aea2b0daac40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655ef8f534b2b" /><Relationship Type="http://schemas.openxmlformats.org/officeDocument/2006/relationships/notesSlide" Target="/ppt/notesSlides/notesSlide10.xml" Id="R8a17d3cca7cf454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95beac5ae42ef" /><Relationship Type="http://schemas.openxmlformats.org/officeDocument/2006/relationships/notesSlide" Target="/ppt/notesSlides/notesSlide11.xml" Id="Rec7d7816e87345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b742cf912473f" /><Relationship Type="http://schemas.openxmlformats.org/officeDocument/2006/relationships/notesSlide" Target="/ppt/notesSlides/notesSlide12.xml" Id="Rafe06e8fe90f405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c897131d94b1f" /><Relationship Type="http://schemas.openxmlformats.org/officeDocument/2006/relationships/notesSlide" Target="/ppt/notesSlides/notesSlide13.xml" Id="Rc5cfe0047b0c47f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ccc96432c4c6c" /><Relationship Type="http://schemas.openxmlformats.org/officeDocument/2006/relationships/notesSlide" Target="/ppt/notesSlides/notesSlide14.xml" Id="R1597481ab574483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6b2ce880249b0" /><Relationship Type="http://schemas.openxmlformats.org/officeDocument/2006/relationships/image" Target="/ppt/media/image.png" Id="Ra905bf725d6f4970" /><Relationship Type="http://schemas.openxmlformats.org/officeDocument/2006/relationships/notesSlide" Target="/ppt/notesSlides/notesSlide15.xml" Id="R63babc0fe72e4e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BB02600-4EA2-4A56-BAEA-F399D27E5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1" i="0">
                <a:solidFill>
                  <a:srgbClr val="AAB6C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AB6C6"/>
                </a:solidFill>
                <a:latin typeface="Arial"/>
                <a:ea typeface="Arial"/>
                <a:cs typeface="Arial"/>
              </a:rPr>
              <a:t>C1  FlashKDA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D1D07D4-B1D8-4889-8958-EA44D44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FlashKDA 迁移到 SM100</a:t>
            </a:r>
          </a:p>
          <a:p xmlns:a="http://schemas.openxmlformats.org/drawingml/2006/main">
            <a:pPr algn="l">
              <a:lnSpc>
                <a:spcPct val="98000"/>
              </a:lnSpc>
              <a:buNone/>
              <a:defRPr sz="4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是否值得？</a:t>
            </a: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FA2DB26-6DAD-4DA1-B40E-8809201BC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666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950" b="0" i="0">
                <a:solidFill>
                  <a:srgbClr val="C5CED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C5CED8"/>
                </a:solidFill>
                <a:latin typeface="Arial"/>
                <a:ea typeface="Arial"/>
                <a:cs typeface="Arial"/>
              </a:rPr>
              <a:t>B300 上的复现、因果分析与双分支探索</a:t>
            </a:r>
          </a:p>
        </p:txBody>
      </p:sp>
      <p:sp>
        <p:nvSpPr>
          <p:cNvPr id="4" name="直线连接符 3">
            <a:extLst xmlns:a="http://schemas.openxmlformats.org/drawingml/2006/main">
              <a:ext uri="{FF2B5EF4-FFF2-40B4-BE49-F238E27FC236}">
                <a16:creationId xmlns:a16="http://schemas.microsoft.com/office/drawing/2014/main" id="{A4DFAA7D-2745-4F71-9C22-300E83F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39485A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409A801-B309-40B1-B225-2C99692CA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0DFBD5E-83E6-49B9-B363-C8045771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复现与测量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8D0CB46-A09F-4A71-9E77-9EAC97E9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D6F4584B-1A96-4D5E-8C1E-F34B38A4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分析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FCECC30B-3904-41B7-908F-FFEFC8695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4767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82DB302-26D0-4EEF-8940-86CDCF64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7815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挑战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BAC95E8-5638-4EEC-93D2-85AB7AF0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20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奶龙必胜｜蔡雨洋 · 李奥 · 赵骋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E98C447-77E0-45EE-AFA9-F2DCF157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134100"/>
            <a:ext cx="3762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8FA0B2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8FA0B2"/>
                </a:solidFill>
                <a:latin typeface="Arial"/>
                <a:ea typeface="Arial"/>
                <a:cs typeface="Arial"/>
              </a:rPr>
              <a:t>HMMA 兼容路径与 tcgen05 原生路径</a:t>
            </a:r>
          </a:p>
        </p:txBody>
      </p:sp>
    </p:spTree>
    <p:extLst>
      <p:ext uri="{BB962C8B-B14F-4D97-AF65-F5344CB8AC3E}">
        <p14:creationId xmlns:p14="http://schemas.microsoft.com/office/powerpoint/2010/main" val="947333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64EAB1-FC73-489D-B2EC-DC6DCBC8C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02  主线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C3F40FC-3105-4210-B5D2-DB3F7B80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C1 研究主线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BE4FE6F2-4C12-445A-9813-402DC90C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2EC4204-B2A0-4297-B58F-D2D2C357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FA0993E-3441-4BDA-955D-C18D78B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038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66707A"/>
                </a:solidFill>
              </a:rPr>
              <a:t>研究问题</a:t>
            </a:r>
            <a:r>
              <a:rPr b="1">
                <a:solidFill>
                  <a:srgbClr val="66707A"/>
                </a:solidFill>
              </a:rPr>
              <a:t>  </a:t>
            </a:r>
            <a:r>
              <a:rPr b="1">
                <a:solidFill>
                  <a:srgbClr val="151A21"/>
                </a:solidFill>
              </a:rPr>
              <a:t>在同一套</a:t>
            </a:r>
            <a:r>
              <a:rPr b="1">
                <a:solidFill>
                  <a:srgbClr val="151A21"/>
                </a:solidFill>
              </a:rPr>
              <a:t> </a:t>
            </a:r>
            <a:r>
              <a:rPr b="1">
                <a:solidFill>
                  <a:srgbClr val="151A21"/>
                </a:solidFill>
              </a:rPr>
              <a:t>FlashKDA</a:t>
            </a:r>
            <a:r>
              <a:rPr b="1">
                <a:solidFill>
                  <a:srgbClr val="151A21"/>
                </a:solidFill>
              </a:rPr>
              <a:t> 接口与数值约束下，SM100 </a:t>
            </a:r>
            <a:r>
              <a:rPr b="1">
                <a:solidFill>
                  <a:srgbClr val="151A21"/>
                </a:solidFill>
              </a:rPr>
              <a:t>原生路径能否产生足以覆盖迁移成本的实际收益</a:t>
            </a:r>
            <a:r>
              <a:rPr b="1">
                <a:solidFill>
                  <a:srgbClr val="151A21"/>
                </a:solidFill>
              </a:rPr>
              <a:t>？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C055CE0-9D4E-4428-A613-1156E36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AABEE5A-7B1F-4269-A27A-AD87ED2E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479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复现与测量</a:t>
            </a:r>
            <a:endParaRPr sz="1875" b="1" i="0">
              <a:solidFill>
                <a:srgbClr val="151A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183F2DE7-451A-409D-BF6F-DD786319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574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锁定执行身份、正确性与公开接口计时边界</a:t>
            </a:r>
            <a:endParaRPr sz="1575" b="0" i="0">
              <a:solidFill>
                <a:srgbClr val="2C33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FAAC338-02C9-454A-9A3D-BBA805F2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574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指令身份、利用率与计时</a:t>
            </a:r>
          </a:p>
        </p:txBody>
      </p:sp>
      <p:sp>
        <p:nvSpPr>
          <p:cNvPr id="10" name="直线连接符 9">
            <a:extLst xmlns:a="http://schemas.openxmlformats.org/drawingml/2006/main">
              <a:ext uri="{FF2B5EF4-FFF2-40B4-BE49-F238E27FC236}">
                <a16:creationId xmlns:a16="http://schemas.microsoft.com/office/drawing/2014/main" id="{846DC767-1C3A-4F88-A0BD-BFB74C8B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575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320983E-0504-4049-9177-25F0A043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2E19003-5897-497D-9041-1BB8E5D58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9567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分析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DEEC77E-C8BB-445D-A33D-B3EF4A2F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0520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用双分支闭环生成可比证据，再把六问收敛为规律</a:t>
            </a:r>
            <a:endParaRPr sz="1575" b="0" i="0">
              <a:solidFill>
                <a:srgbClr val="2C333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1A966E8-DEDF-4497-AA9C-A92E9CE6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052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双分支 agent 与双层 IR</a:t>
            </a:r>
          </a:p>
        </p:txBody>
      </p:sp>
      <p:sp>
        <p:nvSpPr>
          <p:cNvPr id="15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404642B6-6508-47B8-BAAF-30D3B3C3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0527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2919A36-A524-4DFC-9D08-C96137AF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62C42A2-70B5-472F-8D2E-9C9A0979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43425"/>
            <a:ext cx="180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挑战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7B352D4-3F02-48F1-9DB3-86F87308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52950"/>
            <a:ext cx="571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沿四条路径推进候选，并用数据与知识完成晋级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994A043-EC75-4A85-A202-5AC448C16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替换、布局与全栈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D4C72921-6949-4220-9A5B-93A338F7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53025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D32FEBD-F685-4720-AEA4-669CE10F1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回答  </a:t>
            </a:r>
            <a:r>
              <a:rPr>
                <a:solidFill>
                  <a:srgbClr val="151A21"/>
                </a:solidFill>
              </a:rPr>
              <a:t>在已测 B300 工作负载上，SM100 值得以受条件保护的后端方式加入；有效迁移单位是全栈协同，而不是单独替换矩阵乘加指令。</a:t>
            </a:r>
          </a:p>
        </p:txBody>
      </p:sp>
    </p:spTree>
    <p:extLst>
      <p:ext uri="{BB962C8B-B14F-4D97-AF65-F5344CB8AC3E}">
        <p14:creationId xmlns:p14="http://schemas.microsoft.com/office/powerpoint/2010/main" val="1856275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6BD329C7-BC96-493D-AA03-10EC33E4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03  背景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906496E4-F886-4ED9-AECB-7CD92A51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KDA </a:t>
            </a: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递推结构</a:t>
            </a:r>
            <a:endParaRPr sz="3150" b="1" i="0">
              <a:solidFill>
                <a:srgbClr val="151A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CA27243B-2534-4939-A744-D460A7FB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E22769F-9634-4861-B084-2E5C4B41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12BE483-7857-43D8-9209-2A9EFF025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一个 chunk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1BA9F76F-3E6B-4CB9-8C01-4184E77F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6707A"/>
            </a:solidFill>
            <a:prstDash val="solid"/>
          </a:ln>
        </p:spPr>
      </p:sp>
      <p:sp>
        <p:nvSpPr>
          <p:cNvPr id="7" name="圆角矩形 6">
            <a:extLst xmlns:a="http://schemas.openxmlformats.org/drawingml/2006/main">
              <a:ext uri="{FF2B5EF4-FFF2-40B4-BE49-F238E27FC236}">
                <a16:creationId xmlns:a16="http://schemas.microsoft.com/office/drawing/2014/main" id="{F1E71B72-B2A2-4E9A-A016-BB9C5C365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14287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96EFA97-FD2B-4CBD-A93F-C03F3F7C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2001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state t−1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2DEB55D7-073F-494D-B7F3-556B0DA2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76450"/>
            <a:ext cx="1619250" cy="70485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A00C0C-2DD1-49F4-BCEA-68F5EFB4B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K1  prepare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2C0DF723-9B14-4578-A009-D81252D6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943100"/>
            <a:ext cx="2381250" cy="9715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9792D268-2B78-43AF-B24C-1EFFC8EA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00025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K2</a:t>
            </a:r>
          </a:p>
          <a:p xmlns:a="http://schemas.openxmlformats.org/drawingml/2006/main">
            <a:pPr algn="ctr">
              <a:lnSpc>
                <a:spcPct val="96000"/>
              </a:lnSpc>
              <a:buNone/>
              <a:defRPr sz="18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16-step recurrence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D864A79-2C23-4863-881E-A01F6B5B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333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7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state t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D614EDF4-3576-4BD6-9FD3-897AE4F2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DAF47CFE-A0A2-4571-88FE-8FE8D475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直线连接符 15">
            <a:extLst xmlns:a="http://schemas.openxmlformats.org/drawingml/2006/main">
              <a:ext uri="{FF2B5EF4-FFF2-40B4-BE49-F238E27FC236}">
                <a16:creationId xmlns:a16="http://schemas.microsoft.com/office/drawing/2014/main" id="{1547097A-E772-4688-BA69-1501B9BE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53A53D1F-B9DC-4B8C-A4E3-1C0D90760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直线连接符 17">
            <a:extLst xmlns:a="http://schemas.openxmlformats.org/drawingml/2006/main">
              <a:ext uri="{FF2B5EF4-FFF2-40B4-BE49-F238E27FC236}">
                <a16:creationId xmlns:a16="http://schemas.microsoft.com/office/drawing/2014/main" id="{CFC03C09-2501-49AD-86E1-B91AFD7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428875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106C3B0-F2F4-4E98-A664-B9942CBB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3907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6670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2DE529F2-455D-4F9B-A0FC-4EC52D48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288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7E28D69-522F-4ABC-A0CA-F31FC3E9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098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next chunk</a:t>
            </a:r>
          </a:p>
        </p:txBody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6C0EDA13-25DB-4967-812B-351864B1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C7E9051-4EC7-4B04-990C-32F982E1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671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CHUNK = 16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5F12069D-E579-4826-A2AD-9415CBE00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8481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数值范围、16×16 求解与 SM80 MMA 形状共同形成的设计点。</a:t>
            </a:r>
          </a:p>
        </p:txBody>
      </p:sp>
      <p:sp>
        <p:nvSpPr>
          <p:cNvPr id="25" name="直线连接符 24">
            <a:extLst xmlns:a="http://schemas.openxmlformats.org/drawingml/2006/main">
              <a:ext uri="{FF2B5EF4-FFF2-40B4-BE49-F238E27FC236}">
                <a16:creationId xmlns:a16="http://schemas.microsoft.com/office/drawing/2014/main" id="{EA7E6ACD-4B9C-4738-A50F-38CA5F5B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6245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09CBEBA-E3DC-48EA-B378-2693F3CF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递推正确性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2FF41F85-24DF-476E-A451-DDDE5D38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59105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一次调用要同时验证 output 与 final state；连续调用还要检查 state handoff。</a:t>
            </a:r>
          </a:p>
        </p:txBody>
      </p:sp>
      <p:sp>
        <p:nvSpPr>
          <p:cNvPr id="28" name="直线连接符 27">
            <a:extLst xmlns:a="http://schemas.openxmlformats.org/drawingml/2006/main">
              <a:ext uri="{FF2B5EF4-FFF2-40B4-BE49-F238E27FC236}">
                <a16:creationId xmlns:a16="http://schemas.microsoft.com/office/drawing/2014/main" id="{E6E6A0EE-01C6-4F3D-889D-51BE2340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105400"/>
            <a:ext cx="828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47EE26D-10E4-4417-BAD9-2E2B4A31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530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可利用并行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22AC5904-2172-436E-8B45-364EF82FE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334000"/>
            <a:ext cx="8286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chunk 内 K2 串行，但 head、value slice、sequence 与角色仍可并行。</a:t>
            </a:r>
          </a:p>
        </p:txBody>
      </p:sp>
    </p:spTree>
    <p:extLst>
      <p:ext uri="{BB962C8B-B14F-4D97-AF65-F5344CB8AC3E}">
        <p14:creationId xmlns:p14="http://schemas.microsoft.com/office/powerpoint/2010/main" val="19599261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2523D71B-541F-4F96-85B5-91C6979A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04  复现与测量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C91A85E-022B-47E8-BDCC-37A2AB07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官方路径仍使用 HMMA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92F91D35-FFA2-4E1B-B9B8-B8F0231E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82BF781-45C2-4043-AE47-E981F424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96AE8CF-558A-4C71-BC82-D2A05ECC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执行身份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665E9CAB-2B10-4A9C-A082-3C8DFF09F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81175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0D57970-47B5-4FE5-8B64-B1C009C7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FlashKDA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E668A33-0C00-4C5D-9A9D-CD353F5D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版本已固定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9C95C019-2B0B-45FF-8741-E5CAB557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498614DC-7A2B-4DB5-8416-D82C3709F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1983436-54FB-4775-A173-88F0109B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CUTLASS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C093A26-94AC-4591-8A80-F5406D01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版本已固定</a:t>
            </a:r>
          </a:p>
        </p:txBody>
      </p:sp>
      <p:sp>
        <p:nvSpPr>
          <p:cNvPr id="13" name="直线连接符 12">
            <a:extLst xmlns:a="http://schemas.openxmlformats.org/drawingml/2006/main">
              <a:ext uri="{FF2B5EF4-FFF2-40B4-BE49-F238E27FC236}">
                <a16:creationId xmlns:a16="http://schemas.microsoft.com/office/drawing/2014/main" id="{3192D9B7-03B8-43A9-902A-4DBAB7A8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1C1AF799-A0EB-457B-86BC-3A25DB722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D785FD6-EBB7-45A3-86F1-53DD0BD43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目标架构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31627FF-9CB2-479C-99E6-D28E30272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sm_103a</a:t>
            </a:r>
          </a:p>
        </p:txBody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41003DF0-AB3C-4E70-B109-F49B3777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431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9C709A4C-1D31-4ADA-B25E-6CA647798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DE894EA9-A9F2-4447-9512-3E8957A1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反汇编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9C5A6F3-E5C7-45AB-8799-5AEAB7DC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955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实际加载 .so</a:t>
            </a:r>
          </a:p>
        </p:txBody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49E87B35-2E1F-4F20-A6F2-D50806FF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0" cy="395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C89D1B39-0395-49F8-8FBF-E0738718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3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3,640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C234FDFC-B9EE-47C0-BA61-D281C85C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条 HMMA 矩阵乘加指令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A4223FF-E8AB-4BC1-BACC-67511116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57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42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9E1908E-9DE1-4110-A288-6013AFE5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386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SM100 原生 tcgen05、UTCMMA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9CF42ED-21D2-49F8-8A37-D87650F9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53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源码命名不是证据；实际加载二进制的指令身份才是。</a:t>
            </a:r>
          </a:p>
        </p:txBody>
      </p:sp>
      <p:sp>
        <p:nvSpPr>
          <p:cNvPr id="27" name="直线连接符 26">
            <a:extLst xmlns:a="http://schemas.openxmlformats.org/drawingml/2006/main">
              <a:ext uri="{FF2B5EF4-FFF2-40B4-BE49-F238E27FC236}">
                <a16:creationId xmlns:a16="http://schemas.microsoft.com/office/drawing/2014/main" id="{6185DF9D-2D7F-4DF5-A753-0DAD7509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B0536C6-D603-4AF8-ABCD-0D46B6799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同一复现同时记录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7B097B7-F069-4367-8FBC-7F79B2C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338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AA46FDE-AF35-4DDA-AD8D-41427F95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1148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实际加载模块路径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FD2DDF43-2856-4C32-B9C0-A884AC92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871ECA0B-4C35-47E9-9C1C-7B9E092B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源码与二进制 SHA-256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92F2226-E9A2-4F26-BDAB-F6F23B74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577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DE04ED4D-CDDC-48E8-9DA2-25CE8DF7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387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Python 导入来源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A7994EC5-792E-4B19-97F6-EC197DBC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DD57A2E8-9B98-499E-9D49-766D92C79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00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CUDA 头文件版本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D3D613B9-9C5E-429A-A709-08FD720D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AC917176-BB9E-473A-8E25-9E927361C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562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实际执行路径</a:t>
            </a:r>
          </a:p>
        </p:txBody>
      </p:sp>
    </p:spTree>
    <p:extLst>
      <p:ext uri="{BB962C8B-B14F-4D97-AF65-F5344CB8AC3E}">
        <p14:creationId xmlns:p14="http://schemas.microsoft.com/office/powerpoint/2010/main" val="12362215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90F59B0-E2BB-469C-BC53-9B297DF3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05  复现与测量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A4EE3900-AA4E-4746-B07B-A7836528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计时与正确性边界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DAAD0502-0103-4F49-876F-EC5DA92C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7D94862-2570-4484-8505-E7B7886E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6E606EC-AB91-44ED-99A2-448C08E0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382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计时边界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674DC3E5-E883-4320-BF98-ECA23909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1286214-2FC7-4941-B188-2794AD5A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首次编译与一次性分配</a:t>
            </a:r>
          </a:p>
        </p:txBody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AF98B4FB-CE4D-406F-B763-E38397B6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6096000" cy="60960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E532A35-B89E-4D44-ACC1-8BD72EDF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布局处理</a:t>
            </a:r>
          </a:p>
        </p:txBody>
      </p:sp>
      <p:sp>
        <p:nvSpPr>
          <p:cNvPr id="10" name="直线连接符 9">
            <a:extLst xmlns:a="http://schemas.openxmlformats.org/drawingml/2006/main">
              <a:ext uri="{FF2B5EF4-FFF2-40B4-BE49-F238E27FC236}">
                <a16:creationId xmlns:a16="http://schemas.microsoft.com/office/drawing/2014/main" id="{E49EB8A4-C1FB-4A76-A7A3-CA7AE6EA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75AF82D-466D-4177-9318-8895D411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工作区</a:t>
            </a:r>
          </a:p>
        </p:txBody>
      </p:sp>
      <p:sp>
        <p:nvSpPr>
          <p:cNvPr id="12" name="直线连接符 11">
            <a:extLst xmlns:a="http://schemas.openxmlformats.org/drawingml/2006/main">
              <a:ext uri="{FF2B5EF4-FFF2-40B4-BE49-F238E27FC236}">
                <a16:creationId xmlns:a16="http://schemas.microsoft.com/office/drawing/2014/main" id="{C219AC47-DFA8-45C0-BC50-33FF5B8E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10CDBE2-3775-4E0A-87D5-F277077C0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内核执行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43A1889F-9B8D-466C-B496-CC2801F7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105025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7C8DA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D05B840-79DD-4C93-B969-0173B568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状态回写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3D61D642-D554-4DA9-88FE-F537CA81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0764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后续调用</a:t>
            </a:r>
          </a:p>
        </p:txBody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C8AE5903-E0CD-4D46-9EF0-5EA75BEF3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97501C9-5EC3-4328-ADF2-893B5774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74320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F6F57573-41B1-47BF-BEFE-65BB7350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81300"/>
            <a:ext cx="609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C5F91"/>
            </a:solidFill>
            <a:prstDash val="solid"/>
          </a:ln>
        </p:spPr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7A4F5082-4307-4C16-9697-7D745F014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3C170626-095F-47B0-8464-2CCB8391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24150"/>
            <a:ext cx="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C199823-E4C8-4A3D-B9CB-93FDBE3B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241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计时外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0309474-079F-4817-986E-FA56B7721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24175"/>
            <a:ext cx="1943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公开接口计时范围</a:t>
            </a:r>
          </a:p>
        </p:txBody>
      </p:sp>
      <p:sp>
        <p:nvSpPr>
          <p:cNvPr id="24" name="直线连接符 23">
            <a:extLst xmlns:a="http://schemas.openxmlformats.org/drawingml/2006/main">
              <a:ext uri="{FF2B5EF4-FFF2-40B4-BE49-F238E27FC236}">
                <a16:creationId xmlns:a16="http://schemas.microsoft.com/office/drawing/2014/main" id="{64F8E2E8-E073-4063-8216-C7D7071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A32B5372-F7AC-4055-9CB8-3C028D87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170D9CC-399B-432E-9A27-B78B6DB2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862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状态一致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1729834-6601-430A-8E5E-9C2D31D1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862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每次调用使用相同非零初态，重复测量时轮转状态槽位。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463589B-A9A7-4122-ACB1-B830994D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DCC24CD-6C79-41D1-841D-D5615315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00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进程隔离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16DB4A8B-D8B3-475A-9994-90B300044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005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每个实现使用独立进程，避免 CUDA 符号覆盖改变实际执行路径。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BDE8E477-5039-4C4D-9C2F-3DC012C8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3395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0955421-1479-4804-832F-BCE39BE7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双重正确性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0E7D4211-8E3F-41D1-A368-D45D2A2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1490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同时检查输出与最终状态，并覆盖打包、尾块和连续两次调用。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02D38E8E-0144-432F-8422-3EA810E4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342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8454290-C0E3-4128-872C-4EF5C7F7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292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正式性能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270BB8EF-9B20-41BB-B120-ADEFD2BD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29250"/>
            <a:ext cx="828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冷 L2、CUDA 性能接口（CUPTI）、平衡顺序与 ABBA 交替复测。</a:t>
            </a:r>
          </a:p>
        </p:txBody>
      </p:sp>
    </p:spTree>
    <p:extLst>
      <p:ext uri="{BB962C8B-B14F-4D97-AF65-F5344CB8AC3E}">
        <p14:creationId xmlns:p14="http://schemas.microsoft.com/office/powerpoint/2010/main" val="12895928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4294A746-9418-4E9D-869D-E5CE0BEA8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06  分析方法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0EF26A1-4AE1-483D-A96E-6345AE1D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双分支公平比较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D5D5B19E-7F33-49FE-9019-1B58692D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73A4A2B-ED9F-48B6-9B4F-9DD46B00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C1B5F7A-A29B-4B51-BED6-3B6BD861E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952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只把优化后的新路径与未优化旧路径比较，会把架构收益和搜索努力混在一起。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3FAC36C1-110F-4FDB-8A35-85466ADB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HMMA 兼容分支</a:t>
            </a:r>
          </a:p>
        </p:txBody>
      </p:sp>
      <p:sp>
        <p:nvSpPr>
          <p:cNvPr id="7" name="直线连接符 6">
            <a:extLst xmlns:a="http://schemas.openxmlformats.org/drawingml/2006/main">
              <a:ext uri="{FF2B5EF4-FFF2-40B4-BE49-F238E27FC236}">
                <a16:creationId xmlns:a16="http://schemas.microsoft.com/office/drawing/2014/main" id="{A9551CFD-AB34-42D1-9FD6-3FD50359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4792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AC7F142-2BA7-4F30-9084-FEC2C8574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453A928-B1AA-4910-A499-6F7F6EE4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8194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H0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官方 HMMA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3A808A16-6BFD-499F-AB38-2C5DE4F4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241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5F91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8A273F3-F907-4054-9930-F598A058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8194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H1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最优 HMMA</a:t>
            </a:r>
          </a:p>
        </p:txBody>
      </p:sp>
      <p:sp>
        <p:nvSpPr>
          <p:cNvPr id="12" name="直线连接符 11">
            <a:extLst xmlns:a="http://schemas.openxmlformats.org/drawingml/2006/main">
              <a:ext uri="{FF2B5EF4-FFF2-40B4-BE49-F238E27FC236}">
                <a16:creationId xmlns:a16="http://schemas.microsoft.com/office/drawing/2014/main" id="{2C8680FF-93D0-4147-BFE2-29650B09B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146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60B45040-3439-4F24-9BBC-69B70AB6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765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C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EA1F29F1-797C-46DC-B31D-E3E485C0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tcgen05 原生分支</a:t>
            </a:r>
          </a:p>
        </p:txBody>
      </p:sp>
      <p:sp>
        <p:nvSpPr>
          <p:cNvPr id="15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DA19B25B-8E30-4583-8181-569F6C3D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577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16" name="圆角矩形 15">
            <a:extLst xmlns:a="http://schemas.openxmlformats.org/drawingml/2006/main">
              <a:ext uri="{FF2B5EF4-FFF2-40B4-BE49-F238E27FC236}">
                <a16:creationId xmlns:a16="http://schemas.microsoft.com/office/drawing/2014/main" id="{2DFC2501-F246-4244-8FA3-5A766E7A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5EAE3"/>
          </a:solidFill>
          <a:ln xmlns:a="http://schemas.openxmlformats.org/drawingml/2006/main" w="9525">
            <a:solidFill>
              <a:srgbClr val="C66A3D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63E2E8A-0555-4B0D-9F7F-BF9DF4A54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482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T0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同预算 tcgen05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3EA65CC7-646F-401C-B716-D0AF06B0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52950"/>
            <a:ext cx="1714500" cy="781050"/>
          </a:xfrm>
          <a:prstGeom xmlns:a="http://schemas.openxmlformats.org/drawingml/2006/main" prst="roundRect">
            <a:avLst>
              <a:gd name="adj" fmla="val 36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66A3D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4511161-0DEE-41C3-B7D6-FAEB3087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482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T1 / T2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最优原生路径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7011237C-207E-41FB-8565-2C31E8F5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94347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E2890984-374C-4BC8-80E4-BB109781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053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66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直线连接符 21">
            <a:extLst xmlns:a="http://schemas.openxmlformats.org/drawingml/2006/main">
              <a:ext uri="{FF2B5EF4-FFF2-40B4-BE49-F238E27FC236}">
                <a16:creationId xmlns:a16="http://schemas.microsoft.com/office/drawing/2014/main" id="{F3E07F30-A0E4-4351-A306-434FBF12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0" cy="3810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B8B313-DAB1-401E-85B7-FC4D1ADF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共享实验合同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2C9A193D-FE11-47AB-8480-9204A515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765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同一工作负载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48CBEB8C-9846-44DC-8A58-6339563D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718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q / k / v / 状态 / 打包边界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841B42AD-9310-4BFB-B7C2-956898E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19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同一机会预算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EABC353-CE01-4A72-A7CE-86BD9032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147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每轮候选与搜索机会匹配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ED40E8E-ABA8-4742-B7CD-0511A099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62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同一证据门槛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2EE481F-EE85-48B1-88CF-F67D5612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577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实际路径、正确性与完整接口计时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39DB942-6834-4CA0-8A13-71435F0A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91125"/>
            <a:ext cx="400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公平问题  </a:t>
            </a:r>
            <a:r>
              <a:rPr>
                <a:solidFill>
                  <a:srgbClr val="151A21"/>
                </a:solidFill>
              </a:rPr>
              <a:t>比较的是同预算最优边界，而不是新旧指令的静态标签。</a:t>
            </a:r>
          </a:p>
        </p:txBody>
      </p:sp>
    </p:spTree>
    <p:extLst>
      <p:ext uri="{BB962C8B-B14F-4D97-AF65-F5344CB8AC3E}">
        <p14:creationId xmlns:p14="http://schemas.microsoft.com/office/powerpoint/2010/main" val="1373951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3C4E0B17-BDAC-43C6-B96C-8888435E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07  分析方法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1ED51B0-1D84-48C9-9304-445173C4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MARPE 探索闭环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1258DCDD-C781-424D-9E3E-F2005B89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E367B87-4513-4C7C-8926-B4DAE069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0DB044C3-1607-4CDF-993A-3620855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MARPE：多智能体运行时画像演化（Multi-Agent Runtime Profile Evolution）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8298C8-A028-4B9E-AFAA-15BA75FEE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50054BE-3FCF-47CA-B321-4D0BD3DC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开放提案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7C80EB-12C5-4AC1-8552-43BAF4ED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代码补丁、结构扩展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与机制探针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FBE9E4C5-1F11-421F-8BD9-1CB1A87FB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2383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9D6CF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505687D0-A8AD-42E4-AC5B-73C043D6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002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B1F47EC-B6FE-4C0A-B638-8D74E949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695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B6837D8-8AE2-42D4-B4BE-7DAAEB8B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76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候选分配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F857D2-E7F5-4FA1-92CB-3D13F29D0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146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HMMA 兼容分支与 tcgen05 原生分支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94FB615A-26B5-4EB8-ACB5-FA6430D6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383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9D6CF"/>
            </a:solidFill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4F06FF93-51C7-4562-A7F6-10751E00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002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202995-B4FF-4E46-94B4-6FF195E4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FC5ED15-BC03-49C2-B78D-1B126F6D0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76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隔离执行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AA4A044-B387-49B1-BD0A-8B2CDD55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146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独立 GPU、性能分析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与实验快照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26019F13-C459-4DA2-9A38-06E2A8CF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383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9D6CF"/>
            </a:solidFill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0D66586-89E2-4438-B800-CFF5CF99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2002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0F036B21-5190-4146-A652-B1799BAD9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695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21F715E-6134-408D-A170-019E561B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76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证据晋级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6EB3467A-C55A-4725-ACBB-FD89563B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146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实际路径、正确性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与 ABBA 复测</a:t>
            </a:r>
          </a:p>
        </p:txBody>
      </p:sp>
      <p:sp>
        <p:nvSpPr>
          <p:cNvPr id="24" name="直线连接符 23">
            <a:extLst xmlns:a="http://schemas.openxmlformats.org/drawingml/2006/main">
              <a:ext uri="{FF2B5EF4-FFF2-40B4-BE49-F238E27FC236}">
                <a16:creationId xmlns:a16="http://schemas.microsoft.com/office/drawing/2014/main" id="{23FFD46C-F7D5-4CAB-99DA-DB6CB463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D9D6CF"/>
            </a:solidFill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F76448CE-4E42-4D18-9DBD-9A378511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0275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3A41736C-B2D1-4EE6-9EAF-3A2AE922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695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A699F691-A17F-49F3-8E31-76C8EE43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76450"/>
            <a:ext cx="1790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双层写回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5A1F31B-57E8-4858-A9AB-2A4081A1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14600"/>
            <a:ext cx="1762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程序 IR 与经验 IR</a:t>
            </a:r>
          </a:p>
        </p:txBody>
      </p:sp>
      <p:sp>
        <p:nvSpPr>
          <p:cNvPr id="29" name="直线连接符 28">
            <a:extLst xmlns:a="http://schemas.openxmlformats.org/drawingml/2006/main">
              <a:ext uri="{FF2B5EF4-FFF2-40B4-BE49-F238E27FC236}">
                <a16:creationId xmlns:a16="http://schemas.microsoft.com/office/drawing/2014/main" id="{696579D4-558E-4341-9984-4D78FDB2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3B7A594-A4E4-43A3-A0CC-4C65C66F2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43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写回的两类产物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EC82B01-09CA-4BA9-9C80-76777033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5295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数据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DE57944C-FB8E-4C33-8FAE-7FDE7781D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3390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时延样本、正确性、二进制指令、路径凭据与硬件计数器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282B1CB-F4BE-4B4C-BCB0-EFF9F2A8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85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知识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9AE7DCB3-D790-4C84-9466-BBACAD59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86350"/>
            <a:ext cx="866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机制解释 · 失败边界 · 适用范围 · 允许复用方式 · 下一轮高价值提案</a:t>
            </a:r>
          </a:p>
        </p:txBody>
      </p:sp>
      <p:sp>
        <p:nvSpPr>
          <p:cNvPr id="35" name="直线连接符 34">
            <a:extLst xmlns:a="http://schemas.openxmlformats.org/drawingml/2006/main">
              <a:ext uri="{FF2B5EF4-FFF2-40B4-BE49-F238E27FC236}">
                <a16:creationId xmlns:a16="http://schemas.microsoft.com/office/drawing/2014/main" id="{B05E6C79-4D15-46CD-A98F-F8DD3A5F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AB7DF830-6150-4B36-A9AA-EDAA6D4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12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PIKE  分支搜索与候选分配     Atrex  隔离执行、性能分析与 ABBA     本文  双分支 IR、公平预算与证据晋级</a:t>
            </a:r>
          </a:p>
        </p:txBody>
      </p:sp>
    </p:spTree>
    <p:extLst>
      <p:ext uri="{BB962C8B-B14F-4D97-AF65-F5344CB8AC3E}">
        <p14:creationId xmlns:p14="http://schemas.microsoft.com/office/powerpoint/2010/main" val="18846594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FAB3657-5D09-4973-A3A2-270D52001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08  分析方法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34FB7B2-B03E-4419-8CF6-99A0F6DC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双层 IR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427D6D60-0C78-4944-B3B4-955AC1DC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37C99E1-19F0-4582-884B-72BC4094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40B584F-38A9-4F45-BBA2-0BEDF683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程序中间表示（Program IR）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F8FC9964-5897-4AEA-8FFB-B41F0C9E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D68FB24-D5A0-4416-A619-798A1ED3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回答：实际执行了什么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F129F492-2C8E-44E2-920C-59AFA905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14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F050B5A-3189-49B2-B798-E37DC91E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76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算子约束与实际路径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63A175E-D34E-4B52-8EE9-3A81A07A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71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2834DAC-7031-46B5-9555-D55F356C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9337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源码、头文件、动态库与哈希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1449AE-C182-40F5-B461-A0E34F86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8079A9C-2332-4371-B8D8-8A5AB91C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909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硬件架构、编译器与路由条件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F334822-B617-456F-B66F-0851BDE4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03064E8-09D8-4AAB-ADF9-472A1E4C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8481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调度、布局与同步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BB96327-22E6-45EC-8C98-2700A7D6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E1F6AE93-39D0-4D3E-9741-54221F58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053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Python 解释器、导入来源与搜索路径</a:t>
            </a:r>
          </a:p>
        </p:txBody>
      </p:sp>
      <p:sp>
        <p:nvSpPr>
          <p:cNvPr id="18" name="直线连接符 17">
            <a:extLst xmlns:a="http://schemas.openxmlformats.org/drawingml/2006/main">
              <a:ext uri="{FF2B5EF4-FFF2-40B4-BE49-F238E27FC236}">
                <a16:creationId xmlns:a16="http://schemas.microsoft.com/office/drawing/2014/main" id="{31521919-4838-4FD2-A79E-FFBD27A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24000"/>
            <a:ext cx="0" cy="3676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9BA71DD-22EB-4A22-B324-63006219F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240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经验中间表示（Experience IR）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1446F979-667B-4C47-BAC2-A3643E16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811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0C58D19-F878-4EAD-A4CE-342AB111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回答：这条证据能在哪里复用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56C908E-0BF7-410B-9B06-C8D8B702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146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88C09FF-2A16-4C25-959E-3989CF0F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候选提案、结果与不确定性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B35BE5C-DB9A-4662-B340-085C2DD4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718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7BE2D1E-1D5C-4722-B037-ECC146F1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9337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机制状态与失败原因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E171D60-D704-4226-BC31-CA4F3D79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290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01002D1-7975-4CEC-9128-83305195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3909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执行路径、架构与注意力头数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92D5EAEC-8B1C-4614-9443-DAD0CB54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8862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B391BB6A-F076-4D40-B96F-42270ADE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8481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工作负载、阶段与计时范围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F6A7FCD3-508C-458E-B1C3-5B25FE0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43400"/>
            <a:ext cx="28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B114CA7-8621-488C-A103-557A6213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允许复用范围与必须重测条件</a:t>
            </a:r>
          </a:p>
        </p:txBody>
      </p:sp>
      <p:sp>
        <p:nvSpPr>
          <p:cNvPr id="32" name="直线连接符 31">
            <a:extLst xmlns:a="http://schemas.openxmlformats.org/drawingml/2006/main">
              <a:ext uri="{FF2B5EF4-FFF2-40B4-BE49-F238E27FC236}">
                <a16:creationId xmlns:a16="http://schemas.microsoft.com/office/drawing/2014/main" id="{2B1F57DB-DBBB-493B-B8D3-A77C50D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10715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E40B766-B4E6-4DB8-92CF-75655B7F2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388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例 1  </a:t>
            </a:r>
            <a:r>
              <a:t>V16 核心探针 1.615× 只说明首选布局有潜力，不能直接写成公开路径赢家。</a:t>
            </a:r>
          </a:p>
          <a:p xmlns:a="http://schemas.openxmlformats.org/drawingml/2006/main">
            <a:pPr algn="l"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A84D47"/>
                </a:solidFill>
              </a:rPr>
              <a:t>例 2  </a:t>
            </a:r>
            <a:r>
              <a:t>HMMA nseq3 的 1.076× 不外推到 nseq4；后者实测为 0.962×。</a:t>
            </a:r>
          </a:p>
        </p:txBody>
      </p:sp>
    </p:spTree>
    <p:extLst>
      <p:ext uri="{BB962C8B-B14F-4D97-AF65-F5344CB8AC3E}">
        <p14:creationId xmlns:p14="http://schemas.microsoft.com/office/powerpoint/2010/main" val="8772587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A0D7B75-B7EA-4053-8322-A9D5AE83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09  分析结论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32E96AF-7A0A-47BC-85D4-C5C0F8B3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三个关键结论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35A9EBC6-C699-498B-892E-C44AAB59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0AA322B-8C0F-4394-9FB2-EDD3C68A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C3E911A-1F1B-41CB-BEA3-0C2452A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Q1 · Q5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186A677-CF9E-4D5E-92DA-D44C9D90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5240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数值约束决定分块设计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5B46E1B-4677-4B28-9D1A-0AA38007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907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CHUNK16 同时约束指数恢复、16×16 求解和 BF16 状态舍入；扩大到 C32/C64 需要重新缩放或分块求解。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8DC910A-1D40-43B3-9C57-7551E7C7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输出、最终状态、连续两次调用</a:t>
            </a:r>
          </a:p>
        </p:txBody>
      </p:sp>
      <p:sp>
        <p:nvSpPr>
          <p:cNvPr id="9" name="直线连接符 8">
            <a:extLst xmlns:a="http://schemas.openxmlformats.org/drawingml/2006/main">
              <a:ext uri="{FF2B5EF4-FFF2-40B4-BE49-F238E27FC236}">
                <a16:creationId xmlns:a16="http://schemas.microsoft.com/office/drawing/2014/main" id="{F0B80822-BF7B-4E9E-A8F8-026EBB0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1CFD8C6-E4FE-433E-9D96-1ED17D1F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Q2 · Q4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3355849-76A5-43F5-95DC-0926B71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分块合法不等于整体高效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3920749-5E9E-4D6D-AE5F-07F2B9D0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3377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tcgen05 还要承担张量内存（TMEM）、地址描述符、同步和读回；H12 受低并行度与关键路径限制。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6CF1223-78AA-449B-80FA-D7D63BA4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V128 0.920×   计算/显存 2.64%/1.24%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51E3D735-A366-43AD-A9B4-FD363CC1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26AC55AF-9979-4A00-8CBD-24137401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4820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Q3 · Q6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B3F8CAEA-8367-462F-B77A-F4051CA5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101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并行机会决定迁移和部署方式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8DF45FF-AD70-478B-92A2-DD1B1BBD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76825"/>
            <a:ext cx="685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42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注意力头、数值维、序列和生产/消费角色仍可并行；收益经工作负载认证后进入条件后端。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30D05AD7-7BBE-4800-96CF-1AC600E2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857750"/>
            <a:ext cx="2333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7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H12 value 切片时延 −27.0%</a:t>
            </a:r>
          </a:p>
        </p:txBody>
      </p:sp>
      <p:sp>
        <p:nvSpPr>
          <p:cNvPr id="19" name="直线连接符 18">
            <a:extLst xmlns:a="http://schemas.openxmlformats.org/drawingml/2006/main">
              <a:ext uri="{FF2B5EF4-FFF2-40B4-BE49-F238E27FC236}">
                <a16:creationId xmlns:a16="http://schemas.microsoft.com/office/drawing/2014/main" id="{E514C7F9-F858-4440-A330-4881CE60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05500"/>
            <a:ext cx="9382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711769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2061A6-C866-4D3F-9092-68B70DC26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10  挑战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231F50A-7743-4D2F-BDC4-260D3D04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四条挑战路径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1E4A53E8-6622-4ABE-AC5A-7A73EDF0D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0FACCA8-F0DB-4DFA-8675-DC428886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73ECD0F-26A2-4498-800A-13F3B9683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850739CC-51EA-4A4D-976D-F25CDE0E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Direct 直接替换</a:t>
            </a:r>
          </a:p>
        </p:txBody>
      </p:sp>
      <p:sp>
        <p:nvSpPr>
          <p:cNvPr id="7" name="直线连接符 6">
            <a:extLst xmlns:a="http://schemas.openxmlformats.org/drawingml/2006/main">
              <a:ext uri="{FF2B5EF4-FFF2-40B4-BE49-F238E27FC236}">
                <a16:creationId xmlns:a16="http://schemas.microsoft.com/office/drawing/2014/main" id="{416098FB-B3F0-410B-8009-CDE226A97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4D47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9556678-CD18-47D1-8D61-3F80331A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V128，只替换矩阵乘加单元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66D01069-1C2A-4AA7-A19B-4216DD39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0.920×</a:t>
            </a:r>
          </a:p>
        </p:txBody>
      </p:sp>
      <p:sp>
        <p:nvSpPr>
          <p:cNvPr id="10" name="直线连接符 9">
            <a:extLst xmlns:a="http://schemas.openxmlformats.org/drawingml/2006/main">
              <a:ext uri="{FF2B5EF4-FFF2-40B4-BE49-F238E27FC236}">
                <a16:creationId xmlns:a16="http://schemas.microsoft.com/office/drawing/2014/main" id="{CED06645-F496-482F-860D-6DE74242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C16CAA33-8085-4E1C-83FE-FFF64507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6523C9B-1028-4E37-AA17-EE53F566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21678330-42D2-422B-9AA8-744FC433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V16 布局探针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0EDAA154-2116-4915-88D3-E71D19A3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6A3D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B304A7E-081A-43C5-9BD4-9605403C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拆分核心计算与承载层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A1B5BE1-24E8-4C0E-A0A7-2833D1C7B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1.615× / 0.779×</a:t>
            </a:r>
          </a:p>
        </p:txBody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670E0C18-0083-4A51-A131-9845CF18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1B417E97-5065-4014-9A4B-207D45753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3D0921C8-8E96-4479-A66A-4B669D5F4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C39D07B-69CD-4BEF-B4F0-817A99A8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H3 数据流重排</a:t>
            </a:r>
          </a:p>
        </p:txBody>
      </p:sp>
      <p:sp>
        <p:nvSpPr>
          <p:cNvPr id="21" name="直线连接符 20">
            <a:extLst xmlns:a="http://schemas.openxmlformats.org/drawingml/2006/main">
              <a:ext uri="{FF2B5EF4-FFF2-40B4-BE49-F238E27FC236}">
                <a16:creationId xmlns:a16="http://schemas.microsoft.com/office/drawing/2014/main" id="{ED972CBE-4E79-4C09-81E5-D5A301B7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A84D47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A449E295-F86D-456F-B599-79D4615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重排代数与串行路径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947D0D24-971C-4A33-9078-706D5B60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H12 0.906×</a:t>
            </a:r>
          </a:p>
        </p:txBody>
      </p:sp>
      <p:sp>
        <p:nvSpPr>
          <p:cNvPr id="24" name="直线连接符 23">
            <a:extLst xmlns:a="http://schemas.openxmlformats.org/drawingml/2006/main">
              <a:ext uri="{FF2B5EF4-FFF2-40B4-BE49-F238E27FC236}">
                <a16:creationId xmlns:a16="http://schemas.microsoft.com/office/drawing/2014/main" id="{8DE6077D-7146-48B7-8BC5-5DCFA15B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717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6CF"/>
            </a:solidFill>
            <a:prstDash val="solid"/>
          </a:ln>
        </p:spPr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5631AA2B-A0B1-4D07-8CD1-2A8D7806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533650"/>
            <a:ext cx="76200" cy="76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D6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B2A552A7-CE4E-4E62-9F42-229E5F46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7145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BAD6FFE-86CB-4B01-9901-8809C183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CAKE 全栈协同</a:t>
            </a:r>
          </a:p>
        </p:txBody>
      </p:sp>
      <p:sp>
        <p:nvSpPr>
          <p:cNvPr id="28" name="直线连接符 27">
            <a:extLst xmlns:a="http://schemas.openxmlformats.org/drawingml/2006/main">
              <a:ext uri="{FF2B5EF4-FFF2-40B4-BE49-F238E27FC236}">
                <a16:creationId xmlns:a16="http://schemas.microsoft.com/office/drawing/2014/main" id="{ED385F3B-5561-42A4-A655-0B530DFDD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571750"/>
            <a:ext cx="2143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7A68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52320231-DB0C-492D-9BBF-7472E922B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76550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驻留、角色、流水、布局与分发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FC5EC84-E33E-423B-8E84-8EAFCEB9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8290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H12 2.482×</a:t>
            </a:r>
          </a:p>
        </p:txBody>
      </p:sp>
      <p:sp>
        <p:nvSpPr>
          <p:cNvPr id="31" name="直线连接符 30">
            <a:extLst xmlns:a="http://schemas.openxmlformats.org/drawingml/2006/main">
              <a:ext uri="{FF2B5EF4-FFF2-40B4-BE49-F238E27FC236}">
                <a16:creationId xmlns:a16="http://schemas.microsoft.com/office/drawing/2014/main" id="{F38A9951-DCBB-4631-AA65-C855B362B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445B0C1C-F20A-46C0-88D2-79410AB6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每条路径都经过同一五步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9E93F989-0D7E-41E7-AE59-A8FF14C08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问题定义     候选实现     正确性门槛     计时范围     下一轮知识写回</a:t>
            </a:r>
          </a:p>
        </p:txBody>
      </p:sp>
    </p:spTree>
    <p:extLst>
      <p:ext uri="{BB962C8B-B14F-4D97-AF65-F5344CB8AC3E}">
        <p14:creationId xmlns:p14="http://schemas.microsoft.com/office/powerpoint/2010/main" val="17307952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324C728F-D706-4D2F-B9A3-88C1D292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11  挑战结果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8C71713B-22B1-491E-8AA8-C90EE5499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tcgen05 的承载成本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E0224044-5720-4F14-9EBD-64CA7777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892121C-23ED-4F22-9855-79D93A08E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3A988-80D9-4324-B29F-CF01F28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66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每一行使用自己的基线和计时范围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FD5C0D3C-18B7-403A-9828-639D298D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88CB4C3-F571-4406-BBE3-300724E7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0.0×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62DCD5C4-558C-4610-BAA1-A04EE71D2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12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B824475-6482-41A0-AB98-BCD32C4C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0.5×</a:t>
            </a:r>
          </a:p>
        </p:txBody>
      </p:sp>
      <p:sp>
        <p:nvSpPr>
          <p:cNvPr id="10" name="直线连接符 9">
            <a:extLst xmlns:a="http://schemas.openxmlformats.org/drawingml/2006/main">
              <a:ext uri="{FF2B5EF4-FFF2-40B4-BE49-F238E27FC236}">
                <a16:creationId xmlns:a16="http://schemas.microsoft.com/office/drawing/2014/main" id="{A795B8A8-9D24-4FCE-A08C-545EF7A6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76E0178-8DA9-43A1-AAC5-AE41176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625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1.0×</a:t>
            </a:r>
          </a:p>
        </p:txBody>
      </p:sp>
      <p:sp>
        <p:nvSpPr>
          <p:cNvPr id="12" name="直线连接符 11">
            <a:extLst xmlns:a="http://schemas.openxmlformats.org/drawingml/2006/main">
              <a:ext uri="{FF2B5EF4-FFF2-40B4-BE49-F238E27FC236}">
                <a16:creationId xmlns:a16="http://schemas.microsoft.com/office/drawing/2014/main" id="{ABF54BF3-A223-4618-8F97-4FDC63F55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66900"/>
            <a:ext cx="0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276153B-A578-4419-B276-DF02ECC3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287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1.5×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CEB04645-21EA-471A-AD16-C89CA03A1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9750" y="1971675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50891454-1827-4A90-8A55-6F765A5B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Direct V128 直接替换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4ACCEDA-52D9-483E-B914-3A60CB1B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完整承载层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2CBB480C-9D11-42D1-B555-7B944F63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3358208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4478FC86-593B-48C5-9F36-FA9AA8F5D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008" y="2095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0.920×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09FF998-9677-4F63-98F5-0413BF5CD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V16 首选布局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0F0A4D2D-243B-470D-9A09-97ED39081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81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核心探针 L0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4B22A984-B193-461F-8DDB-47A5D5B6F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238500"/>
            <a:ext cx="5896845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4F134DE-F29E-4972-AACD-274E14EB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9645" y="3238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1.615×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4B0C6F73-0A5E-4C8D-A174-120A8F53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V16 标量重构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FEF7181-410B-464B-ADCF-6DD04CE3A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承载层 L1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71AB7EEB-ED91-428E-AD61-C616AC4B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381500"/>
            <a:ext cx="2842582" cy="361950"/>
          </a:xfrm>
          <a:prstGeom xmlns:a="http://schemas.openxmlformats.org/drawingml/2006/main" prst="roundRect">
            <a:avLst>
              <a:gd name="adj" fmla="val 7895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379FEE8-CC33-4F34-8215-61D848AC1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382" y="438150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0.779×</a:t>
            </a:r>
          </a:p>
        </p:txBody>
      </p:sp>
      <p:sp>
        <p:nvSpPr>
          <p:cNvPr id="27" name="直线连接符 26">
            <a:extLst xmlns:a="http://schemas.openxmlformats.org/drawingml/2006/main">
              <a:ext uri="{FF2B5EF4-FFF2-40B4-BE49-F238E27FC236}">
                <a16:creationId xmlns:a16="http://schemas.microsoft.com/office/drawing/2014/main" id="{3BC129E3-9680-4A10-8C79-3D2FADC5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771650"/>
            <a:ext cx="0" cy="3695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723A6804-B0C2-4473-B166-50BF8CB3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19812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承载层成本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9C8D2795-5826-4AC1-9B64-62789226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571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地址描述符</a:t>
            </a:r>
          </a:p>
        </p:txBody>
      </p:sp>
      <p:sp>
        <p:nvSpPr>
          <p:cNvPr id="30" name="直线连接符 29">
            <a:extLst xmlns:a="http://schemas.openxmlformats.org/drawingml/2006/main">
              <a:ext uri="{FF2B5EF4-FFF2-40B4-BE49-F238E27FC236}">
                <a16:creationId xmlns:a16="http://schemas.microsoft.com/office/drawing/2014/main" id="{DB1C716C-A539-42B5-8052-9B2D9D41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337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DDA06F26-2D07-47D0-8697-47D40E05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0670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张量内存</a:t>
            </a:r>
          </a:p>
        </p:txBody>
      </p:sp>
      <p:sp>
        <p:nvSpPr>
          <p:cNvPr id="32" name="直线连接符 31">
            <a:extLst xmlns:a="http://schemas.openxmlformats.org/drawingml/2006/main">
              <a:ext uri="{FF2B5EF4-FFF2-40B4-BE49-F238E27FC236}">
                <a16:creationId xmlns:a16="http://schemas.microsoft.com/office/drawing/2014/main" id="{2547C97B-F4DE-4A7C-8D5E-347ABE49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4290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F14BD127-891B-47D5-89DE-986D15089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5623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提交 / 等待</a:t>
            </a:r>
          </a:p>
        </p:txBody>
      </p:sp>
      <p:sp>
        <p:nvSpPr>
          <p:cNvPr id="34" name="直线连接符 33">
            <a:extLst xmlns:a="http://schemas.openxmlformats.org/drawingml/2006/main">
              <a:ext uri="{FF2B5EF4-FFF2-40B4-BE49-F238E27FC236}">
                <a16:creationId xmlns:a16="http://schemas.microsoft.com/office/drawing/2014/main" id="{0871AC27-3B46-4630-A9EA-355C617B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9243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FCF2F159-48DC-4F9E-858E-0D7C6D75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0576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结果读回</a:t>
            </a:r>
          </a:p>
        </p:txBody>
      </p:sp>
      <p:sp>
        <p:nvSpPr>
          <p:cNvPr id="36" name="直线连接符 35">
            <a:extLst xmlns:a="http://schemas.openxmlformats.org/drawingml/2006/main">
              <a:ext uri="{FF2B5EF4-FFF2-40B4-BE49-F238E27FC236}">
                <a16:creationId xmlns:a16="http://schemas.microsoft.com/office/drawing/2014/main" id="{3C5AAC94-A3EA-4B4B-BE88-B39E9E3F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19600"/>
            <a:ext cx="914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35FDBBE-0AFA-4AE7-9EBA-EFB6C926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5529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00" b="0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数据布局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58F529B-A9BB-4F36-9243-59C7C549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C66A3D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tcgen05 核心计算有潜力，但布局、张量内存与同步协议决定公开路径是否胜出。</a:t>
            </a:r>
          </a:p>
        </p:txBody>
      </p:sp>
    </p:spTree>
    <p:extLst>
      <p:ext uri="{BB962C8B-B14F-4D97-AF65-F5344CB8AC3E}">
        <p14:creationId xmlns:p14="http://schemas.microsoft.com/office/powerpoint/2010/main" val="9175877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B6356C38-EED4-45C3-B465-B11DDA3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12  挑战结果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67EF3BB-FBB1-42C0-92DD-9567AFD3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CAKE </a:t>
            </a: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全栈路径</a:t>
            </a:r>
            <a:endParaRPr sz="3150" b="1" i="0">
              <a:solidFill>
                <a:srgbClr val="151A2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5BA39D11-FADE-48FC-B2D3-DB7673795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5F3C909F-E773-43BD-A0BA-3183AA15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A2EDE50-4C02-4F90-86F2-BD1AA162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公开接口完整加速比 = 官方时延 / 候选时延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AEC676A-A5BC-4CEA-8F26-2AB46FE0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668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图示代表工作负载；H3 为局部重排，CAKE 为全栈协同</a:t>
            </a:r>
          </a:p>
        </p:txBody>
      </p:sp>
      <p:sp>
        <p:nvSpPr>
          <p:cNvPr id="7" name="直线连接符 6">
            <a:extLst xmlns:a="http://schemas.openxmlformats.org/drawingml/2006/main">
              <a:ext uri="{FF2B5EF4-FFF2-40B4-BE49-F238E27FC236}">
                <a16:creationId xmlns:a16="http://schemas.microsoft.com/office/drawing/2014/main" id="{AB35ED5A-2808-4039-A43C-46FDEC9B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6692" y="1885950"/>
            <a:ext cx="0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151A21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C45B5F36-DD7F-4774-B8AB-15BCB7BB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192" y="533400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9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1.0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5880301-414B-4DFB-9A4B-1672BD27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H3 · H12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D5DB5B5-8791-45D4-8E1C-A1CDB8CB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公开接口完整计时</a:t>
            </a:r>
          </a:p>
        </p:txBody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1146B51A-7495-4895-A224-684359D7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2388430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E7DF2C18-25A9-4583-B075-449080C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1730" y="2038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0.905×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478E939B-BE37-47D5-B3B3-D174F09D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H3 · H96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D12E9904-52D3-4DA9-A5FC-9A605BA1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公开接口完整计时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5E7E3405-6E28-4747-939F-637F3EA4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914650"/>
            <a:ext cx="1999635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A84D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B4C065-C3D8-4845-B72D-BF4FE861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2935" y="2914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0.758×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121009F6-CA0F-4C1C-A0A1-FB33FE172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24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CAKE · H12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FB2AE042-CB22-4190-BA75-E7096644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481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完整计时 · T2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4DB13FB7-F994-4FCE-8A42-6864CD51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6547544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A4BB5A0-155E-42B4-B2BC-751F385D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844" y="39433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2.482×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5F5BB811-E1C1-430E-A501-23F0EE71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006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6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CAKE · H96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211C014D-A173-466A-89F7-DED770863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完整计时 · T2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E96003D2-55FE-428A-88A1-7B9F1E2A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19650"/>
            <a:ext cx="5943248" cy="3429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F7A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E5BF102-F10D-483A-BF77-890800DD3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548" y="4819650"/>
            <a:ext cx="104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2.253×</a:t>
            </a:r>
          </a:p>
        </p:txBody>
      </p:sp>
      <p:sp>
        <p:nvSpPr>
          <p:cNvPr id="25" name="直线连接符 24">
            <a:extLst xmlns:a="http://schemas.openxmlformats.org/drawingml/2006/main">
              <a:ext uri="{FF2B5EF4-FFF2-40B4-BE49-F238E27FC236}">
                <a16:creationId xmlns:a16="http://schemas.microsoft.com/office/drawing/2014/main" id="{F1791FE1-DC9B-4079-A76D-03059EBA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1057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422B3817-B7B3-4D58-AA66-A554859D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8645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2F7A68"/>
                </a:solidFill>
              </a:rPr>
              <a:t>知识  </a:t>
            </a:r>
            <a:r>
              <a:rPr>
                <a:solidFill>
                  <a:srgbClr val="151A21"/>
                </a:solidFill>
              </a:rPr>
              <a:t>代数重排不足以缩短完整路径；驻留、角色、同步屏障、流水、布局与分发的协同才形成稳定收益。</a:t>
            </a:r>
          </a:p>
        </p:txBody>
      </p:sp>
    </p:spTree>
    <p:extLst>
      <p:ext uri="{BB962C8B-B14F-4D97-AF65-F5344CB8AC3E}">
        <p14:creationId xmlns:p14="http://schemas.microsoft.com/office/powerpoint/2010/main" val="74923638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69FC15D-0396-44D6-A0B0-C4748343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13  挑战结果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8764D93-42D2-48E9-92BF-147742F4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八轮探索结果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41795CF4-C3CE-4A65-BEBF-BDE1D02C7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4C3D460F-78E0-46A5-9A4D-8BC0077D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22268EBB-BFE2-4F69-868A-143D34B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138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HMMA 兼容分支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98A61445-E380-44B7-95C8-4A42818EA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1381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C9FA73B-08C1-460E-A265-C0BBEFFA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85900"/>
            <a:ext cx="1476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tcgen05 原生分支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258C56B7-B5C4-4CDA-AD66-2C199819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43075"/>
            <a:ext cx="1476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6A3D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97D3FC3-F1CD-4774-9A8E-81A76B0E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nseq3  V32/V64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F88FAB2-6B48-424F-A574-41E0253F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1.076×</a:t>
            </a:r>
          </a:p>
        </p:txBody>
      </p:sp>
      <p:sp>
        <p:nvSpPr>
          <p:cNvPr id="11" name="直线连接符 10">
            <a:extLst xmlns:a="http://schemas.openxmlformats.org/drawingml/2006/main">
              <a:ext uri="{FF2B5EF4-FFF2-40B4-BE49-F238E27FC236}">
                <a16:creationId xmlns:a16="http://schemas.microsoft.com/office/drawing/2014/main" id="{1BA80808-149B-4633-97CC-D280B017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544205E-EFBC-4653-8FD5-AD25854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skew3  V32/V64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63CFD1C5-87F5-42FD-80F7-16780766B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6860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7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1.077×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DE8FAEFF-8051-4310-88B6-A97D4A4B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250B5EA-3BC3-48FA-AD9A-AD9F4174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4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nseq4  V32/V64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F587DF2-65BA-4FA5-9449-7D9E633A2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2766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75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0.962×</a:t>
            </a:r>
          </a:p>
        </p:txBody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1F1A8FF3-2CE1-46DB-B45B-1F3C6149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66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585A37F-E0B0-4E1A-A8A8-17973BBD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95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H96  s173 相对 CAKE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6DFEF64D-91AE-4057-AD33-A7E99600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095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1.033×</a:t>
            </a:r>
          </a:p>
        </p:txBody>
      </p:sp>
      <p:sp>
        <p:nvSpPr>
          <p:cNvPr id="20" name="直线连接符 19">
            <a:extLst xmlns:a="http://schemas.openxmlformats.org/drawingml/2006/main">
              <a:ext uri="{FF2B5EF4-FFF2-40B4-BE49-F238E27FC236}">
                <a16:creationId xmlns:a16="http://schemas.microsoft.com/office/drawing/2014/main" id="{5D989A12-2D62-4DF7-B184-F57B7F72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438400"/>
            <a:ext cx="4733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4EB34A5-AC55-48CE-A483-805C0970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908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负载极小化调度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9B65B2BC-3B0A-415D-ABA8-B8987BB1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590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0.938×</a:t>
            </a:r>
          </a:p>
        </p:txBody>
      </p:sp>
      <p:sp>
        <p:nvSpPr>
          <p:cNvPr id="23" name="直线连接符 22">
            <a:extLst xmlns:a="http://schemas.openxmlformats.org/drawingml/2006/main">
              <a:ext uri="{FF2B5EF4-FFF2-40B4-BE49-F238E27FC236}">
                <a16:creationId xmlns:a16="http://schemas.microsoft.com/office/drawing/2014/main" id="{CDD6C1EA-36D1-4051-A6BB-724ECB48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933700"/>
            <a:ext cx="4733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42F2652-89DD-4F66-9624-58019863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086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首选布局 / 标量重构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1E87024F-AE9B-4016-8731-058D6260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086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1.227×</a:t>
            </a:r>
          </a:p>
        </p:txBody>
      </p:sp>
      <p:sp>
        <p:nvSpPr>
          <p:cNvPr id="26" name="直线连接符 25">
            <a:extLst xmlns:a="http://schemas.openxmlformats.org/drawingml/2006/main">
              <a:ext uri="{FF2B5EF4-FFF2-40B4-BE49-F238E27FC236}">
                <a16:creationId xmlns:a16="http://schemas.microsoft.com/office/drawing/2014/main" id="{82999D26-71A2-4472-8628-B09B866F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4733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68C56FFB-8A9A-409A-BFED-87E105DD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81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首选布局 / HMMA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2B20369F-08FB-4564-B823-46320055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581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500" b="1" i="0">
                <a:solidFill>
                  <a:srgbClr val="A84D47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A84D47"/>
                </a:solidFill>
                <a:latin typeface="Arial"/>
                <a:ea typeface="Arial"/>
                <a:cs typeface="Arial"/>
              </a:rPr>
              <a:t>0.955×</a:t>
            </a:r>
          </a:p>
        </p:txBody>
      </p:sp>
      <p:sp>
        <p:nvSpPr>
          <p:cNvPr id="29" name="直线连接符 28">
            <a:extLst xmlns:a="http://schemas.openxmlformats.org/drawingml/2006/main">
              <a:ext uri="{FF2B5EF4-FFF2-40B4-BE49-F238E27FC236}">
                <a16:creationId xmlns:a16="http://schemas.microsoft.com/office/drawing/2014/main" id="{100E553A-7107-4A28-BA6F-EE2C8D8C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24300"/>
            <a:ext cx="4733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CE9E2"/>
            </a:solidFill>
            <a:prstDash val="solid"/>
          </a:ln>
        </p:spPr>
      </p:sp>
      <p:sp>
        <p:nvSpPr>
          <p:cNvPr id="30" name="直线连接符 29">
            <a:extLst xmlns:a="http://schemas.openxmlformats.org/drawingml/2006/main">
              <a:ext uri="{FF2B5EF4-FFF2-40B4-BE49-F238E27FC236}">
                <a16:creationId xmlns:a16="http://schemas.microsoft.com/office/drawing/2014/main" id="{EB32E5E3-6C37-4D9D-9221-3BEA820C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0055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A37F6762-1D48-4AE2-8C85-B9FA5893D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写入经验 IR 的三条知识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5235F42-BA5B-4068-8655-4DBA0049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D38B209-5390-4567-8637-1AABAC74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816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HMMA 仍可优化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6C229974-89C7-418E-BCAD-8F123107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8160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nseq3 仍有 7.6% 的可资格收益。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E4D11B5-79DE-400A-A24A-3562A644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16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01FF2EEF-8BCD-4539-89A6-80869BA9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5626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工作负载决定胜负</a:t>
            </a: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EE09FD1F-E5A1-4377-9D21-D0EA3D34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56260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同一 V32/V64 在 nseq3 和 nseq4 方向相反。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57BCE27-2A99-4448-B752-A241C528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304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88845EC1-6F2C-4FF1-A8A2-7B6A5515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943600"/>
            <a:ext cx="1952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局部收益须过门槛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6C8FF297-6349-4783-8FFA-73E28032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943600"/>
            <a:ext cx="7667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首选布局优于标量重构，但相对匹配 HMMA 仍为 0.955×。</a:t>
            </a:r>
          </a:p>
        </p:txBody>
      </p:sp>
    </p:spTree>
    <p:extLst>
      <p:ext uri="{BB962C8B-B14F-4D97-AF65-F5344CB8AC3E}">
        <p14:creationId xmlns:p14="http://schemas.microsoft.com/office/powerpoint/2010/main" val="18554005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C58041F6-6481-4C87-8EF3-6B157F438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14  结论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E2F19DF-96F0-4C47-8394-103F3815B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066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150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部署策略</a:t>
            </a:r>
          </a:p>
        </p:txBody>
      </p:sp>
      <p:sp>
        <p:nvSpPr>
          <p:cNvPr id="3" name="直线连接符 2">
            <a:extLst xmlns:a="http://schemas.openxmlformats.org/drawingml/2006/main">
              <a:ext uri="{FF2B5EF4-FFF2-40B4-BE49-F238E27FC236}">
                <a16:creationId xmlns:a16="http://schemas.microsoft.com/office/drawing/2014/main" id="{D3E8CED9-22D3-45E0-9FE5-1C9E7A01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CFC5565-9902-4CD8-8336-8A0FAB080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865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050" b="0" i="0">
                <a:solidFill>
                  <a:srgbClr val="AAB1B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AAB1B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57624E75-B450-4C47-AA81-49698E79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002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70A3163-D146-46A3-8884-4F67D89D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875" b="1" i="0">
                <a:solidFill>
                  <a:srgbClr val="151A2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51A21"/>
                </a:solidFill>
                <a:latin typeface="Arial"/>
                <a:ea typeface="Arial"/>
                <a:cs typeface="Arial"/>
              </a:rPr>
              <a:t>设备与负载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38ABB5-08E1-4607-860C-F12EEC6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00" b="0" i="0">
                <a:solidFill>
                  <a:srgbClr val="6670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66707A"/>
                </a:solidFill>
                <a:latin typeface="Arial"/>
                <a:ea typeface="Arial"/>
                <a:cs typeface="Arial"/>
              </a:rPr>
              <a:t>设备型号、head 数、序列形态</a:t>
            </a:r>
          </a:p>
        </p:txBody>
      </p:sp>
      <p:sp>
        <p:nvSpPr>
          <p:cNvPr id="8" name="直线连接符 7">
            <a:extLst xmlns:a="http://schemas.openxmlformats.org/drawingml/2006/main">
              <a:ext uri="{FF2B5EF4-FFF2-40B4-BE49-F238E27FC236}">
                <a16:creationId xmlns:a16="http://schemas.microsoft.com/office/drawing/2014/main" id="{F14682B8-3AD4-4E6F-A277-F6BC9BC9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D9D6CF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DB0FFF7C-ED38-42F0-9D7D-C2FA62270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638300"/>
            <a:ext cx="3476625" cy="1524000"/>
          </a:xfrm>
          <a:prstGeom xmlns:a="http://schemas.openxmlformats.org/drawingml/2006/main" prst="roundRect">
            <a:avLst>
              <a:gd name="adj" fmla="val 1875"/>
            </a:avLst>
          </a:prstGeom>
          <a:solidFill xmlns:a="http://schemas.openxmlformats.org/drawingml/2006/main">
            <a:srgbClr val="101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25DC321-B376-49D6-949D-331341F9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809750"/>
            <a:ext cx="2905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资格检查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DDB99FC-3346-4B13-B48F-9E7797D3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2905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350" b="0" i="0">
                <a:solidFill>
                  <a:srgbClr val="D7E0EA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7E0EA"/>
                </a:solidFill>
                <a:latin typeface="Arial"/>
                <a:ea typeface="Arial"/>
                <a:cs typeface="Arial"/>
              </a:rPr>
              <a:t>B300，且 profile 已认证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CE9B532-075B-4536-AB8C-9CDC8EB1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717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7E0EA"/>
                </a:solidFill>
                <a:latin typeface="Arial"/>
                <a:ea typeface="Arial"/>
                <a:cs typeface="Arial"/>
              </a:rPr>
              <a:t>输出与状态正确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C5A938A-ADF3-4B8A-BC80-BF189743B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838450"/>
            <a:ext cx="2905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275" b="0" i="0">
                <a:solidFill>
                  <a:srgbClr val="D7E0EA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7E0EA"/>
                </a:solidFill>
                <a:latin typeface="Arial"/>
                <a:ea typeface="Arial"/>
                <a:cs typeface="Arial"/>
              </a:rPr>
              <a:t>公开接口完整计时通过</a:t>
            </a:r>
          </a:p>
        </p:txBody>
      </p:sp>
      <p:sp>
        <p:nvSpPr>
          <p:cNvPr id="14" name="直线连接符 13">
            <a:extLst xmlns:a="http://schemas.openxmlformats.org/drawingml/2006/main">
              <a:ext uri="{FF2B5EF4-FFF2-40B4-BE49-F238E27FC236}">
                <a16:creationId xmlns:a16="http://schemas.microsoft.com/office/drawing/2014/main" id="{CF589BA0-FB83-45BB-A990-311C796A7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00300"/>
            <a:ext cx="66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5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F54DF5B9-244A-401D-A568-FB1207B9B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400300"/>
            <a:ext cx="495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6" name="直线连接符 15">
            <a:extLst xmlns:a="http://schemas.openxmlformats.org/drawingml/2006/main">
              <a:ext uri="{FF2B5EF4-FFF2-40B4-BE49-F238E27FC236}">
                <a16:creationId xmlns:a16="http://schemas.microsoft.com/office/drawing/2014/main" id="{B39AA607-4686-4978-90D9-E1D8A694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0" cy="1524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66707A"/>
            </a:solidFill>
            <a:prstDash val="solid"/>
          </a:ln>
        </p:spPr>
      </p:sp>
      <p:sp>
        <p:nvSpPr>
          <p:cNvPr id="17" name="直线连接符 16">
            <a:extLst xmlns:a="http://schemas.openxmlformats.org/drawingml/2006/main">
              <a:ext uri="{FF2B5EF4-FFF2-40B4-BE49-F238E27FC236}">
                <a16:creationId xmlns:a16="http://schemas.microsoft.com/office/drawing/2014/main" id="{872A4030-CDBB-4278-A206-21E1CE68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1145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A68"/>
            </a:solidFill>
            <a:prstDash val="solid"/>
          </a:ln>
        </p:spPr>
      </p:sp>
      <p:sp>
        <p:nvSpPr>
          <p:cNvPr id="18" name="直线连接符 17">
            <a:extLst xmlns:a="http://schemas.openxmlformats.org/drawingml/2006/main">
              <a:ext uri="{FF2B5EF4-FFF2-40B4-BE49-F238E27FC236}">
                <a16:creationId xmlns:a16="http://schemas.microsoft.com/office/drawing/2014/main" id="{0AD726E7-93BD-472E-B29B-AF7F83AE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38550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C5F91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4303B47-9595-433B-A24E-27B11518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符合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F6E4D485-363F-4AAE-9A53-39E59E4C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52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4000"/>
              </a:lnSpc>
              <a:buNone/>
              <a:defRPr sz="10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其余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0486EE70-15E6-43E3-97E7-B29C95EA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81150"/>
            <a:ext cx="3238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7F1ED"/>
          </a:solidFill>
          <a:ln xmlns:a="http://schemas.openxmlformats.org/drawingml/2006/main" w="9525">
            <a:solidFill>
              <a:srgbClr val="2F7A68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0CD072D-8749-4845-B9EC-9954719AE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SM100 专用后端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认证路径 T2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D28A1709-A0C1-48E9-9549-718C4E99F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238500" cy="1066800"/>
          </a:xfrm>
          <a:prstGeom xmlns:a="http://schemas.openxmlformats.org/drawingml/2006/main" prst="roundRect">
            <a:avLst>
              <a:gd name="adj" fmla="val 2679"/>
            </a:avLst>
          </a:prstGeom>
          <a:solidFill xmlns:a="http://schemas.openxmlformats.org/drawingml/2006/main">
            <a:srgbClr val="E9EFF6"/>
          </a:solidFill>
          <a:ln xmlns:a="http://schemas.openxmlformats.org/drawingml/2006/main" w="9525">
            <a:solidFill>
              <a:srgbClr val="2C5F91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1702F162-9CF0-45EF-97DB-EBD46AE67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HMMA 兼容后端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默认回退</a:t>
            </a:r>
          </a:p>
        </p:txBody>
      </p:sp>
      <p:sp>
        <p:nvSpPr>
          <p:cNvPr id="25" name="直线连接符 24">
            <a:extLst xmlns:a="http://schemas.openxmlformats.org/drawingml/2006/main">
              <a:ext uri="{FF2B5EF4-FFF2-40B4-BE49-F238E27FC236}">
                <a16:creationId xmlns:a16="http://schemas.microsoft.com/office/drawing/2014/main" id="{A257C75F-1379-4FE6-A0B8-5EF9CBEA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66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6CF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7C845486-7DC0-4973-8727-32D69B708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054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F7A6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7A68"/>
                </a:solidFill>
                <a:latin typeface="Arial"/>
                <a:ea typeface="Arial"/>
                <a:cs typeface="Arial"/>
              </a:rPr>
              <a:t>路由规则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16C15701-08B6-454B-BF98-B1B74C04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863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B300 的已认证工作负载进入 SM100 T2。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540B40C-7A21-438D-8B7E-767F100E9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2C5F91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C5F91"/>
                </a:solidFill>
                <a:latin typeface="Arial"/>
                <a:ea typeface="Arial"/>
                <a:cs typeface="Arial"/>
              </a:rPr>
              <a:t>兼容策略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E175F7A7-09B8-4368-8BB4-1CC65D26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5054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其他条件回退 HMMA，保持跨代可用。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E3C5A810-7104-4625-861A-499212B0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350" b="1" i="0">
                <a:solidFill>
                  <a:srgbClr val="C66A3D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66A3D"/>
                </a:solidFill>
                <a:latin typeface="Arial"/>
                <a:ea typeface="Arial"/>
                <a:cs typeface="Arial"/>
              </a:rPr>
              <a:t>晋级证据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241CB265-C2CC-4C42-A23A-DAAAB46D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924550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2C333B"/>
                </a:solidFill>
                <a:latin typeface="Arial"/>
                <a:ea typeface="Arial"/>
                <a:cs typeface="Arial"/>
              </a:rPr>
              <a:t>实际执行路径、输出与状态正确性、公开接口完整计时。</a:t>
            </a:r>
          </a:p>
        </p:txBody>
      </p:sp>
    </p:spTree>
    <p:extLst>
      <p:ext uri="{BB962C8B-B14F-4D97-AF65-F5344CB8AC3E}">
        <p14:creationId xmlns:p14="http://schemas.microsoft.com/office/powerpoint/2010/main" val="11323479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0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37BDDA9-6307-409D-8EBD-DB67575B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30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论文方法图</a:t>
            </a: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D8DB132-6D39-48D3-9BBC-384ABE2E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7150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125" b="0" i="0">
                <a:solidFill>
                  <a:srgbClr val="9AA8B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9AA8B8"/>
                </a:solidFill>
                <a:latin typeface="Arial"/>
                <a:ea typeface="Arial"/>
                <a:cs typeface="Arial"/>
              </a:rPr>
              <a:t>论文图 1  方法框架摘录</a:t>
            </a:r>
          </a:p>
        </p:txBody>
      </p:sp>
      <p:sp>
        <p:nvSpPr>
          <p:cNvPr id="3" name="圆角矩形 2">
            <a:extLst xmlns:a="http://schemas.openxmlformats.org/drawingml/2006/main">
              <a:ext uri="{FF2B5EF4-FFF2-40B4-BE49-F238E27FC236}">
                <a16:creationId xmlns:a16="http://schemas.microsoft.com/office/drawing/2014/main" id="{64E9D556-E819-4ECC-826B-E002A1BE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6858000" cy="3810000"/>
          </a:xfrm>
          <a:prstGeom xmlns:a="http://schemas.openxmlformats.org/drawingml/2006/main" prst="roundRect">
            <a:avLst>
              <a:gd name="adj" fmla="val 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4435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3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5bf725d6f4970"/>
          <a:stretch xmlns:a="http://schemas.openxmlformats.org/drawingml/2006/main"/>
        </p:blipFill>
        <p:spPr>
          <a:xfrm xmlns:a="http://schemas.openxmlformats.org/drawingml/2006/main">
            <a:off x="838200" y="1622247"/>
            <a:ext cx="6572250" cy="3175357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62FEECF-166A-4701-B96C-21EC564B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4097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125" b="1" i="0">
                <a:solidFill>
                  <a:srgbClr val="D2AA52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2AA52"/>
                </a:solidFill>
                <a:latin typeface="Arial"/>
                <a:ea typeface="Arial"/>
                <a:cs typeface="Arial"/>
              </a:rPr>
              <a:t>图中方法的中文释义</a:t>
            </a:r>
          </a:p>
        </p:txBody>
      </p:sp>
      <p:sp>
        <p:nvSpPr>
          <p:cNvPr id="6" name="直线连接符 5">
            <a:extLst xmlns:a="http://schemas.openxmlformats.org/drawingml/2006/main">
              <a:ext uri="{FF2B5EF4-FFF2-40B4-BE49-F238E27FC236}">
                <a16:creationId xmlns:a16="http://schemas.microsoft.com/office/drawing/2014/main" id="{93AB6A2F-FE6C-4C63-9B0D-33607FCA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666875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2AA52"/>
            </a:solidFill>
            <a:prstDash val="solid"/>
          </a:ln>
        </p:spPr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8B40A04-17C1-4BBD-8B74-78F6F1B1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812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1B7E5"/>
                </a:solidFill>
                <a:latin typeface="Arial"/>
                <a:ea typeface="Arial"/>
                <a:cs typeface="Arial"/>
              </a:rPr>
              <a:t>双分支搜索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18E5F21-5E11-4704-B76C-652DE1A8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050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Arial"/>
                <a:cs typeface="Arial"/>
              </a:rPr>
              <a:t>HMMA 与 tcgen05 独立优化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980F0F-84EA-41C9-90E0-7F5937DC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0A07A"/>
                </a:solidFill>
                <a:latin typeface="Arial"/>
                <a:ea typeface="Arial"/>
                <a:cs typeface="Arial"/>
              </a:rPr>
              <a:t>证据式晋级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9D961934-89E2-4528-A839-1FA432E3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Arial"/>
                <a:cs typeface="Arial"/>
              </a:rPr>
              <a:t>实际路径、正确性、成本同时携带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4955966-73DA-4B0C-B910-BB20AA3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543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91B7E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91B7E5"/>
                </a:solidFill>
                <a:latin typeface="Arial"/>
                <a:ea typeface="Arial"/>
                <a:cs typeface="Arial"/>
              </a:rPr>
              <a:t>双层中间表示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D2FE0799-1433-45DE-A890-0A0E5B20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6715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Arial"/>
                <a:cs typeface="Arial"/>
              </a:rPr>
              <a:t>把运行数据转成带适用范围的经验</a:t>
            </a: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DA877455-6CA3-443A-94AA-20239DBF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00" b="1" i="0">
                <a:solidFill>
                  <a:srgbClr val="F0A07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0A07A"/>
                </a:solidFill>
                <a:latin typeface="Arial"/>
                <a:ea typeface="Arial"/>
                <a:cs typeface="Arial"/>
              </a:rPr>
              <a:t>部署策略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41F0DB66-896B-4570-AA7B-BA382CCF6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48200"/>
            <a:ext cx="3238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275" b="0" i="0">
                <a:solidFill>
                  <a:srgbClr val="C6CFD9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C6CFD9"/>
                </a:solidFill>
                <a:latin typeface="Arial"/>
                <a:ea typeface="Arial"/>
                <a:cs typeface="Arial"/>
              </a:rPr>
              <a:t>已认证 SM100 路径，未覆盖 profile 回退 HMMA</a:t>
            </a:r>
          </a:p>
        </p:txBody>
      </p:sp>
      <p:sp>
        <p:nvSpPr>
          <p:cNvPr id="15" name="直线连接符 14">
            <a:extLst xmlns:a="http://schemas.openxmlformats.org/drawingml/2006/main">
              <a:ext uri="{FF2B5EF4-FFF2-40B4-BE49-F238E27FC236}">
                <a16:creationId xmlns:a16="http://schemas.microsoft.com/office/drawing/2014/main" id="{AFA0BCE9-A382-454E-A505-AD8E0C69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810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9485A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AD26F241-EDCF-44EE-B16F-0BE6D2A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48350"/>
            <a:ext cx="885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 i="0">
                <a:solidFill>
                  <a:srgbClr val="2C333B"/>
                </a:solidFill>
                <a:latin typeface="Arial"/>
                <a:ea typeface="Arial"/>
                <a:cs typeface="Arial"/>
              </a:defRPr>
            </a:pPr>
            <a:r>
              <a:rPr b="1">
                <a:solidFill>
                  <a:srgbClr val="D2AA52"/>
                </a:solidFill>
              </a:rPr>
              <a:t>最终回答  </a:t>
            </a:r>
            <a:r>
              <a:rPr b="1">
                <a:solidFill>
                  <a:srgbClr val="FFFFFF"/>
                </a:solidFill>
              </a:rPr>
              <a:t>SM100 值得以受条件保护的后端方式加入 FlashKDA。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3563FAD-B550-4195-9A5E-217FD78C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62700"/>
            <a:ext cx="1857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4000"/>
              </a:lnSpc>
              <a:buNone/>
              <a:defRPr sz="1200" b="0" i="0">
                <a:solidFill>
                  <a:srgbClr val="AAB6C6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AAB6C6"/>
                </a:solidFill>
                <a:latin typeface="Arial"/>
                <a:ea typeface="Arial"/>
                <a:cs typeface="Arial"/>
              </a:rPr>
              <a:t>提问　奶龙必胜</a:t>
            </a:r>
          </a:p>
        </p:txBody>
      </p:sp>
    </p:spTree>
    <p:extLst>
      <p:ext uri="{BB962C8B-B14F-4D97-AF65-F5344CB8AC3E}">
        <p14:creationId xmlns:p14="http://schemas.microsoft.com/office/powerpoint/2010/main" val="456538989"/>
      </p:ext>
    </p:extLst>
  </p:cSld>
</p:sld>
</file>

<file path=ppt/theme/theme1.xml><?xml version="1.0" encoding="utf-8"?>
<a:theme xmlns:a="http://schemas.openxmlformats.org/drawingml/2006/main" name="答辩公开版">
  <a:themeElements>
    <a:clrScheme name="答辩公开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Microsoft YaHei"/>
        <a:cs typeface="Arial"/>
      </a:majorFont>
      <a:minorFont>
        <a:latin typeface="Arial"/>
        <a:ea typeface="Microsoft YaHei"/>
        <a:cs typeface="Arial"/>
      </a:minorFont>
    </a:fontScheme>
    <a:fmtScheme name="答辩公开版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2026-09-10T15:56:33.1050000Z</dcterms:created>
  <dcterms:modified xsi:type="dcterms:W3CDTF">2026-09-10T15:56:33.1050000Z</dcterms:modified>
</coreProperties>
</file>