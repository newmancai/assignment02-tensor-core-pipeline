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12e819b4d04107" /><Relationship Type="http://schemas.openxmlformats.org/officeDocument/2006/relationships/extended-properties" Target="/docProps/app.xml" Id="R98424f7935894cbb" /><Relationship Type="http://schemas.openxmlformats.org/officeDocument/2006/relationships/officeDocument" Target="/ppt/presentation.xml" Id="R591040076d8040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3ad190bbaf485e"/>
  </p:sldMasterIdLst>
  <p:notesMasterIdLst>
    <p:notesMasterId xmlns:r="http://schemas.openxmlformats.org/officeDocument/2006/relationships" r:id="Rdf0ed4c05dd34474"/>
  </p:notesMasterIdLst>
  <p:sldIdLst>
    <p:sldId xmlns:r="http://schemas.openxmlformats.org/officeDocument/2006/relationships" id="256" r:id="R1992336e336a482a"/>
    <p:sldId xmlns:r="http://schemas.openxmlformats.org/officeDocument/2006/relationships" id="257" r:id="Rf13dd4f3afca45ac"/>
    <p:sldId xmlns:r="http://schemas.openxmlformats.org/officeDocument/2006/relationships" id="258" r:id="R0cb2a948ed304c0c"/>
    <p:sldId xmlns:r="http://schemas.openxmlformats.org/officeDocument/2006/relationships" id="259" r:id="R0312f7d6609542ff"/>
    <p:sldId xmlns:r="http://schemas.openxmlformats.org/officeDocument/2006/relationships" id="260" r:id="R62e79a49d90d40b7"/>
    <p:sldId xmlns:r="http://schemas.openxmlformats.org/officeDocument/2006/relationships" id="261" r:id="R6a708cc72f1c48b5"/>
    <p:sldId xmlns:r="http://schemas.openxmlformats.org/officeDocument/2006/relationships" id="262" r:id="Redeb0cf26feb4f5d"/>
    <p:sldId xmlns:r="http://schemas.openxmlformats.org/officeDocument/2006/relationships" id="263" r:id="R540e83b80f55402f"/>
    <p:sldId xmlns:r="http://schemas.openxmlformats.org/officeDocument/2006/relationships" id="264" r:id="Ra4e7aa7386df4c57"/>
    <p:sldId xmlns:r="http://schemas.openxmlformats.org/officeDocument/2006/relationships" id="265" r:id="Ra069c6e34faa46df"/>
    <p:sldId xmlns:r="http://schemas.openxmlformats.org/officeDocument/2006/relationships" id="266" r:id="R672b76f433514480"/>
    <p:sldId xmlns:r="http://schemas.openxmlformats.org/officeDocument/2006/relationships" id="267" r:id="R4ab43568b0854437"/>
    <p:sldId xmlns:r="http://schemas.openxmlformats.org/officeDocument/2006/relationships" id="268" r:id="R820805942e8a491b"/>
    <p:sldId xmlns:r="http://schemas.openxmlformats.org/officeDocument/2006/relationships" id="269" r:id="Rf727c34df8ac44a1"/>
    <p:sldId xmlns:r="http://schemas.openxmlformats.org/officeDocument/2006/relationships" id="270" r:id="R0a6236176e494c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781e3e242b4618" /><Relationship Type="http://schemas.openxmlformats.org/officeDocument/2006/relationships/slideMaster" Target="/ppt/slideMasters/slideMaster1.xml" Id="R143ad190bbaf485e" /><Relationship Type="http://schemas.openxmlformats.org/officeDocument/2006/relationships/notesMaster" Target="/ppt/notesMasters/notesMaster1.xml" Id="Rdf0ed4c05dd34474" /><Relationship Type="http://schemas.openxmlformats.org/officeDocument/2006/relationships/presProps" Target="/ppt/presProps.xml" Id="R1a98dcba83dd4eed" /><Relationship Type="http://schemas.openxmlformats.org/officeDocument/2006/relationships/tableStyles" Target="/ppt/tableStyles.xml" Id="Rdc21ca7654bc4e74" /><Relationship Type="http://schemas.openxmlformats.org/officeDocument/2006/relationships/slide" Target="/ppt/slides/slide1.xml" Id="R1992336e336a482a" /><Relationship Type="http://schemas.openxmlformats.org/officeDocument/2006/relationships/slide" Target="/ppt/slides/slide2.xml" Id="Rf13dd4f3afca45ac" /><Relationship Type="http://schemas.openxmlformats.org/officeDocument/2006/relationships/slide" Target="/ppt/slides/slide3.xml" Id="R0cb2a948ed304c0c" /><Relationship Type="http://schemas.openxmlformats.org/officeDocument/2006/relationships/slide" Target="/ppt/slides/slide4.xml" Id="R0312f7d6609542ff" /><Relationship Type="http://schemas.openxmlformats.org/officeDocument/2006/relationships/slide" Target="/ppt/slides/slide5.xml" Id="R62e79a49d90d40b7" /><Relationship Type="http://schemas.openxmlformats.org/officeDocument/2006/relationships/slide" Target="/ppt/slides/slide6.xml" Id="R6a708cc72f1c48b5" /><Relationship Type="http://schemas.openxmlformats.org/officeDocument/2006/relationships/slide" Target="/ppt/slides/slide7.xml" Id="Redeb0cf26feb4f5d" /><Relationship Type="http://schemas.openxmlformats.org/officeDocument/2006/relationships/slide" Target="/ppt/slides/slide8.xml" Id="R540e83b80f55402f" /><Relationship Type="http://schemas.openxmlformats.org/officeDocument/2006/relationships/slide" Target="/ppt/slides/slide9.xml" Id="Ra4e7aa7386df4c57" /><Relationship Type="http://schemas.openxmlformats.org/officeDocument/2006/relationships/slide" Target="/ppt/slides/slide10.xml" Id="Ra069c6e34faa46df" /><Relationship Type="http://schemas.openxmlformats.org/officeDocument/2006/relationships/slide" Target="/ppt/slides/slide11.xml" Id="R672b76f433514480" /><Relationship Type="http://schemas.openxmlformats.org/officeDocument/2006/relationships/slide" Target="/ppt/slides/slide12.xml" Id="R4ab43568b0854437" /><Relationship Type="http://schemas.openxmlformats.org/officeDocument/2006/relationships/slide" Target="/ppt/slides/slide13.xml" Id="R820805942e8a491b" /><Relationship Type="http://schemas.openxmlformats.org/officeDocument/2006/relationships/slide" Target="/ppt/slides/slide14.xml" Id="Rf727c34df8ac44a1" /><Relationship Type="http://schemas.openxmlformats.org/officeDocument/2006/relationships/slide" Target="/ppt/slides/slide15.xml" Id="R0a6236176e494c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235765fa6947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Noto Sans CJK SC"/>
        <a:ea typeface="Noto Sans CJK SC"/>
        <a:cs typeface="Noto Sans CJK SC"/>
      </a:majorFont>
      <a:minorFont>
        <a:latin typeface="Noto Sans CJK SC"/>
        <a:ea typeface="Noto Sans CJK SC"/>
        <a:cs typeface="Noto Sans CJK SC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ed0c85e5564d7d" /><Relationship Type="http://schemas.openxmlformats.org/officeDocument/2006/relationships/notesMaster" Target="/ppt/notesMasters/notesMaster1.xml" Id="R63edfd3a67eb46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a79ef27ba3404e" /><Relationship Type="http://schemas.openxmlformats.org/officeDocument/2006/relationships/notesMaster" Target="/ppt/notesMasters/notesMaster1.xml" Id="Ra6419d4ec52047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4feb9804594f92" /><Relationship Type="http://schemas.openxmlformats.org/officeDocument/2006/relationships/notesMaster" Target="/ppt/notesMasters/notesMaster1.xml" Id="R2e72db2d3fa240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e470b05e0f4a6d" /><Relationship Type="http://schemas.openxmlformats.org/officeDocument/2006/relationships/notesMaster" Target="/ppt/notesMasters/notesMaster1.xml" Id="R8b848cf3d8fb49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34a035f66c4fd7" /><Relationship Type="http://schemas.openxmlformats.org/officeDocument/2006/relationships/notesMaster" Target="/ppt/notesMasters/notesMaster1.xml" Id="R682d8fb833804d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16a2c20857408b" /><Relationship Type="http://schemas.openxmlformats.org/officeDocument/2006/relationships/notesMaster" Target="/ppt/notesMasters/notesMaster1.xml" Id="R650cdf311e6a42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a0c239b1594498" /><Relationship Type="http://schemas.openxmlformats.org/officeDocument/2006/relationships/notesMaster" Target="/ppt/notesMasters/notesMaster1.xml" Id="Rbb657df7bc1c4a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da486371c342c6" /><Relationship Type="http://schemas.openxmlformats.org/officeDocument/2006/relationships/notesMaster" Target="/ppt/notesMasters/notesMaster1.xml" Id="Rdef70e461c614a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c43c9b8aec4bd3" /><Relationship Type="http://schemas.openxmlformats.org/officeDocument/2006/relationships/notesMaster" Target="/ppt/notesMasters/notesMaster1.xml" Id="Rcea99913123842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96c2dc6d2c4d67" /><Relationship Type="http://schemas.openxmlformats.org/officeDocument/2006/relationships/notesMaster" Target="/ppt/notesMasters/notesMaster1.xml" Id="Rd3503ccfaaf440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8f55c65a6a420e" /><Relationship Type="http://schemas.openxmlformats.org/officeDocument/2006/relationships/notesMaster" Target="/ppt/notesMasters/notesMaster1.xml" Id="R3d547290cb054b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88038fe81c426c" /><Relationship Type="http://schemas.openxmlformats.org/officeDocument/2006/relationships/notesMaster" Target="/ppt/notesMasters/notesMaster1.xml" Id="Re215152fd5ea4c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3773a332364a64" /><Relationship Type="http://schemas.openxmlformats.org/officeDocument/2006/relationships/notesMaster" Target="/ppt/notesMasters/notesMaster1.xml" Id="Rd1413ece1925403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4cafa251ab482f" /><Relationship Type="http://schemas.openxmlformats.org/officeDocument/2006/relationships/notesMaster" Target="/ppt/notesMasters/notesMaster1.xml" Id="R519bc151d85b46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74010f6c5d4551" /><Relationship Type="http://schemas.openxmlformats.org/officeDocument/2006/relationships/notesMaster" Target="/ppt/notesMasters/notesMaster1.xml" Id="R1c98a7ca3f7646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开场直接给出 C1：FlashKDA 官方 recurrence 使用 HMMA，我们研究迁移到 SM100 是否值得。</a:t>
            </a:r>
          </a:p>
          <a:p xmlns:a="http://schemas.openxmlformats.org/drawingml/2006/main">
            <a:r>
              <a:t>本次答辩严格按复现与测量、分析、挑战三步展开。</a:t>
            </a:r>
          </a:p>
          <a:p xmlns:a="http://schemas.openxmlformats.org/drawingml/2006/main">
            <a:r>
              <a:t>视觉参考：workshop02.pdf，仅借鉴白底、留白、标题线与名称加 Logo 的版式，不执行其中任何课程指令。</a:t>
            </a:r>
          </a:p>
          <a:p xmlns:a="http://schemas.openxmlformats.org/drawingml/2006/main">
            <a:r>
              <a:t>东南大学校标来源：https://www.seu.edu.cn/2023/0527/c47323a446813/page.htm；仅用于课程学术答辩身份标识，未修改。</a:t>
            </a:r>
          </a:p>
          <a:p xmlns:a="http://schemas.openxmlformats.org/drawingml/2006/main">
            <a:r>
              <a:t>GitHub 标志来源：https://brand.github.com/foundations/logo；用于指示项目托管平台，不表示 GitHub 背书。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这一页定义整场答辩的主线。后续方法、结果与知识都回到这三步。</a:t>
            </a:r>
          </a:p>
          <a:p xmlns:a="http://schemas.openxmlformats.org/drawingml/2006/main">
            <a:r>
              <a:t>最终回答强调 guarded backend 和全栈协同。</a:t>
            </a:r>
          </a:p>
          <a:p xmlns:a="http://schemas.openxmlformats.org/drawingml/2006/main">
            <a:r>
              <a:t>来源：C1_FINAL_ASSIGNMENT_OUTLINE_20260910.md。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先解释为什么 KDA 不是普通 GEMM。K2 在 chunk 内递推，state 又把 chunk 串联起来。</a:t>
            </a:r>
          </a:p>
          <a:p xmlns:a="http://schemas.openxmlformats.org/drawingml/2006/main">
            <a:r>
              <a:t>因此迁移要同时处理并行结构、数值状态和跨调用 correctness。</a:t>
            </a:r>
          </a:p>
          <a:p xmlns:a="http://schemas.openxmlformats.org/drawingml/2006/main">
            <a:r>
              <a:t>来源：https://github.com/MoonshotAI/FlashKDA/blob/master/docs/20260420-flashkda-v1-deep-dive.md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我们不是根据源码名称判断指令，而是冻结 commit、实际加载模块与 hash，再对 SASS 计数。</a:t>
            </a:r>
          </a:p>
          <a:p xmlns:a="http://schemas.openxmlformats.org/drawingml/2006/main">
            <a:r>
              <a:t>结果是 3,640 条静态 HMMA，TCGEN/UTCMMA 为 0。</a:t>
            </a:r>
          </a:p>
          <a:p xmlns:a="http://schemas.openxmlformats.org/drawingml/2006/main">
            <a:r>
              <a:t>来源：SM100_MAINLINE_DELIVERY.md；C1_REPRODUCTION_ANALYSIS_CHALLENGE_CONTENT_20260910.md。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正式比较以 public call 为单位。布局、workspace 和 state copy-back 只要每次调用发生，就必须计时。</a:t>
            </a:r>
          </a:p>
          <a:p xmlns:a="http://schemas.openxmlformats.org/drawingml/2006/main">
            <a:r>
              <a:t>隔离进程修正了同进程 symbol interposition 风险。</a:t>
            </a:r>
          </a:p>
          <a:p xmlns:a="http://schemas.openxmlformats.org/drawingml/2006/main">
            <a:r>
              <a:t>来源：C1_REPRODUCTION_ANALYSIS_CHALLENGE_CONTENT_20260910.md §2。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双分支 Agent 的动机是公平性。HMMA 和 tcgen05 各自独立优化，再用同一 workload 和同一 gate 比较。</a:t>
            </a:r>
          </a:p>
          <a:p xmlns:a="http://schemas.openxmlformats.org/drawingml/2006/main">
            <a:r>
              <a:t>H0/H1 分离旧路径的优化空间，T0/T1/T2 分离 tcgen05 接入与全栈路径。</a:t>
            </a:r>
          </a:p>
          <a:p xmlns:a="http://schemas.openxmlformats.org/drawingml/2006/main">
            <a:r>
              <a:t>来源：FRAMEWORK_SCOPE_CORRECTION_20260910.md。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这一页强调 Agent 的核心产物是判断和可复用知识，不是一串 benchmark 数字。</a:t>
            </a:r>
          </a:p>
          <a:p xmlns:a="http://schemas.openxmlformats.org/drawingml/2006/main">
            <a:r>
              <a:t>五类角色只提交 typed patch；协调器先做冲突、物理协议和语义去重检查，再把合法候选分配到 HMMA 与 TCGEN05 两条支路。</a:t>
            </a:r>
          </a:p>
          <a:p xmlns:a="http://schemas.openxmlformats.org/drawingml/2006/main">
            <a:r>
              <a:t>证据合同检查实际路径、output 与 final state，以及同 workload 和同计时范围。判断写回 scoped Experience IR，已关闭旋钮不再重复采样。</a:t>
            </a:r>
          </a:p>
          <a:p xmlns:a="http://schemas.openxmlformats.org/drawingml/2006/main">
            <a:r>
              <a:t>来源：STAGE12_TYPED_IR_SEARCH_CLOSURE_20260911.md §2.3、§3.3。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Typed IR 把 shape、dtype、layout、carrier、pipeline 和 lifetime 变成可检查字段。</a:t>
            </a:r>
          </a:p>
          <a:p xmlns:a="http://schemas.openxmlformats.org/drawingml/2006/main">
            <a:r>
              <a:t>P3 与 P4 只分配一次 TMEM，并复用同一累加列。P3 的 FP32 D fragment 在明确 BF16 ROUND 后，通过 32B swizzled shared carrier 形成 P4 的输入。</a:t>
            </a:r>
          </a:p>
          <a:p xmlns:a="http://schemas.openxmlformats.org/drawingml/2006/main">
            <a:r>
              <a:t>ROUND 是语义边界，规范化器不得跨过；D fragment 到 A TMEM 也必须有显式 layout proof。</a:t>
            </a:r>
          </a:p>
          <a:p xmlns:a="http://schemas.openxmlformats.org/drawingml/2006/main">
            <a:r>
              <a:t>来源：STAGE12_TYPED_IR_SEARCH_CLOSURE_20260911.md §3.1–3.2、§4.3。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课程六问不需要在台上逐条念。把它们归纳成数值合同、成本结构、并行与部署三条规律，右侧给关键证据。</a:t>
            </a:r>
          </a:p>
          <a:p xmlns:a="http://schemas.openxmlformats.org/drawingml/2006/main">
            <a:r>
              <a:t>Q1/Q5 对应 CHUNK 与 BF16；Q2/Q4 对应 tile 与瓶颈；Q3/Q6 对应并行度与 v2 决策。</a:t>
            </a:r>
          </a:p>
          <a:p xmlns:a="http://schemas.openxmlformats.org/drawingml/2006/main">
            <a:r>
              <a:t>来源：team/TASK.md；C1_REPRODUCTION_ANALYSIS_CHALLENGE_CONTENT_20260910.md §3。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挑战不是只写一个 tcgen kernel，而是用四条互相证伪的路径逐步扩大改造范围。</a:t>
            </a:r>
          </a:p>
          <a:p xmlns:a="http://schemas.openxmlformats.org/drawingml/2006/main">
            <a:r>
              <a:t>Direct 和 H3 失败，V16 揭示 core/carrier 差异，CAKE 证明全栈协同存在显著工程收益。</a:t>
            </a:r>
          </a:p>
          <a:p xmlns:a="http://schemas.openxmlformats.org/drawingml/2006/main">
            <a:r>
              <a:t>来源：SM100_MAINLINE_DELIVERY.md；ROUND1_REVIEW.md。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V16 preferred-layout core 达到 1.615×，说明 native compute 有潜力；加入 scalar rematerialization 的 carrier 后只有 0.779×。</a:t>
            </a:r>
          </a:p>
          <a:p xmlns:a="http://schemas.openxmlformats.org/drawingml/2006/main">
            <a:r>
              <a:t>因此迁移优化的重点不是 opcode，而是 carrier 与布局。</a:t>
            </a:r>
          </a:p>
          <a:p xmlns:a="http://schemas.openxmlformats.org/drawingml/2006/main">
            <a:r>
              <a:t>来源：experiments/sm100_open_round1/TCGEN_OPTION_VALUE.md。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H3 correctness 通过，但 public-full H12/H96 几何平均分别为 0.9055× 和 0.7581×。</a:t>
            </a:r>
          </a:p>
          <a:p xmlns:a="http://schemas.openxmlformats.org/drawingml/2006/main">
            <a:r>
              <a:t>CAKE/official 在九个 profile 全部正收益，H12/H96 几何平均分别为 2.4823× 和 2.2532×。</a:t>
            </a:r>
          </a:p>
          <a:p xmlns:a="http://schemas.openxmlformats.org/drawingml/2006/main">
            <a:r>
              <a:t>这使全栈协同成为本项目最关键的迁移知识。</a:t>
            </a:r>
          </a:p>
          <a:p xmlns:a="http://schemas.openxmlformats.org/drawingml/2006/main">
            <a:r>
              <a:t>来源：https://arxiv.org/abs/2608.12629；SM100_MAINLINE_DELIVERY.md。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闭包只覆盖图中的有限 typed grammar 与已测 profile。每个候选都以 qualified、below gate 或 correctness rejected 结束，证书中的 missing_design_ids 为空。</a:t>
            </a:r>
          </a:p>
          <a:p xmlns:a="http://schemas.openxmlformats.org/drawingml/2006/main">
            <a:r>
              <a:t>这不是全局 GPU 最优性证明。完整 P1 到 P6 public-call、可验证 D 到 A TMEM 映射，以及新的 M64、M128、split、slab 算法族仍在开放边界外。</a:t>
            </a:r>
          </a:p>
          <a:p xmlns:a="http://schemas.openxmlformats.org/drawingml/2006/main">
            <a:r>
              <a:t>长驻留 P3/P4 探针给出 1.43 到 1.45 倍的机制上界；是否成为完整 SM100 后端仍由 public-full 正确性和同口径计时决定。</a:t>
            </a:r>
          </a:p>
          <a:p xmlns:a="http://schemas.openxmlformats.org/drawingml/2006/main">
            <a:r>
              <a:t>来源：STAGE12_TYPED_IR_SEARCH_CLOSURE_20260911.md §1、§4–6；04_evidence/agent_rounds/round9_closure_certificate.json。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最终交付不是一个孤立 benchmark，而是一个可以实现的 dispatcher。</a:t>
            </a:r>
          </a:p>
          <a:p xmlns:a="http://schemas.openxmlformats.org/drawingml/2006/main">
            <a:r>
              <a:t>资格 profile 进入 SM100 T2，其余条件走 HMMA 兼容路径。每个 route 都由执行身份、递推 correctness 和 public-full 证据晋级。</a:t>
            </a:r>
          </a:p>
          <a:p xmlns:a="http://schemas.openxmlformats.org/drawingml/2006/main">
            <a:r>
              <a:t>来源：C1_FINAL_ASSIGNMENT_OUTLINE_20260910.md §7–9。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收尾回到论文方法图。双分支搜索、证据晋级和双层 IR 把迁移问题从一次性 benchmark 变成可积累的探索闭环。</a:t>
            </a:r>
          </a:p>
          <a:p xmlns:a="http://schemas.openxmlformats.org/drawingml/2006/main">
            <a:r>
              <a:t>最终回答：SM100 值得以 guarded backend 的方式加入 FlashKDA。</a:t>
            </a:r>
          </a:p>
          <a:p xmlns:a="http://schemas.openxmlformats.org/drawingml/2006/main">
            <a:r>
              <a:t>图片来源：output/pdf/runtime-profile-evolution-mainline-20260910.pdf，第 2 页 Figure 1 核心片段。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e18eb7d4140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bc550a8e4b49ef" /><Relationship Type="http://schemas.openxmlformats.org/officeDocument/2006/relationships/slideLayout" Target="/ppt/slideLayouts/slideLayout1.xml" Id="Rc30a2ac298dd4a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0a2ac298dd4a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Noto Sans CJK SC"/>
        <a:ea typeface="Noto Sans CJK SC"/>
        <a:cs typeface="Noto Sans CJK SC"/>
      </a:majorFont>
      <a:minorFont>
        <a:latin typeface="Noto Sans CJK SC"/>
        <a:ea typeface="Noto Sans CJK SC"/>
        <a:cs typeface="Noto Sans CJK SC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cbdb0a9434466" /><Relationship Type="http://schemas.openxmlformats.org/officeDocument/2006/relationships/image" Target="/ppt/media/image.png" Id="R935881cc460c4721" /><Relationship Type="http://schemas.openxmlformats.org/officeDocument/2006/relationships/image" Target="/ppt/media/image2.png" Id="R8627b0c438d34339" /><Relationship Type="http://schemas.openxmlformats.org/officeDocument/2006/relationships/notesSlide" Target="/ppt/notesSlides/notesSlide1.xml" Id="R40e55f31abc44c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07506f5f04964" /><Relationship Type="http://schemas.openxmlformats.org/officeDocument/2006/relationships/image" Target="/ppt/media/image3.png" Id="R181ede047895423a" /><Relationship Type="http://schemas.openxmlformats.org/officeDocument/2006/relationships/image" Target="/ppt/media/image4.png" Id="Ra5949be03f1c4627" /><Relationship Type="http://schemas.openxmlformats.org/officeDocument/2006/relationships/notesSlide" Target="/ppt/notesSlides/notesSlide2.xml" Id="R638b6f40471b4f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314672e8e4096" /><Relationship Type="http://schemas.openxmlformats.org/officeDocument/2006/relationships/image" Target="/ppt/media/image5.png" Id="R9220c64142264900" /><Relationship Type="http://schemas.openxmlformats.org/officeDocument/2006/relationships/image" Target="/ppt/media/image6.png" Id="Rca6ee9c0561d41fa" /><Relationship Type="http://schemas.openxmlformats.org/officeDocument/2006/relationships/notesSlide" Target="/ppt/notesSlides/notesSlide3.xml" Id="Rf1810dcde1a548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dc42851d94e05" /><Relationship Type="http://schemas.openxmlformats.org/officeDocument/2006/relationships/image" Target="/ppt/media/image7.png" Id="R3a568f87e05e43ac" /><Relationship Type="http://schemas.openxmlformats.org/officeDocument/2006/relationships/image" Target="/ppt/media/image8.png" Id="R3ff9df4f90834e75" /><Relationship Type="http://schemas.openxmlformats.org/officeDocument/2006/relationships/notesSlide" Target="/ppt/notesSlides/notesSlide4.xml" Id="R2a4e1cbfdc644d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2229eff144f16" /><Relationship Type="http://schemas.openxmlformats.org/officeDocument/2006/relationships/image" Target="/ppt/media/image9.png" Id="R0874d8ebd0c34ce6" /><Relationship Type="http://schemas.openxmlformats.org/officeDocument/2006/relationships/image" Target="/ppt/media/image10.png" Id="R8d5f2c697b144a05" /><Relationship Type="http://schemas.openxmlformats.org/officeDocument/2006/relationships/notesSlide" Target="/ppt/notesSlides/notesSlide5.xml" Id="R792b7161aa9449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6a84354e64d6f" /><Relationship Type="http://schemas.openxmlformats.org/officeDocument/2006/relationships/image" Target="/ppt/media/image11.png" Id="R1697716f24ae4994" /><Relationship Type="http://schemas.openxmlformats.org/officeDocument/2006/relationships/image" Target="/ppt/media/image12.png" Id="Rd230cc75eead40d4" /><Relationship Type="http://schemas.openxmlformats.org/officeDocument/2006/relationships/notesSlide" Target="/ppt/notesSlides/notesSlide6.xml" Id="R24b8ab8f51a640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1b3ab8ea6433d" /><Relationship Type="http://schemas.openxmlformats.org/officeDocument/2006/relationships/image" Target="/ppt/media/image13.png" Id="Raa4ef49bc68c4fbf" /><Relationship Type="http://schemas.openxmlformats.org/officeDocument/2006/relationships/image" Target="/ppt/media/image14.png" Id="R40542f936ef8437d" /><Relationship Type="http://schemas.openxmlformats.org/officeDocument/2006/relationships/image" Target="/ppt/media/image15.png" Id="R528d6416269d40e6" /><Relationship Type="http://schemas.openxmlformats.org/officeDocument/2006/relationships/notesSlide" Target="/ppt/notesSlides/notesSlide7.xml" Id="R82cc60ff6c2844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8b18b14ad419b" /><Relationship Type="http://schemas.openxmlformats.org/officeDocument/2006/relationships/image" Target="/ppt/media/image16.png" Id="Ra1f064e265fd4c35" /><Relationship Type="http://schemas.openxmlformats.org/officeDocument/2006/relationships/image" Target="/ppt/media/image17.png" Id="Rb376fd4c7a524433" /><Relationship Type="http://schemas.openxmlformats.org/officeDocument/2006/relationships/image" Target="/ppt/media/image18.png" Id="Rbc71e965199a489a" /><Relationship Type="http://schemas.openxmlformats.org/officeDocument/2006/relationships/notesSlide" Target="/ppt/notesSlides/notesSlide8.xml" Id="R3cec8f47fdfc42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edfafc8b245f2" /><Relationship Type="http://schemas.openxmlformats.org/officeDocument/2006/relationships/image" Target="/ppt/media/image19.png" Id="R3a57d56f5490492d" /><Relationship Type="http://schemas.openxmlformats.org/officeDocument/2006/relationships/image" Target="/ppt/media/image20.png" Id="R3fe875e8237043ef" /><Relationship Type="http://schemas.openxmlformats.org/officeDocument/2006/relationships/notesSlide" Target="/ppt/notesSlides/notesSlide9.xml" Id="R1099c1815a694d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46e65b646492f" /><Relationship Type="http://schemas.openxmlformats.org/officeDocument/2006/relationships/image" Target="/ppt/media/image21.png" Id="R6ce43ae9e3404568" /><Relationship Type="http://schemas.openxmlformats.org/officeDocument/2006/relationships/image" Target="/ppt/media/image22.png" Id="Rce021733d2dd462d" /><Relationship Type="http://schemas.openxmlformats.org/officeDocument/2006/relationships/notesSlide" Target="/ppt/notesSlides/notesSlide10.xml" Id="R7fc79eed8a1140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5b805d8b84577" /><Relationship Type="http://schemas.openxmlformats.org/officeDocument/2006/relationships/image" Target="/ppt/media/image23.png" Id="R68911db81173450b" /><Relationship Type="http://schemas.openxmlformats.org/officeDocument/2006/relationships/image" Target="/ppt/media/image24.png" Id="R2856ab0f870a4f29" /><Relationship Type="http://schemas.openxmlformats.org/officeDocument/2006/relationships/notesSlide" Target="/ppt/notesSlides/notesSlide11.xml" Id="Rac7c7b5c005442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b3072919b49d4" /><Relationship Type="http://schemas.openxmlformats.org/officeDocument/2006/relationships/image" Target="/ppt/media/image25.png" Id="R0bb2b7b8d08e4e0f" /><Relationship Type="http://schemas.openxmlformats.org/officeDocument/2006/relationships/image" Target="/ppt/media/image26.png" Id="Ra78fc3e904fb424e" /><Relationship Type="http://schemas.openxmlformats.org/officeDocument/2006/relationships/notesSlide" Target="/ppt/notesSlides/notesSlide12.xml" Id="R0fb4521314b844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d7df4a41f4899" /><Relationship Type="http://schemas.openxmlformats.org/officeDocument/2006/relationships/image" Target="/ppt/media/image27.png" Id="Rdf7cf6f003f942bb" /><Relationship Type="http://schemas.openxmlformats.org/officeDocument/2006/relationships/image" Target="/ppt/media/image28.png" Id="Rffeaf0770f3d4e9f" /><Relationship Type="http://schemas.openxmlformats.org/officeDocument/2006/relationships/image" Target="/ppt/media/image29.png" Id="R69ee4f6f90a54a83" /><Relationship Type="http://schemas.openxmlformats.org/officeDocument/2006/relationships/notesSlide" Target="/ppt/notesSlides/notesSlide13.xml" Id="R0a41bce4de41474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c5d43681a452a" /><Relationship Type="http://schemas.openxmlformats.org/officeDocument/2006/relationships/image" Target="/ppt/media/image30.png" Id="Rd7a337dcbb3d4afd" /><Relationship Type="http://schemas.openxmlformats.org/officeDocument/2006/relationships/image" Target="/ppt/media/image31.png" Id="R9a836c15b6dd432b" /><Relationship Type="http://schemas.openxmlformats.org/officeDocument/2006/relationships/notesSlide" Target="/ppt/notesSlides/notesSlide14.xml" Id="Ra4767853604f4b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863827a5f41a6" /><Relationship Type="http://schemas.openxmlformats.org/officeDocument/2006/relationships/image" Target="/ppt/media/image32.png" Id="R6c5ae8a0ec204af9" /><Relationship Type="http://schemas.openxmlformats.org/officeDocument/2006/relationships/image" Target="/ppt/media/image33.png" Id="R41c52a6f56d14a37" /><Relationship Type="http://schemas.openxmlformats.org/officeDocument/2006/relationships/image" Target="/ppt/media/image34.png" Id="Ra3533d66fced4817" /><Relationship Type="http://schemas.openxmlformats.org/officeDocument/2006/relationships/notesSlide" Target="/ppt/notesSlides/notesSlide15.xml" Id="Re08d268133874b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34AE3-821B-41F0-AF0C-D17C3B9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2A829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A8298"/>
                </a:solidFill>
                <a:latin typeface="Noto Sans CJK SC"/>
                <a:ea typeface="Noto Sans CJK SC"/>
                <a:cs typeface="Noto Sans CJK SC"/>
              </a:rPr>
              <a:t>C1  ·  FlashKDA on SM100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80EBD-3586-4418-A322-03D1D055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1000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79040-5C30-4505-8CDB-1334A5C1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242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881cc460c4721"/>
          <a:stretch xmlns:a="http://schemas.openxmlformats.org/drawingml/2006/main"/>
        </p:blipFill>
        <p:spPr>
          <a:xfrm xmlns:a="http://schemas.openxmlformats.org/drawingml/2006/main">
            <a:off x="9829800" y="314325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6301B-AB1E-4A47-96C5-DF507745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242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7b0c438d34339"/>
          <a:stretch xmlns:a="http://schemas.openxmlformats.org/drawingml/2006/main"/>
        </p:blipFill>
        <p:spPr>
          <a:xfrm xmlns:a="http://schemas.openxmlformats.org/drawingml/2006/main">
            <a:off x="10439400" y="373788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E683C-2FD7-4FF7-82E1-A445C5C4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1078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64FB875-7021-40BA-A9C0-F5DE188E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FlashKDA 迁移到 SM100</a:t>
            </a:r>
          </a:p>
          <a:p xmlns:a="http://schemas.openxmlformats.org/drawingml/2006/main">
            <a:pPr algn="ctr">
              <a:lnSpc>
                <a:spcPct val="98000"/>
              </a:lnSpc>
              <a:buNone/>
              <a:def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是否值得？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E1E6B6-A088-44FA-81AA-0114C544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385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B300 上的复现、因果分析与双分支探索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D6322-A74D-49A8-8063-906EF948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奶龙必胜｜蔡雨洋 · 李奥 · 赵骋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9EE33-ACE3-48D4-9837-10AB8CA0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912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复现与测量  ·  分析与知识写回  ·  挑战与条件部署</a:t>
            </a:r>
          </a:p>
        </p:txBody>
      </p:sp>
    </p:spTree>
    <p:extLst>
      <p:ext uri="{BB962C8B-B14F-4D97-AF65-F5344CB8AC3E}">
        <p14:creationId xmlns:p14="http://schemas.microsoft.com/office/powerpoint/2010/main" val="17644040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3B1A20-D4E3-4ED2-AF9D-7A1947B8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02  主线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8DA4C-68E4-4F9A-9EAE-720D6A83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C1 研究主线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621FC-7CAB-41EA-8C63-0E2D5CC1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723B3-0F77-4D51-9E56-2565A094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6ECD0-7E6C-457D-818F-249E1263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ede047895423a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E4C15-048B-4BAA-B797-A036CDC5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49be03f1c4627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71D5C-B64E-4713-AD3E-D39EC536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3B89D-091A-41A6-9CDB-B71B9B53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66707A"/>
                </a:solidFill>
              </a:rPr>
              <a:t>研究问题  </a:t>
            </a:r>
            <a:r>
              <a:rPr b="1">
                <a:solidFill>
                  <a:srgbClr val="151A21"/>
                </a:solidFill>
              </a:rPr>
              <a:t>在同一套 FlashKDA 接口与数值约束下，SM100 原生路径能否产生足以覆盖迁移成本的实际收益？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D84EA0-6A4F-4530-9A10-A7A46E9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AE6E23-8C58-473F-B826-2D717B38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4792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复现与测量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86174D-E46F-4266-B854-69E1DC51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574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锁定执行身份、正确性与公开接口计时边界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5AFE4-319E-4829-8A37-D42FF80D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57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指令身份、利用率与计时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D925B-BED3-4F2F-A8F3-C92C45E6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575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6FC48-4155-4C45-A4E1-A4CDC6A0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EB283C-257F-4F08-9AAA-9701A5A5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956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分析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A8F343-B02A-40DC-A8E2-52EB447E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052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用双分支闭环生成可比证据，再把六问收敛为规律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41C0F-E903-4F7C-A745-6B0AC2F8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05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双分支 agent 与双层 IR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7FB2A-9B55-462F-BB1D-236BDC1D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052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766057-D52D-4140-A4DB-5DC1E5AF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1A5E4-CBD8-4037-BA8E-93DA141C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4342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挑战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CC7F89-D982-443B-ABAF-31C8B0A2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529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沿四条路径推进候选，并用数据与知识完成晋级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00BBF6-42BF-4ACC-813B-3B7A1B50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52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替换、布局与全栈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84B3D7-132C-425C-97F5-BD804DDD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530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629454-5448-47B9-B5BB-F2D7EE28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578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2F7A68"/>
                </a:solidFill>
              </a:rPr>
              <a:t>回答  </a:t>
            </a:r>
            <a:r>
              <a:rPr>
                <a:solidFill>
                  <a:srgbClr val="151A21"/>
                </a:solidFill>
              </a:rPr>
              <a:t>在已测 B300 工作负载上，SM100 值得以受条件保护的后端方式加入；有效迁移单位是全栈协同，而不是单独替换矩阵乘加指令。</a:t>
            </a:r>
          </a:p>
        </p:txBody>
      </p:sp>
    </p:spTree>
    <p:extLst>
      <p:ext uri="{BB962C8B-B14F-4D97-AF65-F5344CB8AC3E}">
        <p14:creationId xmlns:p14="http://schemas.microsoft.com/office/powerpoint/2010/main" val="1930501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36CC4A-2A63-4819-A7CB-B2E83A72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03  背景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76DC3-5D9C-4D98-9D3F-63DFA139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KDA 递推结构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28000-9EBD-4897-AD0E-3798A7FA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128B5-4C7E-41B0-AE6A-356E0EA5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03A4D-9EF4-44EC-9628-153F6FB9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0c64142264900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2816D-AB96-48AD-A629-ADB02E9C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6ee9c0561d41fa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6E0F7-EE7A-4B52-AA77-85CB85FB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6DBD4-33C7-4DE6-9815-78BA3114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一个 chunk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2EE8A-A593-40BC-9CF0-D1D17FC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81175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7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B68B8-DE0C-470C-896D-7EEF117F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14287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9EFF6"/>
          </a:solidFill>
          <a:ln xmlns:a="http://schemas.openxmlformats.org/drawingml/2006/main" w="9525">
            <a:solidFill>
              <a:srgbClr val="2C5F9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B9582-9613-4888-ADB9-DC07743C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1200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state t−1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17DB6-21F7-4E3F-B2D0-E1AE2512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76450"/>
            <a:ext cx="16192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A298E-D42F-475B-8B86-BD506435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76450"/>
            <a:ext cx="133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K1  prepare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071F68-4EAF-4CDA-8B59-013CD7AD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43100"/>
            <a:ext cx="2381250" cy="97155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5EAE3"/>
          </a:solidFill>
          <a:ln xmlns:a="http://schemas.openxmlformats.org/drawingml/2006/main" w="9525">
            <a:solidFill>
              <a:srgbClr val="C66A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2F2BA-C54A-42B4-939C-CFA888D0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002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K2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16-step recurrence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16FCED-F293-4600-B808-1D496330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76450"/>
            <a:ext cx="133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state 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64D54-A010-4710-B8B4-66A07390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288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8831F-A25B-4F52-BAF0-30545C62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05F399-6B2D-447E-B8D7-9B652973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88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03AB5-D1AF-40AA-8840-9BDBAFC2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B18ED4-D8A6-4616-AF05-5B0EE9EF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28875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56E94F-6208-44B8-89F7-B592AA5D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F435F2-D8BE-459E-B5FA-98F8B0BC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428875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B5FA02-07BF-406D-8239-ACCC5EF4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098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next chunk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C65DB2-E7B8-4BA5-A2C0-6C056F92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10715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CB8ABE-D688-4260-97D4-930B411D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CHUNK = 16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308F8E-758E-4CB5-BFF5-16A469CF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481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数值范围、16×16 求解与 SM80 MMA 形状共同形成的设计点。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13171A-B540-4C4D-A353-6BA3C3C8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62450"/>
            <a:ext cx="828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14CF4F-354D-4A3A-8BD7-F8B25C4B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递推正确性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87674A-7217-4475-ABF1-5926BEEC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9105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一次调用要同时验证 output 与 final state；连续调用还要检查 state handoff。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0186CE-BE5E-48BE-AF24-84F933DC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05400"/>
            <a:ext cx="828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C6C692-7072-4B4E-BA14-A85F2564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可利用并行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45640A-A2BE-4063-939D-5D285016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chunk 内 K2 串行，但 head、value slice、sequence 与角色仍可并行。</a:t>
            </a:r>
          </a:p>
        </p:txBody>
      </p:sp>
    </p:spTree>
    <p:extLst>
      <p:ext uri="{BB962C8B-B14F-4D97-AF65-F5344CB8AC3E}">
        <p14:creationId xmlns:p14="http://schemas.microsoft.com/office/powerpoint/2010/main" val="13690909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B36666-0D0E-422D-9982-65007621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04  复现与测量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3F9EC-4455-48F3-B2C9-AB647C6D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官方路径仍使用 HMMA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521483-9D1A-4AAE-BD24-DDD0396D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1FFACD-4454-4D7F-AA67-AE55F38E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03C61-AF08-4AD8-AE96-A3CD63B3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68f87e05e43ac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D4E9B-57FB-4EC9-9D41-545D432E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9df4f90834e75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97B0C-A7ED-45E7-ADA2-438BEB49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F9D58-09CA-4D2A-87BA-416AD214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执行身份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E85E70-574B-42FF-9BFB-C8D70B57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81175"/>
            <a:ext cx="104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C5F9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D6F57-A735-4A0B-BB59-E494025F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FlashKDA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B1955-64E7-46DC-A741-F510F99D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1ce47ea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7DED3-6EDC-4296-9633-C0B67F0C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431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3302C2-BF21-40E4-9084-019459D9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E0C826-6C9C-4B4C-A9D9-A7016B35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CUTLASS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A0956B-DDD9-4DD3-9E2B-BA5CDBB5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5c149f5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1CA029-97F0-4510-946E-36BADC19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431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71CA4D-21D0-411B-A37C-BB430EC1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BADE8-FA7A-4A8B-B4FC-6FC7FDF3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目标架构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0A1802-4523-4BC8-B15D-D3317EC4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sm_103a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310A6-32D8-4524-A9F4-5DF4593A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431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E3569-5C80-44AD-AD56-4E83E01B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B733D9-292A-4423-B470-8DB1EFE2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反汇编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CA079-5139-443F-BDCC-644ABC54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实际加载 .so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830FC-6802-44ED-BA93-7941C0C4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0" cy="395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4B6907-6E24-445E-9047-81BF3E7A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4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3,640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ECDD22-B8B1-40DA-AA9E-ECF1F5FE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527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条 HMMA 矩阵乘加指令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79ED8A-8291-4FA8-A614-FBCF804F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4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2B167-9CCD-44F5-88A8-353B9831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386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SM100 原生 tcgen05、UTCMMA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E876B9-BFF2-405B-A0B7-1DEA819D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530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源码命名不是证据；实际加载二进制的指令身份才是。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40DFAA-4998-49F2-821E-298B6C80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95650"/>
            <a:ext cx="666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06EC0E-535D-46E1-8580-B9D12970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同一复现同时记录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FFFA9-81D7-4405-961A-DF2CC2F1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634B9A-AC1D-4220-B56E-7D017D94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148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实际加载模块路径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3201CD-1D8E-4046-B750-0D94587F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53D0AC-673B-4E14-89C7-14E5F98E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源码与二进制 SHA-256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97A468-8160-4A7E-958E-B0851FD7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680585-EED2-4138-BC6D-427431EC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387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Python 导入来源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610EB3-4A53-4EA0-BBEB-F777759E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EEEE2E-9AF2-4BC1-9616-D8ED615C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0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CUDA 头文件版本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2737D2-0D26-410D-8B02-0CCC4316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816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CF8A6D-B759-4A86-9838-AFBD44F6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5626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实际执行路径</a:t>
            </a:r>
          </a:p>
        </p:txBody>
      </p:sp>
    </p:spTree>
    <p:extLst>
      <p:ext uri="{BB962C8B-B14F-4D97-AF65-F5344CB8AC3E}">
        <p14:creationId xmlns:p14="http://schemas.microsoft.com/office/powerpoint/2010/main" val="9564419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F63BC7-12EE-4F8E-A655-E6AAD0FB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05  复现与测量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3B9F2-5457-4C6D-9BA4-961BAE0B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计时与正确性边界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11574-662D-4FD4-9A4C-A16BCD24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6835C-6B20-44DD-9326-0EA595A8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1619A-31E3-4FEE-BE87-F52DDF8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4d8ebd0c34ce6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C0A35-EA17-495F-AC8B-9D5850F8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f2c697b144a05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7EBB7-58DC-41D9-BC79-A13715BC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99960-3BB0-4386-9D60-3FB622EB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382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计时边界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C86BA8-8D05-41E5-8A64-F3526A83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C5F9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7169D-EC8C-452A-A27D-72BAAF2F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首次编译与一次性分配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683E3-B5C8-44DB-9F3A-E4F5E5C1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6096000" cy="6096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E9EFF6"/>
          </a:solidFill>
          <a:ln xmlns:a="http://schemas.openxmlformats.org/drawingml/2006/main" w="9525">
            <a:solidFill>
              <a:srgbClr val="2C5F9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980867-DAE1-4B88-8B9D-51496A22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布局处理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C9E82-6C49-4BEC-8504-1724DC70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05025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7C8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4FA8E-1B6C-492B-9D00-C0498CA8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工作区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2798BC-2244-4E22-8792-4D42CC65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05025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7C8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6A9138-B85F-40B7-9C78-156A68E1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内核执行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1B5BB-0F52-4861-84DB-18609558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05025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7C8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CA4F7-2694-4C1B-8BCB-B9E5C38C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状态回写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61FCE2-4610-4E60-84E2-C69567A2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764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后续调用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993E8E-E590-4955-BA16-E51E40C2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DEE999-E4C6-4A85-8254-81A0508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69F054-B02D-46F5-B3A6-BD25FE9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813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C5F9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08F625-40BD-4C15-B30E-EAEF12DC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24150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C5F9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939595-5DA9-4423-AF4D-B9A19248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C5F9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F6CEC1-B88D-47C5-AAE5-27302D3F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计时外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A78075-2735-4EA8-8FC5-84A6E889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24175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公开接口计时范围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D0CB5-6A25-4625-B53D-C95678CE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BC2DD6-F17C-41CF-BB0D-22DD94B6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E30A69-147C-4916-898D-D37BCC5F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62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状态一致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E516DC-0CE2-4EEF-9C12-1BE333A5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8620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每次调用使用相同非零初态，重复测量时轮转状态槽位。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F9E9A3-F473-4B76-8F0D-B02DE081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18791A-5602-4C74-9E9A-A1B2238F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005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进程隔离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1D5E05-7376-4D78-A2DD-57D66B07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0055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每个实现使用独立进程，避免 CUDA 符号覆盖改变实际执行路径。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C5CBAF-F49D-40F7-872B-FC5EBA85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66548C-719C-46EE-8068-73FA92BD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双重正确性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8DF951-4F2D-40B1-B0DB-CEC9A58C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91490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同时检查输出与最终状态，并覆盖打包、尾块和连续两次调用。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E4FAB7-40CD-4127-945A-B394C1B3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8A1739-CEFA-4D6C-9183-209FAFFC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正式性能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1A54D3-217C-47A1-8329-D19B67C5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42925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冷 L2、CUDA 性能接口（CUPTI）、平衡顺序与 ABBA 交替复测。</a:t>
            </a:r>
          </a:p>
        </p:txBody>
      </p:sp>
    </p:spTree>
    <p:extLst>
      <p:ext uri="{BB962C8B-B14F-4D97-AF65-F5344CB8AC3E}">
        <p14:creationId xmlns:p14="http://schemas.microsoft.com/office/powerpoint/2010/main" val="618919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B5A3A1-2AB9-445D-A646-5F9910EB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06  分析方法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C76D0-7E21-4E5E-AF8F-53874640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双分支的公平性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E8752-E46D-49AC-A04E-D014AC36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38C0B-EAA2-46CE-9A4B-3979EE3C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75E21-115B-4868-9023-47199A48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97716f24ae4994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BE6FF-C8C7-4D18-B156-B32EB652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0cc75eead40d4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F75F4-D8F6-482E-8484-46821E73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EA6EC-D68C-4C4B-824F-7E60E458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架构收益只能从“同预算的最优边界”中被分离出来。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BDBCB-A7E4-419F-B0FB-52A0A7E9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两条支路的搜索能量可以不同，但机会预算与证据门槛必须一致。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E5DF2-5EF2-4D72-AF64-2EC0630B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1104900" cy="2628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01D2E"/>
          </a:solidFill>
          <a:ln xmlns:a="http://schemas.openxmlformats.org/drawingml/2006/main" w="14288">
            <a:solidFill>
              <a:srgbClr val="D2AA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142410-EFF8-4D9A-8B64-41CE3255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67050"/>
            <a:ext cx="80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共同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5B38B-773C-4D52-A35D-5C2A9967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rPr>
              <a:t>同一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rPr>
              <a:t>workload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E1867-124C-4F2B-B312-80E56DE3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194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2C5F9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F96C8-A6CD-489F-9527-CD925CA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05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B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BD3AD-82E2-45E7-BA6A-0E6CC20F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765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B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46F0E-5BC6-4F52-B10C-B0F25302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40163-F7D0-4C34-9FAC-F54CF45A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6289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HMMA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E35C31-BBEA-4A2A-A07B-2351E486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H0  官方路径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8B3B2-6DE9-4950-B50D-59E5D5C1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766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H1  同预算最优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4D484-1094-41CA-B898-2C4A29CD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38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局部闭包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D86142-56F5-403A-A074-D80DC902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910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0">
            <a:solidFill>
              <a:srgbClr val="C66A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DE071A-354E-4E91-9A01-D1E74AF5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A0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1ED264-D397-4F0C-86ED-3F68E0C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196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A0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27B9A9-9F3B-4B40-97DF-B8ECD331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90B85C-EA5E-41B2-AD81-D6D49850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tcgen05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212DFA-0201-44A9-9135-0F1D1095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T0  同预算接入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1BA1FE-9B43-498A-9D9A-F810B835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530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T1 / T2  布局与全栈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24F9E1-9827-42D1-A862-52E29377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81250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6B1C52-AC62-4810-9D13-65E6DE57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共享证据合同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020F31-8183-470F-8B1E-D2EE058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51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4FB672-5699-4DCE-9352-C96B4B8C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70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工作负载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5B922E-DF3A-4FBF-8478-5ADCE256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6232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q / k / v、状态与打包边界一致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F0770A-F171-48C8-BF29-84B27C5B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481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14EF6-652B-4F8E-BAF0-D0F23056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10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机会预算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333F72-0AAE-4620-90F7-A68706E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0527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候选数与搜索机会按轮匹配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D31B79-33B8-42CA-9581-C69AC534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91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607C27-E365-40CD-84B9-8F640C50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5529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证据门槛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55E928-E9BE-40DC-99DA-EA43458C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4822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身份、双重正确性与 public-full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F57DA7-A8F9-4051-B265-591FBF6C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1020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290D6D-0D1C-45CE-99BC-D24CF75D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197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2F7A68"/>
                </a:solidFill>
              </a:rPr>
              <a:t>比较对象  </a:t>
            </a:r>
            <a:r>
              <a:rPr>
                <a:solidFill>
                  <a:srgbClr val="151A21"/>
                </a:solidFill>
              </a:rPr>
              <a:t>两条支路在同一合同下得到的最优边界。</a:t>
            </a:r>
          </a:p>
        </p:txBody>
      </p:sp>
    </p:spTree>
    <p:extLst>
      <p:ext uri="{BB962C8B-B14F-4D97-AF65-F5344CB8AC3E}">
        <p14:creationId xmlns:p14="http://schemas.microsoft.com/office/powerpoint/2010/main" val="5654754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ef49bc68c4fb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63C27-3CB8-4073-AEC0-E3DE25F9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717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A06CD-D8D5-4139-9A78-5D255D32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42f936ef8437d"/>
          <a:stretch xmlns:a="http://schemas.openxmlformats.org/drawingml/2006/main"/>
        </p:blipFill>
        <p:spPr>
          <a:xfrm xmlns:a="http://schemas.openxmlformats.org/drawingml/2006/main">
            <a:off x="9934575" y="1905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DDD69-1B9B-44C1-AC9D-C6B23C03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d6416269d40e6"/>
          <a:stretch xmlns:a="http://schemas.openxmlformats.org/drawingml/2006/main"/>
        </p:blipFill>
        <p:spPr>
          <a:xfrm xmlns:a="http://schemas.openxmlformats.org/drawingml/2006/main">
            <a:off x="10544175" y="249963"/>
            <a:ext cx="1104900" cy="2525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661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064e265fd4c3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05B81-19FD-44E9-9673-3FB261D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717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99168-7051-4583-A0C6-9DE248B9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6fd4c7a524433"/>
          <a:stretch xmlns:a="http://schemas.openxmlformats.org/drawingml/2006/main"/>
        </p:blipFill>
        <p:spPr>
          <a:xfrm xmlns:a="http://schemas.openxmlformats.org/drawingml/2006/main">
            <a:off x="9934575" y="1905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349B9-B089-496D-806B-D1BDD6EE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1e965199a489a"/>
          <a:stretch xmlns:a="http://schemas.openxmlformats.org/drawingml/2006/main"/>
        </p:blipFill>
        <p:spPr>
          <a:xfrm xmlns:a="http://schemas.openxmlformats.org/drawingml/2006/main">
            <a:off x="10544175" y="249963"/>
            <a:ext cx="1104900" cy="2525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857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3D4452-DDF5-41AC-97A7-E4DC6C47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09  分析结论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B60CF-E719-4B7F-8FAE-291F266A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三个关键结论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E6696-8C79-47DC-9651-D1B416B8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FB037-D56D-4CE9-908F-0F84D212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B94F9-E89F-4CFF-904C-53D4D86D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7d56f5490492d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D5A84-C17E-43BF-B37C-1E220AEC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e875e8237043ef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82DE0-A10D-488B-9FC3-A0F4299D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943B3-4127-46A0-A0B4-82529C6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Q1 · Q5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0CAE6-C3DF-4468-ABF9-6C814857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数值约束决定分块设计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534A5D-9FF0-460C-BC27-F30AF76B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990725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CHUNK16 同时约束指数恢复、16×16 求解和 BF16 状态舍入；扩大到 C32/C64 需要重新缩放或分块求解。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58E4E-9CF6-4B1F-8ADB-88E4ACFC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7165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输出、最终状态、连续两次调用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862F3-F88B-4459-91A8-88097C08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19400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C13350-1383-4267-A7CF-CF159869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Q2 · Q4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1F7705-0209-4537-93FE-A31594F5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670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分块合法不等于整体高效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CEF2D2-6D0B-4C09-A965-30D0D97A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533775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tcgen05 还要承担张量内存（TMEM）、地址描述符、同步和读回；H12 受低并行度与关键路径限制。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CD4B5E-B435-4C51-9CC8-F8BA9F1B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V128 0.920×   计算/显存 2.64%/1.24%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DCBDF7-7207-4031-862C-0719B02E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362450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992D0-78FE-46CA-BCE0-513AD91B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Q3 · Q6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7DB5BC-7ABE-436E-9E56-BA9B0534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101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并行机会决定迁移和部署方式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C5A742-75AC-4225-98D2-F24ABB64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76825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注意力头、数值维、序列和生产/消费角色仍可并行；收益经工作负载认证后进入条件后端。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F94124-75E4-4795-B698-F1277132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5775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H12 value 切片时延 −27.0%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0DDF1-A9E5-4FAF-A6DE-8B5253D1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05500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60216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2A7DC5-4C1A-4A4C-9657-9125756E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10  挑战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43862-A2E1-4E54-99F7-B8DD5C57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四条挑战路径的投入与回报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3DAAB-52ED-4784-8D78-582DE67A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C816E-808A-4EA6-B4FC-78AC42AF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8F415-E719-4EC0-821A-29C336F5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43ae9e3404568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5815B-E096-4699-8B5E-2B02DDEB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21733d2dd462d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6E587-E87F-4159-9CA4-7A4BAEF5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147C2-B040-4DCE-8874-57B78D20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核心探针与 public-full 分开标注，1.0× 表示各自基线。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8ED29-0619-453B-96A2-9664CE16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3600"/>
            <a:ext cx="0" cy="3276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362029-2EC0-4F5B-9277-F4F13C8F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41020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029C5-50B4-4B98-9E71-74BD51B0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51A2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EBE25-C121-4FB4-9527-74DF6B04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005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1.0×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770E94-F031-4FC7-83A0-F2308236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实测加速比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1D8BE-AF48-47EB-B8EB-7889F440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4D4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FEBAB-B44A-42C4-AD11-DDA37DF2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210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0.920×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2D32E-A064-43D6-BB79-6A91278E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4325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66A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B5334-B019-4FDF-BB31-FDA40AB8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20921-BC4C-416C-A6B4-721DDC30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838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4D4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BB526-321A-45D4-940B-EA2E2A40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7432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core  1.615×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43A4C-35F6-4876-9BEC-0B8E09D8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838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public  0.779×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FA13C6-D719-4618-B450-8A854799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8290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承载成本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D9DE85-1865-48AA-BA80-F6065543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4D4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639DDB-E300-45B4-8872-2657CCC1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672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0.906×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77FC8D-780A-4D22-993F-1CE1510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193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2F7A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89C202-1B52-4BC0-B71A-3A3A87FF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209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42527E-2879-433B-BD97-EAE7957F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6954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2.482×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B6C72E-BB24-46D1-8C9D-D8CEA7C3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1940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9 / 9 获益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D1DE14-6054-46B8-A367-BF2D5A4F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EB2ECA-DDDF-471E-B883-679B437C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01  Direct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5412D7-FE52-42B0-B5F5-0C9CE3FC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矩阵乘加替换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6E975B-404A-4FF4-92D1-1851FE92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BB959E-6579-4FAE-9493-922CB0C6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02  V16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64A529-B43A-43D1-8BFB-624C325F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布局与 carrier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BB026A-627C-4143-8169-2A368831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E019FC-A97E-4BA5-B7D9-93743F5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03  H3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2C4AB6-6E50-47B7-8C7A-E0BFD807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数据流重排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FA987C-534C-4075-82F6-35BC5C6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815919-CD6F-4627-AA8A-46056FFF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04  CAKE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A503BB0-9365-4370-BD45-73192401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全栈协同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C83314-C423-4810-AC5C-D669A0C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055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轨迹展示的不是线性进步。 </a:t>
            </a:r>
            <a:r>
              <a:rPr>
                <a:solidFill>
                  <a:srgbClr val="151A21"/>
                </a:solidFill>
              </a:rPr>
              <a:t>Direct 和 H3 留下负边界，V16 揭示 carrier 问题，CAKE 才将这些知识组成完整收益。</a:t>
            </a:r>
          </a:p>
        </p:txBody>
      </p:sp>
    </p:spTree>
    <p:extLst>
      <p:ext uri="{BB962C8B-B14F-4D97-AF65-F5344CB8AC3E}">
        <p14:creationId xmlns:p14="http://schemas.microsoft.com/office/powerpoint/2010/main" val="7895353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C92F1B-A516-40A6-A68F-1234D58C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11  挑战结果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0356B-AF21-43FD-A88B-4765F524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tcgen05 的承载成本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1FC3A-B984-4B26-BD36-149E3107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60760-7906-49DD-AB7E-B109B21D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219D6-B830-4BA7-A6BB-C95BA983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11db81173450b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EC606-C898-47AE-B682-D1590D18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6ab0f870a4f29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B8E3C-31E0-4F99-A4EF-CE7F9709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88EDC-992E-4AC1-9465-8814802E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每一行使用自己的基线和计时范围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7E3B8-F1A4-4CE2-960D-B1659F7A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3A93DC-CAE1-4045-BC41-D4FCDB0A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0.0×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77C72-E1BD-41E0-8FE9-C1E77FCB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4125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43D536-44D4-4FF3-BB98-166AA10C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0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0.5×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832A4-837F-4531-A8FE-02E3589E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9750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14A3F8-52D6-4943-810A-B41D64FA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625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1.0×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EEB1AA-D3C6-4C85-9CA7-CDF33FFF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8DC51-7958-4EA7-BA9C-E6607EC0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1.5×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E1945-DD49-48AF-802B-D02BA2ED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9750" y="1971675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51A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FFF92-8B4B-4DCD-8E3B-029ADFC1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Direct V128 直接替换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0A6477-0D59-4CE3-9512-6E39E71D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完整承载层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D35940-64C5-44C9-A01A-ABCFD464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95500"/>
            <a:ext cx="3358208" cy="36195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421B5-1D80-40BE-894B-2DCA21A5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008" y="20955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0.920×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EAF34C-C25E-4744-B9F4-26636D41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V16 首选布局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43ACC8-7583-49E7-9130-A334466A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核心探针 L0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66CF6A-EC14-4A87-A96A-EDAB7B5D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38500"/>
            <a:ext cx="5896845" cy="36195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6B39FE-0F83-47AC-972B-B16B6617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45" y="32385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1.615×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0C7272-2228-4491-9982-9B1EBA20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V16 标量重构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170F57-8D27-49F7-A1ED-E877FFAC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承载层 L1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053661-EC0A-47EB-A5C9-05292E1E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81500"/>
            <a:ext cx="2842582" cy="36195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D72038-77BB-483E-BCA1-E30C5006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382" y="43815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0.779×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C4DB0A-C911-4F0F-B72A-313E6D68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71650"/>
            <a:ext cx="0" cy="369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DA04EA-09CA-4D21-95C4-27B451EC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812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承载层成本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4DB128-AA6B-4C96-85CC-26FC96E5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571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地址描述符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9499A6-B369-4F18-B689-1048DA4E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337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294958-B7B3-45BA-BB59-604DA983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067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张量内存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380778-6746-402F-BAB8-7073FBE9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D6B2B4-61D8-4F80-9B90-DC40C58A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562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提交 / 等待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B5B694-F697-4278-82E5-B5EDA4B3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9243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FD9684-7FB5-4293-A285-4BA5EB63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0576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结果读回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B5A2FB-ACCC-4C3E-9A42-67F48D5C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4196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BB955C-DE3B-4DE0-946A-5BFC2BC2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数据布局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B8CA4D-42C8-4066-A13E-A6923C1B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知识  </a:t>
            </a:r>
            <a:r>
              <a:rPr>
                <a:solidFill>
                  <a:srgbClr val="151A21"/>
                </a:solidFill>
              </a:rPr>
              <a:t>tcgen05 核心计算有潜力，但布局、张量内存与同步协议决定公开路径是否胜出。</a:t>
            </a:r>
          </a:p>
        </p:txBody>
      </p:sp>
    </p:spTree>
    <p:extLst>
      <p:ext uri="{BB962C8B-B14F-4D97-AF65-F5344CB8AC3E}">
        <p14:creationId xmlns:p14="http://schemas.microsoft.com/office/powerpoint/2010/main" val="19138263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3BB2E9-A1EA-4573-8012-7F18F229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12  挑战结果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F8C2A-1AED-4EA3-AF7C-EC7734D6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CAKE 全栈路径：9/9 获益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807C2-F18C-4689-B51C-BFBCFB35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D07B2-A170-4BD5-9437-22FE83D9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30FFB-D82B-49F9-96B2-09820A94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2b7b8d08e4e0f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142F1-B033-45C3-9910-D94C988D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fc3e904fb424e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A4CDB-D5EB-4791-A0E5-310E4485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0F5D6-2DBD-4DCA-BCA7-051A7AA5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公开接口完整加速比 = 官方时延 / 候选时延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AA07B-9B53-4B9D-8492-AD970BDA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668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图示代表工作负载；H3 为局部重排，CAKE 为全栈协同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75951-B996-420C-881B-F40882C9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692" y="1885950"/>
            <a:ext cx="0" cy="3390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51A2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A75D3-9719-4EF9-877A-2C1F6E60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192" y="53340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1.0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506796-5B5E-4546-B58C-79EECD43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H3 · H12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D2F3B-B3E2-4158-86B2-B23BC68D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公开接口完整计时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68277-44EB-474A-8B6B-EED8EC3D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8350"/>
            <a:ext cx="2388430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623098-3917-4405-B862-3A021FC1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730" y="20383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0.905×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6D135-A50D-4449-9CDB-1FA12F66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95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H3 · H96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2C6B6-E3E1-4CE9-8DC3-BD8EE6B5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公开接口完整计时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0287F7-7DB2-48A5-8B88-101DEE49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14650"/>
            <a:ext cx="1999635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48565E-7E23-46F2-A208-21A4ABD5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2935" y="29146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0.758×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61EBB2-7D20-49C6-AB5D-2274CACD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243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CAKE · H12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9CB4C1-DDDA-4FB7-9AE9-FFB1B698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完整计时 · T2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3C136E-6696-48B1-A5B2-E3CF7F9E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6547544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E1CA9F-FD78-423F-A93A-95EEE3E7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0844" y="39433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2.482×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DE3EFA-AEF7-4C5C-9D05-350E35D3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00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CAKE · H96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DD322E-8764-4E7C-9A2B-A7C8BE71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24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完整计时 · T2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701CB9-5A26-4FF0-9093-4EF54C4A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9650"/>
            <a:ext cx="5943248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E0F72A-9FAA-41FA-B378-AE81464A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548" y="48196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2.253×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DAAB95-6102-4509-973E-2DAA9E69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959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3D8FC1-9A9E-49B1-955E-2B0072F5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2F7A68"/>
                </a:solidFill>
              </a:rPr>
              <a:t>知识  </a:t>
            </a:r>
            <a:r>
              <a:rPr>
                <a:solidFill>
                  <a:srgbClr val="151A21"/>
                </a:solidFill>
              </a:rPr>
              <a:t>代数重排不足以缩短完整路径；驻留、角色、同步屏障、流水、布局与分发的协同才形成稳定收益。</a:t>
            </a:r>
          </a:p>
        </p:txBody>
      </p:sp>
    </p:spTree>
    <p:extLst>
      <p:ext uri="{BB962C8B-B14F-4D97-AF65-F5344CB8AC3E}">
        <p14:creationId xmlns:p14="http://schemas.microsoft.com/office/powerpoint/2010/main" val="16513058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7cf6f003f942b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06DF5-6EB0-4C91-B060-54A2036A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717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6D463-D1D4-4C46-95B0-D21F0F07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af0770f3d4e9f"/>
          <a:stretch xmlns:a="http://schemas.openxmlformats.org/drawingml/2006/main"/>
        </p:blipFill>
        <p:spPr>
          <a:xfrm xmlns:a="http://schemas.openxmlformats.org/drawingml/2006/main">
            <a:off x="9934575" y="1905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46BA0-A008-4021-A229-6D6A5C31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e4f6f90a54a83"/>
          <a:stretch xmlns:a="http://schemas.openxmlformats.org/drawingml/2006/main"/>
        </p:blipFill>
        <p:spPr>
          <a:xfrm xmlns:a="http://schemas.openxmlformats.org/drawingml/2006/main">
            <a:off x="10544175" y="249963"/>
            <a:ext cx="1104900" cy="2525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0242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C07C1B-B7E4-4239-A29C-968D947F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14  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1297A-3145-444E-ADD3-DC17EB79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证据驱动的条件部署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8AD3D-82C5-4D2F-AA5E-F3329155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4D6A3F-E1C9-4DF4-AAD6-145D0B89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857E4-34AF-4FCC-A4FA-EEE682C2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337dcbb3d4afd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F1F8F-D012-4001-8D6F-97857B6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36c15b6dd432b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755D1-8A17-4CDA-8293-E212F48D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56A31-AF5D-4ED0-9B24-47EC65B7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每个请求依次通过执行身份、递推正确性和 public-full 证据，再决定后端。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4754AA-7102-4FEC-9968-B13A8EDB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D2E"/>
          </a:solidFill>
          <a:ln xmlns:a="http://schemas.openxmlformats.org/drawingml/2006/main" w="17145">
            <a:solidFill>
              <a:srgbClr val="D2AA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EE6524-718D-4960-9E93-06749D71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533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运行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请求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EF61D8-380F-46C3-ADD6-3F771436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device · profile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C4166-7D07-4308-BD28-7E3004E5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9575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6707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AA214-EFE2-4A10-8D9B-67CC94A4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971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5F9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E49A7-5793-40D9-B592-745847A4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43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执行身份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B8A25-B70C-4A56-B88C-B23B3241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385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实际 module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90CC60-C827-4977-8258-72DD636B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71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6A3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83085F-414E-473B-A5D1-D4EB4843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57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递推正确性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79D4EE-E813-4C01-900C-E990085C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529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output + final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F2169-8B86-4A3A-B82F-C70EB3DE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71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3A135-5F2F-4503-814C-8340DB0B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公开完整计时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BE0AF7-419C-4292-9048-6DF945AC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385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public-full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01C762-F80F-41B3-9195-651B1419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33750"/>
            <a:ext cx="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66707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FA298E-683E-4D56-AA80-44C84B83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337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2F7A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5F4689-2676-4AE8-B065-0C5F895D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530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C5F9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356F68-0A46-4B8E-BED6-1845B3A9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F68362-8D6E-42F8-9EF0-7DA2446E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857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ED35EA-E622-4C97-AE5F-F56BE3EF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527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全部通过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8A15C6-8501-4787-BEC0-B85FD2EC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863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否则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FC1F98-5DE8-4DE4-A718-E7ADD2D9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0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SM100 专用后端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58AC70-ACFF-4EAE-B505-B59062C3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T2 · 仅认证 profile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AEA123-B305-4729-8E21-3FA6315F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578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0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HMMA 兼容后端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0D8B97-92F6-410C-903A-D192DEB3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5785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默认回退 · 保持跨代可用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63EA7D-0D24-454D-BA65-2531C5EB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C4AFE2-77D8-4D05-BEE2-30E11FAC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路由原则  </a:t>
            </a:r>
            <a:r>
              <a:rPr>
                <a:solidFill>
                  <a:srgbClr val="151A21"/>
                </a:solidFill>
              </a:rPr>
              <a:t>已认证 profile 才进入 SM100，未覆盖或证据不足时保留 HMMA。</a:t>
            </a:r>
          </a:p>
        </p:txBody>
      </p:sp>
    </p:spTree>
    <p:extLst>
      <p:ext uri="{BB962C8B-B14F-4D97-AF65-F5344CB8AC3E}">
        <p14:creationId xmlns:p14="http://schemas.microsoft.com/office/powerpoint/2010/main" val="6877498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DC593-2559-4479-B04B-FC898093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0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论文方法图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E12E8-6C61-4F0C-8A63-47A5F7E4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15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论文图 1  方法框架摘录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D74C1-A39C-42E0-9B1D-7B918FD7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4765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99A62-15D8-4E61-911F-5523F8D4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1907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ae8a0ec204af9"/>
          <a:stretch xmlns:a="http://schemas.openxmlformats.org/drawingml/2006/main"/>
        </p:blipFill>
        <p:spPr>
          <a:xfrm xmlns:a="http://schemas.openxmlformats.org/drawingml/2006/main">
            <a:off x="9934575" y="180975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FDE82-00F4-4CD0-BEF3-034CFAA6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1907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52a6f56d14a37"/>
          <a:stretch xmlns:a="http://schemas.openxmlformats.org/drawingml/2006/main"/>
        </p:blipFill>
        <p:spPr>
          <a:xfrm xmlns:a="http://schemas.openxmlformats.org/drawingml/2006/main">
            <a:off x="10544175" y="240438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9EE9C-A5E0-4C72-BAD1-E89286C8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6858000" cy="3810000"/>
          </a:xfrm>
          <a:prstGeom xmlns:a="http://schemas.openxmlformats.org/drawingml/2006/main" prst="roundRect">
            <a:avLst>
              <a:gd name="adj" fmla="val 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3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33d66fced4817"/>
          <a:stretch xmlns:a="http://schemas.openxmlformats.org/drawingml/2006/main"/>
        </p:blipFill>
        <p:spPr>
          <a:xfrm xmlns:a="http://schemas.openxmlformats.org/drawingml/2006/main">
            <a:off x="838200" y="1622247"/>
            <a:ext cx="6572250" cy="3175357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577A6-E8D7-40EB-8485-5E64BA66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09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图中方法的中文释义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19505C-82BC-413A-98BC-783972C9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66875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6A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B1BD5D-C61E-469E-B77A-1D1C2B78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81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双分支搜索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993F0-0863-41ED-9142-E241F3E2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050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HMMA 与 tcgen05 独立优化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9474A-EA21-47DB-A7E7-9704ECF6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证据式晋级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53E9D3-700D-4E6F-90A0-29FBF4C6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实际路径、正确性、成本同时携带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66290A-D0EC-4059-82B6-A10D9C47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43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双层中间表示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4247AC-B5EA-4654-BF19-13E4D75F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671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把运行数据转成带适用范围的经验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3D41B-728E-448B-A610-FE891CC6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部署策略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8E257A-5345-47F3-891C-2A3B5886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已认证 SM100 路径，未覆盖 profile 回退 HMMA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E3A98-C08D-4DF9-8F5D-85B3ADFD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10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67DCB2-3E6B-42DE-91EA-0A6409E7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最终回答  </a:t>
            </a:r>
            <a:r>
              <a:rPr b="1">
                <a:solidFill>
                  <a:srgbClr val="151A21"/>
                </a:solidFill>
              </a:rPr>
              <a:t>SM100 值得以受条件保护的后端方式加入 FlashKDA。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16AD0-E946-43DC-B386-EDD9F729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362700"/>
            <a:ext cx="1857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提问　奶龙必胜</a:t>
            </a:r>
          </a:p>
        </p:txBody>
      </p:sp>
    </p:spTree>
    <p:extLst>
      <p:ext uri="{BB962C8B-B14F-4D97-AF65-F5344CB8AC3E}">
        <p14:creationId xmlns:p14="http://schemas.microsoft.com/office/powerpoint/2010/main" val="17804213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Noto Sans CJK SC"/>
        <a:ea typeface="Noto Sans CJK SC"/>
        <a:cs typeface="Noto Sans CJK SC"/>
      </a:majorFont>
      <a:minorFont>
        <a:latin typeface="Noto Sans CJK SC"/>
        <a:ea typeface="Noto Sans CJK SC"/>
        <a:cs typeface="Noto Sans CJK SC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2026-09-11T02:36:33.2970000Z</dcterms:created>
  <dcterms:modified xsi:type="dcterms:W3CDTF">2026-09-11T02:36:33.2970000Z</dcterms:modified>
</coreProperties>
</file>