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6"/>
  </p:normalViewPr>
  <p:slideViewPr>
    <p:cSldViewPr snapToGrid="0">
      <p:cViewPr varScale="1">
        <p:scale>
          <a:sx n="109" d="100"/>
          <a:sy n="109" d="100"/>
        </p:scale>
        <p:origin x="7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Microsoft YaHei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Microsoft YaHei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Microsoft YaHei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Microsoft YaHei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Microsoft YaHei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Microsoft YaHei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BB02600-4EA2-4A56-BAEA-F399D27E5DEB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AAB6C6"/>
                </a:solidFill>
                <a:latin typeface="Arial"/>
                <a:ea typeface="Microsoft YaHei"/>
                <a:cs typeface="Arial"/>
              </a:defRPr>
            </a:pPr>
            <a:r>
              <a:rPr sz="1275" b="1" i="0">
                <a:solidFill>
                  <a:srgbClr val="AAB6C6"/>
                </a:solidFill>
                <a:latin typeface="Arial"/>
                <a:ea typeface="Microsoft YaHei"/>
                <a:cs typeface="Arial"/>
              </a:rPr>
              <a:t>C1  FlashKDA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7D1D07D4-B1D8-4889-8958-EA44D44A9930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FlashKDA 迁移到 SM100</a:t>
            </a:r>
          </a:p>
          <a:p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是否值得？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A2DB26-6DAD-4DA1-B40E-8809201BC8B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950" b="0" i="0">
                <a:solidFill>
                  <a:srgbClr val="C5CED8"/>
                </a:solidFill>
                <a:latin typeface="Arial"/>
                <a:ea typeface="Microsoft YaHei"/>
                <a:cs typeface="Arial"/>
              </a:defRPr>
            </a:pPr>
            <a:r>
              <a:rPr sz="1950" b="0" i="0">
                <a:solidFill>
                  <a:srgbClr val="C5CED8"/>
                </a:solidFill>
                <a:latin typeface="Arial"/>
                <a:ea typeface="Microsoft YaHei"/>
                <a:cs typeface="Arial"/>
              </a:rPr>
              <a:t>B300 上的复现、因果分析与双分支探索</a:t>
            </a:r>
          </a:p>
        </p:txBody>
      </p:sp>
      <p:sp>
        <p:nvSpPr>
          <p:cNvPr id="4" name="直线连接符 3">
            <a:extLst>
              <a:ext uri="{FF2B5EF4-FFF2-40B4-BE49-F238E27FC236}">
                <a16:creationId xmlns:a16="http://schemas.microsoft.com/office/drawing/2014/main" id="{A4DFAA7D-2745-4F71-9C22-300E83F7D796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10668000" cy="0"/>
          </a:xfrm>
          <a:prstGeom prst="line">
            <a:avLst/>
          </a:prstGeom>
          <a:noFill/>
          <a:ln w="11430">
            <a:solidFill>
              <a:srgbClr val="39485A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09A801-B309-40B1-B225-2C99692CABF9}"/>
              </a:ext>
            </a:extLst>
          </p:cNvPr>
          <p:cNvSpPr>
            <a:spLocks noGrp="1"/>
          </p:cNvSpPr>
          <p:nvPr/>
        </p:nvSpPr>
        <p:spPr>
          <a:xfrm>
            <a:off x="723900" y="4476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DFBD5E-83E6-49B9-B363-C8045771A449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复现与测量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D0CB46-A09F-4A71-9E77-9EAC97E99612}"/>
              </a:ext>
            </a:extLst>
          </p:cNvPr>
          <p:cNvSpPr>
            <a:spLocks noGrp="1"/>
          </p:cNvSpPr>
          <p:nvPr/>
        </p:nvSpPr>
        <p:spPr>
          <a:xfrm>
            <a:off x="3200400" y="4476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F4584B-1A96-4D5E-8C1E-F34B38A41E25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ECC30B-3904-41B7-908F-FFEFC869505B}"/>
              </a:ext>
            </a:extLst>
          </p:cNvPr>
          <p:cNvSpPr>
            <a:spLocks noGrp="1"/>
          </p:cNvSpPr>
          <p:nvPr/>
        </p:nvSpPr>
        <p:spPr>
          <a:xfrm>
            <a:off x="5676900" y="44767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2DB302-26D0-4EEF-8940-86CDCF640409}"/>
              </a:ext>
            </a:extLst>
          </p:cNvPr>
          <p:cNvSpPr>
            <a:spLocks noGrp="1"/>
          </p:cNvSpPr>
          <p:nvPr/>
        </p:nvSpPr>
        <p:spPr>
          <a:xfrm>
            <a:off x="5676900" y="478155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挑战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AC95E8-5638-4EEC-93D2-85AB7AF02076}"/>
              </a:ext>
            </a:extLst>
          </p:cNvPr>
          <p:cNvSpPr>
            <a:spLocks noGrp="1"/>
          </p:cNvSpPr>
          <p:nvPr/>
        </p:nvSpPr>
        <p:spPr>
          <a:xfrm>
            <a:off x="723900" y="609600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奶龙必胜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98C447-77E0-45EE-AFA9-F2DCF157EA55}"/>
              </a:ext>
            </a:extLst>
          </p:cNvPr>
          <p:cNvSpPr>
            <a:spLocks noGrp="1"/>
          </p:cNvSpPr>
          <p:nvPr/>
        </p:nvSpPr>
        <p:spPr>
          <a:xfrm>
            <a:off x="7620000" y="6134100"/>
            <a:ext cx="3762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200" b="0" i="0">
                <a:solidFill>
                  <a:srgbClr val="8FA0B2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8FA0B2"/>
                </a:solidFill>
                <a:latin typeface="Arial"/>
                <a:ea typeface="Microsoft YaHei"/>
                <a:cs typeface="Arial"/>
              </a:rPr>
              <a:t>HMMA 兼容路径与 tcgen05 原生路径</a:t>
            </a:r>
          </a:p>
        </p:txBody>
      </p:sp>
    </p:spTree>
    <p:extLst>
      <p:ext uri="{BB962C8B-B14F-4D97-AF65-F5344CB8AC3E}">
        <p14:creationId xmlns:p14="http://schemas.microsoft.com/office/powerpoint/2010/main" val="94733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DE64EAB1-FC73-489D-B2EC-DC6DCBC8CB41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02  主线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F40FC-3105-4210-B5D2-DB3F7B803055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C1 研究主线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BE4FE6F2-4C12-445A-9813-402DC90CE562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EC4204-B2A0-4297-B58F-D2D2C357375D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A0993E-3441-4BDA-955D-C18D78BA5179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1038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 dirty="0" err="1">
                <a:solidFill>
                  <a:srgbClr val="66707A"/>
                </a:solidFill>
              </a:rPr>
              <a:t>研究问题</a:t>
            </a:r>
            <a:r>
              <a:rPr b="1" dirty="0">
                <a:solidFill>
                  <a:srgbClr val="66707A"/>
                </a:solidFill>
              </a:rPr>
              <a:t>  </a:t>
            </a:r>
            <a:r>
              <a:rPr b="1" dirty="0" err="1">
                <a:solidFill>
                  <a:srgbClr val="151A21"/>
                </a:solidFill>
              </a:rPr>
              <a:t>在同一套</a:t>
            </a:r>
            <a:r>
              <a:rPr b="1" dirty="0">
                <a:solidFill>
                  <a:srgbClr val="151A21"/>
                </a:solidFill>
              </a:rPr>
              <a:t> </a:t>
            </a:r>
            <a:r>
              <a:rPr b="1" dirty="0" err="1">
                <a:solidFill>
                  <a:srgbClr val="151A21"/>
                </a:solidFill>
              </a:rPr>
              <a:t>FlashKDA</a:t>
            </a:r>
            <a:r>
              <a:rPr b="1" dirty="0">
                <a:solidFill>
                  <a:srgbClr val="151A21"/>
                </a:solidFill>
              </a:rPr>
              <a:t> 接口与数值约束下，SM100 </a:t>
            </a:r>
            <a:r>
              <a:rPr b="1" dirty="0" err="1">
                <a:solidFill>
                  <a:srgbClr val="151A21"/>
                </a:solidFill>
              </a:rPr>
              <a:t>原生路径能否产生足以覆盖迁移成本的实际收益</a:t>
            </a:r>
            <a:r>
              <a:rPr b="1" dirty="0">
                <a:solidFill>
                  <a:srgbClr val="151A21"/>
                </a:solidFill>
              </a:rPr>
              <a:t>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055CE0-9D4E-4428-A613-1156E36F7D88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2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ABEE5A-7B1F-4269-A27A-AD87ED2EEB68}"/>
              </a:ext>
            </a:extLst>
          </p:cNvPr>
          <p:cNvSpPr>
            <a:spLocks noGrp="1"/>
          </p:cNvSpPr>
          <p:nvPr/>
        </p:nvSpPr>
        <p:spPr>
          <a:xfrm>
            <a:off x="1428750" y="24479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75" b="1" i="0" dirty="0" err="1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复现与测量</a:t>
            </a:r>
            <a:endParaRPr sz="1875" b="1" i="0" dirty="0">
              <a:solidFill>
                <a:srgbClr val="151A2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3F2DE7-451A-409D-BF6F-DD7863193A33}"/>
              </a:ext>
            </a:extLst>
          </p:cNvPr>
          <p:cNvSpPr>
            <a:spLocks noGrp="1"/>
          </p:cNvSpPr>
          <p:nvPr/>
        </p:nvSpPr>
        <p:spPr>
          <a:xfrm>
            <a:off x="3333750" y="245745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 dirty="0" err="1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锁定执行身份、正确性与公开接口计时边界</a:t>
            </a:r>
            <a:endParaRPr sz="1575" b="0" i="0" dirty="0">
              <a:solidFill>
                <a:srgbClr val="2C333B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AAC338-02C9-454A-9A3D-BBA805F2D6A7}"/>
              </a:ext>
            </a:extLst>
          </p:cNvPr>
          <p:cNvSpPr>
            <a:spLocks noGrp="1"/>
          </p:cNvSpPr>
          <p:nvPr/>
        </p:nvSpPr>
        <p:spPr>
          <a:xfrm>
            <a:off x="9334500" y="24574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指令身份、利用率与计时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846DC767-1C3A-4F88-A0BD-BFB74C8BEDFB}"/>
              </a:ext>
            </a:extLst>
          </p:cNvPr>
          <p:cNvSpPr>
            <a:spLocks noGrp="1"/>
          </p:cNvSpPr>
          <p:nvPr/>
        </p:nvSpPr>
        <p:spPr>
          <a:xfrm>
            <a:off x="1428750" y="3057525"/>
            <a:ext cx="99060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20983E-0504-4049-9177-25F0A043E78D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200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E19003-5897-497D-9041-1BB8E5D58A83}"/>
              </a:ext>
            </a:extLst>
          </p:cNvPr>
          <p:cNvSpPr>
            <a:spLocks noGrp="1"/>
          </p:cNvSpPr>
          <p:nvPr/>
        </p:nvSpPr>
        <p:spPr>
          <a:xfrm>
            <a:off x="1428750" y="349567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EEC77E-C8BB-445D-A33D-B3EF4A2F3A4B}"/>
              </a:ext>
            </a:extLst>
          </p:cNvPr>
          <p:cNvSpPr>
            <a:spLocks noGrp="1"/>
          </p:cNvSpPr>
          <p:nvPr/>
        </p:nvSpPr>
        <p:spPr>
          <a:xfrm>
            <a:off x="3333750" y="350520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 dirty="0" err="1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用双分支闭环生成可比证据，再把六问收敛为规律</a:t>
            </a:r>
            <a:endParaRPr sz="1575" b="0" i="0" dirty="0">
              <a:solidFill>
                <a:srgbClr val="2C333B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A966E8-DEDF-4497-AA9C-A92E9CE6D582}"/>
              </a:ext>
            </a:extLst>
          </p:cNvPr>
          <p:cNvSpPr>
            <a:spLocks noGrp="1"/>
          </p:cNvSpPr>
          <p:nvPr/>
        </p:nvSpPr>
        <p:spPr>
          <a:xfrm>
            <a:off x="9334500" y="35052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双分支 agent 与双层 IR</a:t>
            </a: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404642B6-6508-47B8-BAAF-30D3B3C326BF}"/>
              </a:ext>
            </a:extLst>
          </p:cNvPr>
          <p:cNvSpPr>
            <a:spLocks noGrp="1"/>
          </p:cNvSpPr>
          <p:nvPr/>
        </p:nvSpPr>
        <p:spPr>
          <a:xfrm>
            <a:off x="1428750" y="4105275"/>
            <a:ext cx="99060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919A36-A524-4DFC-9D08-C96137AFD706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2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62C42A2-70B5-472F-8D2E-9C9A0979D578}"/>
              </a:ext>
            </a:extLst>
          </p:cNvPr>
          <p:cNvSpPr>
            <a:spLocks noGrp="1"/>
          </p:cNvSpPr>
          <p:nvPr/>
        </p:nvSpPr>
        <p:spPr>
          <a:xfrm>
            <a:off x="1428750" y="4543425"/>
            <a:ext cx="180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挑战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7B352D4-3F02-48F1-9DB3-86F8730819C1}"/>
              </a:ext>
            </a:extLst>
          </p:cNvPr>
          <p:cNvSpPr>
            <a:spLocks noGrp="1"/>
          </p:cNvSpPr>
          <p:nvPr/>
        </p:nvSpPr>
        <p:spPr>
          <a:xfrm>
            <a:off x="3333750" y="4552950"/>
            <a:ext cx="571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沿四条路径推进候选，并用数据与知识完成晋级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94A043-EC75-4A85-A202-5AC448C16CF3}"/>
              </a:ext>
            </a:extLst>
          </p:cNvPr>
          <p:cNvSpPr>
            <a:spLocks noGrp="1"/>
          </p:cNvSpPr>
          <p:nvPr/>
        </p:nvSpPr>
        <p:spPr>
          <a:xfrm>
            <a:off x="9334500" y="455295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替换、布局与全栈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D4C72921-6949-4220-9A5B-93A338F79BE8}"/>
              </a:ext>
            </a:extLst>
          </p:cNvPr>
          <p:cNvSpPr>
            <a:spLocks noGrp="1"/>
          </p:cNvSpPr>
          <p:nvPr/>
        </p:nvSpPr>
        <p:spPr>
          <a:xfrm>
            <a:off x="1428750" y="5153025"/>
            <a:ext cx="99060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32FEBD-F685-4720-AEA4-669CE10F1676}"/>
              </a:ext>
            </a:extLst>
          </p:cNvPr>
          <p:cNvSpPr>
            <a:spLocks noGrp="1"/>
          </p:cNvSpPr>
          <p:nvPr/>
        </p:nvSpPr>
        <p:spPr>
          <a:xfrm>
            <a:off x="1428750" y="5657850"/>
            <a:ext cx="952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185627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BD329C7-BC96-493D-AA03-10EC33E4048D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03  背景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6496E4-F886-4ED9-AECB-7CD92A51AE1A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 dirty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KDA </a:t>
            </a:r>
            <a:r>
              <a:rPr sz="3150" b="1" i="0" dirty="0" err="1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递推结构</a:t>
            </a:r>
            <a:endParaRPr sz="3150" b="1" i="0" dirty="0">
              <a:solidFill>
                <a:srgbClr val="151A2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CA27243B-2534-4939-A744-D460A7FB9C5F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22769F-9634-4861-B084-2E5C4B413FC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2BE483-7857-43D8-9209-2A9EFF02587A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一个 chunk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1BA9F76F-3E6B-4CB9-8C01-4184E77F7644}"/>
              </a:ext>
            </a:extLst>
          </p:cNvPr>
          <p:cNvSpPr>
            <a:spLocks noGrp="1"/>
          </p:cNvSpPr>
          <p:nvPr/>
        </p:nvSpPr>
        <p:spPr>
          <a:xfrm>
            <a:off x="723900" y="1781175"/>
            <a:ext cx="1143000" cy="0"/>
          </a:xfrm>
          <a:prstGeom prst="line">
            <a:avLst/>
          </a:prstGeom>
          <a:noFill/>
          <a:ln w="19050">
            <a:solidFill>
              <a:srgbClr val="66707A"/>
            </a:solidFill>
            <a:prstDash val="solid"/>
          </a:ln>
        </p:spPr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F1E71B72-B2A2-4E9A-A016-BB9C5C365D1F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1428750" cy="704850"/>
          </a:xfrm>
          <a:prstGeom prst="roundRect">
            <a:avLst>
              <a:gd name="adj" fmla="val 5405"/>
            </a:avLst>
          </a:prstGeom>
          <a:solidFill>
            <a:srgbClr val="E9EFF6"/>
          </a:solidFill>
          <a:ln w="9525">
            <a:solidFill>
              <a:srgbClr val="2C5F9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6EFA97-FD2B-4CBD-A93F-C03F3F7C1022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12001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state t−1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DEB55D7-073F-494D-B7F3-556B0DA24608}"/>
              </a:ext>
            </a:extLst>
          </p:cNvPr>
          <p:cNvSpPr>
            <a:spLocks noGrp="1"/>
          </p:cNvSpPr>
          <p:nvPr/>
        </p:nvSpPr>
        <p:spPr>
          <a:xfrm>
            <a:off x="2952750" y="2076450"/>
            <a:ext cx="1619250" cy="70485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D9D6C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A00C0C-2DD1-49F4-BCEA-68F5EFB4B054}"/>
              </a:ext>
            </a:extLst>
          </p:cNvPr>
          <p:cNvSpPr>
            <a:spLocks noGrp="1"/>
          </p:cNvSpPr>
          <p:nvPr/>
        </p:nvSpPr>
        <p:spPr>
          <a:xfrm>
            <a:off x="3095625" y="2076450"/>
            <a:ext cx="1333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K1  prepare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C0DF723-9B14-4578-A009-D81252D617AD}"/>
              </a:ext>
            </a:extLst>
          </p:cNvPr>
          <p:cNvSpPr>
            <a:spLocks noGrp="1"/>
          </p:cNvSpPr>
          <p:nvPr/>
        </p:nvSpPr>
        <p:spPr>
          <a:xfrm>
            <a:off x="5334000" y="1943100"/>
            <a:ext cx="2381250" cy="971550"/>
          </a:xfrm>
          <a:prstGeom prst="roundRect">
            <a:avLst>
              <a:gd name="adj" fmla="val 3922"/>
            </a:avLst>
          </a:prstGeom>
          <a:solidFill>
            <a:srgbClr val="F5EAE3"/>
          </a:solidFill>
          <a:ln w="9525">
            <a:solidFill>
              <a:srgbClr val="C66A3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92D268-2B78-43AF-B24C-1EFFC8EA62CA}"/>
              </a:ext>
            </a:extLst>
          </p:cNvPr>
          <p:cNvSpPr>
            <a:spLocks noGrp="1"/>
          </p:cNvSpPr>
          <p:nvPr/>
        </p:nvSpPr>
        <p:spPr>
          <a:xfrm>
            <a:off x="5524500" y="2000250"/>
            <a:ext cx="2000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K2</a:t>
            </a:r>
          </a:p>
          <a:p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16-step recurrence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864A79-2C23-4863-881E-A01F6B5BFE49}"/>
              </a:ext>
            </a:extLst>
          </p:cNvPr>
          <p:cNvSpPr>
            <a:spLocks noGrp="1"/>
          </p:cNvSpPr>
          <p:nvPr/>
        </p:nvSpPr>
        <p:spPr>
          <a:xfrm>
            <a:off x="8858250" y="2076450"/>
            <a:ext cx="1333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state t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D614EDF4-3576-4BD6-9FD3-897AE4F28F5B}"/>
              </a:ext>
            </a:extLst>
          </p:cNvPr>
          <p:cNvSpPr>
            <a:spLocks noGrp="1"/>
          </p:cNvSpPr>
          <p:nvPr/>
        </p:nvSpPr>
        <p:spPr>
          <a:xfrm>
            <a:off x="2190750" y="2428875"/>
            <a:ext cx="762000" cy="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DAF47CFE-A0A2-4571-88FE-8FE8D475E38B}"/>
              </a:ext>
            </a:extLst>
          </p:cNvPr>
          <p:cNvSpPr>
            <a:spLocks noGrp="1"/>
          </p:cNvSpPr>
          <p:nvPr/>
        </p:nvSpPr>
        <p:spPr>
          <a:xfrm>
            <a:off x="2914650" y="23907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66707A"/>
          </a:solidFill>
          <a:ln w="0">
            <a:noFill/>
            <a:prstDash val="solid"/>
          </a:ln>
        </p:spPr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1547097A-E772-4688-BA69-1501B9BE9A8F}"/>
              </a:ext>
            </a:extLst>
          </p:cNvPr>
          <p:cNvSpPr>
            <a:spLocks noGrp="1"/>
          </p:cNvSpPr>
          <p:nvPr/>
        </p:nvSpPr>
        <p:spPr>
          <a:xfrm>
            <a:off x="4572000" y="2428875"/>
            <a:ext cx="762000" cy="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3A53D1F-B9DC-4B8C-A4E3-1C0D90760945}"/>
              </a:ext>
            </a:extLst>
          </p:cNvPr>
          <p:cNvSpPr>
            <a:spLocks noGrp="1"/>
          </p:cNvSpPr>
          <p:nvPr/>
        </p:nvSpPr>
        <p:spPr>
          <a:xfrm>
            <a:off x="5295900" y="23907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66707A"/>
          </a:solidFill>
          <a:ln w="0">
            <a:noFill/>
            <a:prstDash val="solid"/>
          </a:ln>
        </p:spPr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CFC03C09-2501-49AD-86E1-B91AFD7515C4}"/>
              </a:ext>
            </a:extLst>
          </p:cNvPr>
          <p:cNvSpPr>
            <a:spLocks noGrp="1"/>
          </p:cNvSpPr>
          <p:nvPr/>
        </p:nvSpPr>
        <p:spPr>
          <a:xfrm>
            <a:off x="7715250" y="2428875"/>
            <a:ext cx="1143000" cy="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106C3B0-F2F4-4E98-A664-B9942CBBD07B}"/>
              </a:ext>
            </a:extLst>
          </p:cNvPr>
          <p:cNvSpPr>
            <a:spLocks noGrp="1"/>
          </p:cNvSpPr>
          <p:nvPr/>
        </p:nvSpPr>
        <p:spPr>
          <a:xfrm>
            <a:off x="8820150" y="23907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66707A"/>
          </a:solidFill>
          <a:ln w="0">
            <a:noFill/>
            <a:prstDash val="solid"/>
          </a:ln>
        </p:spPr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2DE529F2-455D-4F9B-A0FC-4EC52D48780D}"/>
              </a:ext>
            </a:extLst>
          </p:cNvPr>
          <p:cNvSpPr>
            <a:spLocks noGrp="1"/>
          </p:cNvSpPr>
          <p:nvPr/>
        </p:nvSpPr>
        <p:spPr>
          <a:xfrm>
            <a:off x="10191750" y="2428875"/>
            <a:ext cx="876300" cy="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7E28D69-522F-4ABC-A0CA-F31FC3E91E74}"/>
              </a:ext>
            </a:extLst>
          </p:cNvPr>
          <p:cNvSpPr>
            <a:spLocks noGrp="1"/>
          </p:cNvSpPr>
          <p:nvPr/>
        </p:nvSpPr>
        <p:spPr>
          <a:xfrm>
            <a:off x="10287000" y="26098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next chunk</a:t>
            </a:r>
          </a:p>
        </p:txBody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6C0EDA13-25DB-4967-812B-351864B152A2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071562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7E9051-4EC7-4B04-990C-32F982E1BE3C}"/>
              </a:ext>
            </a:extLst>
          </p:cNvPr>
          <p:cNvSpPr>
            <a:spLocks noGrp="1"/>
          </p:cNvSpPr>
          <p:nvPr/>
        </p:nvSpPr>
        <p:spPr>
          <a:xfrm>
            <a:off x="762000" y="38671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CHUNK = 16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12069D-E579-4826-A2AD-9415CBE0055F}"/>
              </a:ext>
            </a:extLst>
          </p:cNvPr>
          <p:cNvSpPr>
            <a:spLocks noGrp="1"/>
          </p:cNvSpPr>
          <p:nvPr/>
        </p:nvSpPr>
        <p:spPr>
          <a:xfrm>
            <a:off x="2724150" y="3848100"/>
            <a:ext cx="828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数值范围、16×16 求解与 SM80 MMA 形状共同形成的设计点。</a:t>
            </a:r>
          </a:p>
        </p:txBody>
      </p:sp>
      <p:sp>
        <p:nvSpPr>
          <p:cNvPr id="25" name="直线连接符 24">
            <a:extLst>
              <a:ext uri="{FF2B5EF4-FFF2-40B4-BE49-F238E27FC236}">
                <a16:creationId xmlns:a16="http://schemas.microsoft.com/office/drawing/2014/main" id="{EA7E6ACD-4B9C-4738-A50F-38CA5F5B509F}"/>
              </a:ext>
            </a:extLst>
          </p:cNvPr>
          <p:cNvSpPr>
            <a:spLocks noGrp="1"/>
          </p:cNvSpPr>
          <p:nvPr/>
        </p:nvSpPr>
        <p:spPr>
          <a:xfrm>
            <a:off x="2724150" y="4362450"/>
            <a:ext cx="828675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09CBEBA-E3DC-48EA-B378-2693F3CF57D4}"/>
              </a:ext>
            </a:extLst>
          </p:cNvPr>
          <p:cNvSpPr>
            <a:spLocks noGrp="1"/>
          </p:cNvSpPr>
          <p:nvPr/>
        </p:nvSpPr>
        <p:spPr>
          <a:xfrm>
            <a:off x="762000" y="46101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递推正确性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F41F85-24DF-476E-A451-DDDE5D38B972}"/>
              </a:ext>
            </a:extLst>
          </p:cNvPr>
          <p:cNvSpPr>
            <a:spLocks noGrp="1"/>
          </p:cNvSpPr>
          <p:nvPr/>
        </p:nvSpPr>
        <p:spPr>
          <a:xfrm>
            <a:off x="2724150" y="4591050"/>
            <a:ext cx="828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一次调用要同时验证 output 与 final state；连续调用还要检查 state handoff。</a:t>
            </a:r>
          </a:p>
        </p:txBody>
      </p:sp>
      <p:sp>
        <p:nvSpPr>
          <p:cNvPr id="28" name="直线连接符 27">
            <a:extLst>
              <a:ext uri="{FF2B5EF4-FFF2-40B4-BE49-F238E27FC236}">
                <a16:creationId xmlns:a16="http://schemas.microsoft.com/office/drawing/2014/main" id="{E6E6A0EE-01C6-4F3D-889D-51BE2340EAB8}"/>
              </a:ext>
            </a:extLst>
          </p:cNvPr>
          <p:cNvSpPr>
            <a:spLocks noGrp="1"/>
          </p:cNvSpPr>
          <p:nvPr/>
        </p:nvSpPr>
        <p:spPr>
          <a:xfrm>
            <a:off x="2724150" y="5105400"/>
            <a:ext cx="828675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7EE26D-10E4-4417-BAD9-2E2B4A31DF9B}"/>
              </a:ext>
            </a:extLst>
          </p:cNvPr>
          <p:cNvSpPr>
            <a:spLocks noGrp="1"/>
          </p:cNvSpPr>
          <p:nvPr/>
        </p:nvSpPr>
        <p:spPr>
          <a:xfrm>
            <a:off x="762000" y="53530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可利用并行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2AC5904-2172-436E-8B45-364EF82FE4F3}"/>
              </a:ext>
            </a:extLst>
          </p:cNvPr>
          <p:cNvSpPr>
            <a:spLocks noGrp="1"/>
          </p:cNvSpPr>
          <p:nvPr/>
        </p:nvSpPr>
        <p:spPr>
          <a:xfrm>
            <a:off x="2724150" y="5334000"/>
            <a:ext cx="828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9599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2523D71B-541F-4F96-85B5-91C6979ADDE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04  复现与测量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91A85E-022B-47E8-BDCC-37A2AB075F40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官方路径仍使用 HMMA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92F91D35-FFA2-4E1B-B9B8-B8F0231E095D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2BF781-45C2-4043-AE47-E981F424B93A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6AE8CF-558A-4C71-BC82-D2A05ECC1B37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执行身份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665E9CAB-2B10-4A9C-A082-3C8DFF09F1A4}"/>
              </a:ext>
            </a:extLst>
          </p:cNvPr>
          <p:cNvSpPr>
            <a:spLocks noGrp="1"/>
          </p:cNvSpPr>
          <p:nvPr/>
        </p:nvSpPr>
        <p:spPr>
          <a:xfrm>
            <a:off x="723900" y="1781175"/>
            <a:ext cx="1047750" cy="0"/>
          </a:xfrm>
          <a:prstGeom prst="line">
            <a:avLst/>
          </a:prstGeom>
          <a:noFill/>
          <a:ln w="1905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D57970-47B5-4FE5-8B64-B1C009C7167C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FlashKDA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668A33-0C00-4C5D-9A9D-CD353F5D7166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版本已固定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9C95C019-2B0B-45FF-8741-E5CAB557334F}"/>
              </a:ext>
            </a:extLst>
          </p:cNvPr>
          <p:cNvSpPr>
            <a:spLocks noGrp="1"/>
          </p:cNvSpPr>
          <p:nvPr/>
        </p:nvSpPr>
        <p:spPr>
          <a:xfrm>
            <a:off x="2209800" y="2343150"/>
            <a:ext cx="32385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8614DC-7A2B-4DB5-8416-D82C3709F6CC}"/>
              </a:ext>
            </a:extLst>
          </p:cNvPr>
          <p:cNvSpPr>
            <a:spLocks noGrp="1"/>
          </p:cNvSpPr>
          <p:nvPr/>
        </p:nvSpPr>
        <p:spPr>
          <a:xfrm>
            <a:off x="2495550" y="23050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983436-54FB-4775-A173-88F0109BEC4E}"/>
              </a:ext>
            </a:extLst>
          </p:cNvPr>
          <p:cNvSpPr>
            <a:spLocks noGrp="1"/>
          </p:cNvSpPr>
          <p:nvPr/>
        </p:nvSpPr>
        <p:spPr>
          <a:xfrm>
            <a:off x="2571750" y="2143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CUTLASS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093A26-94AC-4591-8A80-F5406D01F7CC}"/>
              </a:ext>
            </a:extLst>
          </p:cNvPr>
          <p:cNvSpPr>
            <a:spLocks noGrp="1"/>
          </p:cNvSpPr>
          <p:nvPr/>
        </p:nvSpPr>
        <p:spPr>
          <a:xfrm>
            <a:off x="2571750" y="24955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版本已固定</a:t>
            </a:r>
          </a:p>
        </p:txBody>
      </p:sp>
      <p:sp>
        <p:nvSpPr>
          <p:cNvPr id="13" name="直线连接符 12">
            <a:extLst>
              <a:ext uri="{FF2B5EF4-FFF2-40B4-BE49-F238E27FC236}">
                <a16:creationId xmlns:a16="http://schemas.microsoft.com/office/drawing/2014/main" id="{3192D9B7-03B8-43A9-902A-4DBAB7A8EAB9}"/>
              </a:ext>
            </a:extLst>
          </p:cNvPr>
          <p:cNvSpPr>
            <a:spLocks noGrp="1"/>
          </p:cNvSpPr>
          <p:nvPr/>
        </p:nvSpPr>
        <p:spPr>
          <a:xfrm>
            <a:off x="4019550" y="2343150"/>
            <a:ext cx="32385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C1AF799-A0EB-457B-86BC-3A25DB722BAF}"/>
              </a:ext>
            </a:extLst>
          </p:cNvPr>
          <p:cNvSpPr>
            <a:spLocks noGrp="1"/>
          </p:cNvSpPr>
          <p:nvPr/>
        </p:nvSpPr>
        <p:spPr>
          <a:xfrm>
            <a:off x="4305300" y="23050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785FD6-EBB7-45A3-86F1-53DD0BD431FE}"/>
              </a:ext>
            </a:extLst>
          </p:cNvPr>
          <p:cNvSpPr>
            <a:spLocks noGrp="1"/>
          </p:cNvSpPr>
          <p:nvPr/>
        </p:nvSpPr>
        <p:spPr>
          <a:xfrm>
            <a:off x="4381500" y="2143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目标架构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1627FF-9CB2-479C-99E6-D28E30272E32}"/>
              </a:ext>
            </a:extLst>
          </p:cNvPr>
          <p:cNvSpPr>
            <a:spLocks noGrp="1"/>
          </p:cNvSpPr>
          <p:nvPr/>
        </p:nvSpPr>
        <p:spPr>
          <a:xfrm>
            <a:off x="4381500" y="24955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sm_103a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41003DF0-AB3C-4E70-B109-F49B37770A6A}"/>
              </a:ext>
            </a:extLst>
          </p:cNvPr>
          <p:cNvSpPr>
            <a:spLocks noGrp="1"/>
          </p:cNvSpPr>
          <p:nvPr/>
        </p:nvSpPr>
        <p:spPr>
          <a:xfrm>
            <a:off x="5829300" y="2343150"/>
            <a:ext cx="32385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C709A4C-1D31-4ADA-B25E-6CA647798226}"/>
              </a:ext>
            </a:extLst>
          </p:cNvPr>
          <p:cNvSpPr>
            <a:spLocks noGrp="1"/>
          </p:cNvSpPr>
          <p:nvPr/>
        </p:nvSpPr>
        <p:spPr>
          <a:xfrm>
            <a:off x="6115050" y="23050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894EA9-A9F2-4447-9512-3E8957A1CAAA}"/>
              </a:ext>
            </a:extLst>
          </p:cNvPr>
          <p:cNvSpPr>
            <a:spLocks noGrp="1"/>
          </p:cNvSpPr>
          <p:nvPr/>
        </p:nvSpPr>
        <p:spPr>
          <a:xfrm>
            <a:off x="6191250" y="2143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反汇编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C5A6F3-E5C7-45AB-8799-5AEAB7DC71CB}"/>
              </a:ext>
            </a:extLst>
          </p:cNvPr>
          <p:cNvSpPr>
            <a:spLocks noGrp="1"/>
          </p:cNvSpPr>
          <p:nvPr/>
        </p:nvSpPr>
        <p:spPr>
          <a:xfrm>
            <a:off x="6191250" y="24955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实际加载 .so</a:t>
            </a: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49E87B35-2E1F-4F20-A6F2-D50806FF7496}"/>
              </a:ext>
            </a:extLst>
          </p:cNvPr>
          <p:cNvSpPr>
            <a:spLocks noGrp="1"/>
          </p:cNvSpPr>
          <p:nvPr/>
        </p:nvSpPr>
        <p:spPr>
          <a:xfrm>
            <a:off x="8096250" y="1619250"/>
            <a:ext cx="0" cy="3952875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9D1B39-0395-49F8-8FBF-E07387184641}"/>
              </a:ext>
            </a:extLst>
          </p:cNvPr>
          <p:cNvSpPr>
            <a:spLocks noGrp="1"/>
          </p:cNvSpPr>
          <p:nvPr/>
        </p:nvSpPr>
        <p:spPr>
          <a:xfrm>
            <a:off x="8572500" y="1762125"/>
            <a:ext cx="2571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43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3,640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234FDFC-B9EE-47C0-BA61-D281C85C0795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条 HMMA 矩阵乘加指令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4223FF-E8AB-4BC1-BACC-67511116374B}"/>
              </a:ext>
            </a:extLst>
          </p:cNvPr>
          <p:cNvSpPr>
            <a:spLocks noGrp="1"/>
          </p:cNvSpPr>
          <p:nvPr/>
        </p:nvSpPr>
        <p:spPr>
          <a:xfrm>
            <a:off x="8572500" y="333375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42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E1908E-9DE1-4110-A288-6013AFE55727}"/>
              </a:ext>
            </a:extLst>
          </p:cNvPr>
          <p:cNvSpPr>
            <a:spLocks noGrp="1"/>
          </p:cNvSpPr>
          <p:nvPr/>
        </p:nvSpPr>
        <p:spPr>
          <a:xfrm>
            <a:off x="8096250" y="40386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SM100 原生 tcgen05、UTCMMA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CF42ED-21D2-49F8-8A37-D87650F990F4}"/>
              </a:ext>
            </a:extLst>
          </p:cNvPr>
          <p:cNvSpPr>
            <a:spLocks noGrp="1"/>
          </p:cNvSpPr>
          <p:nvPr/>
        </p:nvSpPr>
        <p:spPr>
          <a:xfrm>
            <a:off x="8382000" y="495300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源码命名不是证据；实际加载二进制的指令身份才是。</a:t>
            </a:r>
          </a:p>
        </p:txBody>
      </p:sp>
      <p:sp>
        <p:nvSpPr>
          <p:cNvPr id="27" name="直线连接符 26">
            <a:extLst>
              <a:ext uri="{FF2B5EF4-FFF2-40B4-BE49-F238E27FC236}">
                <a16:creationId xmlns:a16="http://schemas.microsoft.com/office/drawing/2014/main" id="{6185DF9D-2D7F-4DF5-A753-0DAD7509ABC6}"/>
              </a:ext>
            </a:extLst>
          </p:cNvPr>
          <p:cNvSpPr>
            <a:spLocks noGrp="1"/>
          </p:cNvSpPr>
          <p:nvPr/>
        </p:nvSpPr>
        <p:spPr>
          <a:xfrm>
            <a:off x="762000" y="3295650"/>
            <a:ext cx="6667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B0536C6-D603-4AF8-ABCD-0D46B6799013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同一复现同时记录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7B097B7-F069-4367-8FBC-7F79B2CB0649}"/>
              </a:ext>
            </a:extLst>
          </p:cNvPr>
          <p:cNvSpPr>
            <a:spLocks noGrp="1"/>
          </p:cNvSpPr>
          <p:nvPr/>
        </p:nvSpPr>
        <p:spPr>
          <a:xfrm>
            <a:off x="762000" y="413385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A46FDE-AF35-4DDA-AD8D-41427F955C2D}"/>
              </a:ext>
            </a:extLst>
          </p:cNvPr>
          <p:cNvSpPr>
            <a:spLocks noGrp="1"/>
          </p:cNvSpPr>
          <p:nvPr/>
        </p:nvSpPr>
        <p:spPr>
          <a:xfrm>
            <a:off x="1190625" y="41148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实际加载模块路径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2DDF43-2856-4C32-B9C0-A884AC9280E0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71ECA0B-4C35-47E9-9C1C-7B9E092BFDC8}"/>
              </a:ext>
            </a:extLst>
          </p:cNvPr>
          <p:cNvSpPr>
            <a:spLocks noGrp="1"/>
          </p:cNvSpPr>
          <p:nvPr/>
        </p:nvSpPr>
        <p:spPr>
          <a:xfrm>
            <a:off x="1190625" y="4476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源码与二进制 SHA-256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92F2226-E9A2-4F26-BDAB-F6F23B7475C8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04ED4D-CDDC-48E8-9DA2-25CE8DF7FAB5}"/>
              </a:ext>
            </a:extLst>
          </p:cNvPr>
          <p:cNvSpPr>
            <a:spLocks noGrp="1"/>
          </p:cNvSpPr>
          <p:nvPr/>
        </p:nvSpPr>
        <p:spPr>
          <a:xfrm>
            <a:off x="1190625" y="48387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Python 导入来源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7994EC5-792E-4B19-97F6-EC197DBCADC7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D57A2E8-9B98-499E-9D49-766D92C79B18}"/>
              </a:ext>
            </a:extLst>
          </p:cNvPr>
          <p:cNvSpPr>
            <a:spLocks noGrp="1"/>
          </p:cNvSpPr>
          <p:nvPr/>
        </p:nvSpPr>
        <p:spPr>
          <a:xfrm>
            <a:off x="1190625" y="52006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CUDA 头文件版本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D613B9-9C5E-429A-A709-08FD720D02F3}"/>
              </a:ext>
            </a:extLst>
          </p:cNvPr>
          <p:cNvSpPr>
            <a:spLocks noGrp="1"/>
          </p:cNvSpPr>
          <p:nvPr/>
        </p:nvSpPr>
        <p:spPr>
          <a:xfrm>
            <a:off x="762000" y="558165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917176-BB9E-473A-8E25-9E927361C798}"/>
              </a:ext>
            </a:extLst>
          </p:cNvPr>
          <p:cNvSpPr>
            <a:spLocks noGrp="1"/>
          </p:cNvSpPr>
          <p:nvPr/>
        </p:nvSpPr>
        <p:spPr>
          <a:xfrm>
            <a:off x="1190625" y="55626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236221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590F59B0-E2BB-469C-BC53-9B297DF3D06E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05  复现与测量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EE3900-AA4E-4746-B07B-A7836528F808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计时与正确性边界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DAAD0502-0103-4F49-876F-EC5DA92C3426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D94862-2570-4484-8505-E7B7886E9818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E606EC-AB91-44ED-99A2-448C08E09240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计时边界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674DC3E5-E883-4320-BF98-ECA23909F118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428750" cy="0"/>
          </a:xfrm>
          <a:prstGeom prst="line">
            <a:avLst/>
          </a:prstGeom>
          <a:noFill/>
          <a:ln w="2286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286214-2FC7-4941-B188-2794AD5A19D1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首次编译与一次性分配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F98B4FB-CE4D-406F-B763-E38397B65B7F}"/>
              </a:ext>
            </a:extLst>
          </p:cNvPr>
          <p:cNvSpPr>
            <a:spLocks noGrp="1"/>
          </p:cNvSpPr>
          <p:nvPr/>
        </p:nvSpPr>
        <p:spPr>
          <a:xfrm>
            <a:off x="3048000" y="1952625"/>
            <a:ext cx="6096000" cy="609600"/>
          </a:xfrm>
          <a:prstGeom prst="roundRect">
            <a:avLst>
              <a:gd name="adj" fmla="val 4688"/>
            </a:avLst>
          </a:prstGeom>
          <a:solidFill>
            <a:srgbClr val="E9EFF6"/>
          </a:solidFill>
          <a:ln w="9525">
            <a:solidFill>
              <a:srgbClr val="2C5F9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532A35-B89E-4D44-ACC1-8BD72EDF7718}"/>
              </a:ext>
            </a:extLst>
          </p:cNvPr>
          <p:cNvSpPr>
            <a:spLocks noGrp="1"/>
          </p:cNvSpPr>
          <p:nvPr/>
        </p:nvSpPr>
        <p:spPr>
          <a:xfrm>
            <a:off x="3048000" y="1952625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布局处理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E49EB8A4-C1FB-4A76-A7A3-CA7AE6EAD98B}"/>
              </a:ext>
            </a:extLst>
          </p:cNvPr>
          <p:cNvSpPr>
            <a:spLocks noGrp="1"/>
          </p:cNvSpPr>
          <p:nvPr/>
        </p:nvSpPr>
        <p:spPr>
          <a:xfrm>
            <a:off x="4572000" y="2105025"/>
            <a:ext cx="0" cy="304800"/>
          </a:xfrm>
          <a:prstGeom prst="line">
            <a:avLst/>
          </a:prstGeom>
          <a:noFill/>
          <a:ln w="9525">
            <a:solidFill>
              <a:srgbClr val="B7C8D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5AF82D-466D-4177-9318-8895D4111EE0}"/>
              </a:ext>
            </a:extLst>
          </p:cNvPr>
          <p:cNvSpPr>
            <a:spLocks noGrp="1"/>
          </p:cNvSpPr>
          <p:nvPr/>
        </p:nvSpPr>
        <p:spPr>
          <a:xfrm>
            <a:off x="4572000" y="1952625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工作区</a:t>
            </a: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C219AC47-DFA8-45C0-BC50-33FF5B8E9EDC}"/>
              </a:ext>
            </a:extLst>
          </p:cNvPr>
          <p:cNvSpPr>
            <a:spLocks noGrp="1"/>
          </p:cNvSpPr>
          <p:nvPr/>
        </p:nvSpPr>
        <p:spPr>
          <a:xfrm>
            <a:off x="6096000" y="2105025"/>
            <a:ext cx="0" cy="304800"/>
          </a:xfrm>
          <a:prstGeom prst="line">
            <a:avLst/>
          </a:prstGeom>
          <a:noFill/>
          <a:ln w="9525">
            <a:solidFill>
              <a:srgbClr val="B7C8D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0CDBE2-3775-4E0A-87D5-F277077C0FF7}"/>
              </a:ext>
            </a:extLst>
          </p:cNvPr>
          <p:cNvSpPr>
            <a:spLocks noGrp="1"/>
          </p:cNvSpPr>
          <p:nvPr/>
        </p:nvSpPr>
        <p:spPr>
          <a:xfrm>
            <a:off x="6096000" y="1952625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内核执行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43A1889F-9B8D-466C-B496-CC2801F7EBE3}"/>
              </a:ext>
            </a:extLst>
          </p:cNvPr>
          <p:cNvSpPr>
            <a:spLocks noGrp="1"/>
          </p:cNvSpPr>
          <p:nvPr/>
        </p:nvSpPr>
        <p:spPr>
          <a:xfrm>
            <a:off x="7620000" y="2105025"/>
            <a:ext cx="0" cy="304800"/>
          </a:xfrm>
          <a:prstGeom prst="line">
            <a:avLst/>
          </a:prstGeom>
          <a:noFill/>
          <a:ln w="9525">
            <a:solidFill>
              <a:srgbClr val="B7C8D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05B840-79DD-4C93-B969-0173B56800B0}"/>
              </a:ext>
            </a:extLst>
          </p:cNvPr>
          <p:cNvSpPr>
            <a:spLocks noGrp="1"/>
          </p:cNvSpPr>
          <p:nvPr/>
        </p:nvSpPr>
        <p:spPr>
          <a:xfrm>
            <a:off x="7620000" y="1952625"/>
            <a:ext cx="1524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状态回写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61D642-D554-4DA9-88FE-F537CA81733D}"/>
              </a:ext>
            </a:extLst>
          </p:cNvPr>
          <p:cNvSpPr>
            <a:spLocks noGrp="1"/>
          </p:cNvSpPr>
          <p:nvPr/>
        </p:nvSpPr>
        <p:spPr>
          <a:xfrm>
            <a:off x="9429750" y="2076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后续调用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C8AE5903-E0CD-4D46-9EF0-5EA75BEF30C5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1028700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97501C9-5EC3-4328-ADF2-893B5774EC5D}"/>
              </a:ext>
            </a:extLst>
          </p:cNvPr>
          <p:cNvSpPr>
            <a:spLocks noGrp="1"/>
          </p:cNvSpPr>
          <p:nvPr/>
        </p:nvSpPr>
        <p:spPr>
          <a:xfrm>
            <a:off x="11010900" y="27432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F6F57573-41B1-47BF-BEFE-65BB735015AB}"/>
              </a:ext>
            </a:extLst>
          </p:cNvPr>
          <p:cNvSpPr>
            <a:spLocks noGrp="1"/>
          </p:cNvSpPr>
          <p:nvPr/>
        </p:nvSpPr>
        <p:spPr>
          <a:xfrm>
            <a:off x="3048000" y="2781300"/>
            <a:ext cx="6096000" cy="0"/>
          </a:xfrm>
          <a:prstGeom prst="line">
            <a:avLst/>
          </a:prstGeom>
          <a:noFill/>
          <a:ln w="28575">
            <a:solidFill>
              <a:srgbClr val="2C5F91"/>
            </a:solidFill>
            <a:prstDash val="solid"/>
          </a:ln>
        </p:spPr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7A4F5082-4307-4C16-9697-7D745F0144C3}"/>
              </a:ext>
            </a:extLst>
          </p:cNvPr>
          <p:cNvSpPr>
            <a:spLocks noGrp="1"/>
          </p:cNvSpPr>
          <p:nvPr/>
        </p:nvSpPr>
        <p:spPr>
          <a:xfrm>
            <a:off x="3048000" y="2724150"/>
            <a:ext cx="0" cy="114300"/>
          </a:xfrm>
          <a:prstGeom prst="line">
            <a:avLst/>
          </a:prstGeom>
          <a:noFill/>
          <a:ln w="14288">
            <a:solidFill>
              <a:srgbClr val="2C5F91"/>
            </a:solidFill>
            <a:prstDash val="solid"/>
          </a:ln>
        </p:spPr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3C170626-095F-47B0-8464-2CCB83912A63}"/>
              </a:ext>
            </a:extLst>
          </p:cNvPr>
          <p:cNvSpPr>
            <a:spLocks noGrp="1"/>
          </p:cNvSpPr>
          <p:nvPr/>
        </p:nvSpPr>
        <p:spPr>
          <a:xfrm>
            <a:off x="9144000" y="2724150"/>
            <a:ext cx="0" cy="114300"/>
          </a:xfrm>
          <a:prstGeom prst="line">
            <a:avLst/>
          </a:prstGeom>
          <a:noFill/>
          <a:ln w="14288">
            <a:solidFill>
              <a:srgbClr val="2C5F91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C199823-E4C8-4A3D-B9CB-93FDBE3B0082}"/>
              </a:ext>
            </a:extLst>
          </p:cNvPr>
          <p:cNvSpPr>
            <a:spLocks noGrp="1"/>
          </p:cNvSpPr>
          <p:nvPr/>
        </p:nvSpPr>
        <p:spPr>
          <a:xfrm>
            <a:off x="1066800" y="292417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计时外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309474-079F-4817-986E-FA56B7721957}"/>
              </a:ext>
            </a:extLst>
          </p:cNvPr>
          <p:cNvSpPr>
            <a:spLocks noGrp="1"/>
          </p:cNvSpPr>
          <p:nvPr/>
        </p:nvSpPr>
        <p:spPr>
          <a:xfrm>
            <a:off x="5124450" y="2924175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2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公开接口计时范围</a:t>
            </a:r>
          </a:p>
        </p:txBody>
      </p:sp>
      <p:sp>
        <p:nvSpPr>
          <p:cNvPr id="24" name="直线连接符 23">
            <a:extLst>
              <a:ext uri="{FF2B5EF4-FFF2-40B4-BE49-F238E27FC236}">
                <a16:creationId xmlns:a16="http://schemas.microsoft.com/office/drawing/2014/main" id="{64F8E2E8-E073-4063-8216-C7D7071CA663}"/>
              </a:ext>
            </a:extLst>
          </p:cNvPr>
          <p:cNvSpPr>
            <a:spLocks noGrp="1"/>
          </p:cNvSpPr>
          <p:nvPr/>
        </p:nvSpPr>
        <p:spPr>
          <a:xfrm>
            <a:off x="723900" y="3543300"/>
            <a:ext cx="106680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2B5372-F7AC-4055-9CB8-3C028D8750A3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70D9CC-399B-432E-9A27-B78B6DB208D7}"/>
              </a:ext>
            </a:extLst>
          </p:cNvPr>
          <p:cNvSpPr>
            <a:spLocks noGrp="1"/>
          </p:cNvSpPr>
          <p:nvPr/>
        </p:nvSpPr>
        <p:spPr>
          <a:xfrm>
            <a:off x="1238250" y="38862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状态一致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1729834-6601-430A-8E5E-9C2D31D1099D}"/>
              </a:ext>
            </a:extLst>
          </p:cNvPr>
          <p:cNvSpPr>
            <a:spLocks noGrp="1"/>
          </p:cNvSpPr>
          <p:nvPr/>
        </p:nvSpPr>
        <p:spPr>
          <a:xfrm>
            <a:off x="2714625" y="388620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每次调用使用相同非零初态，重复测量时轮转状态槽位。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463589B-A9A7-4122-ACB1-B830994DF7D8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CC24CD-6C79-41D1-841D-D56153158DAA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进程隔离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6DB4A8B-D8B3-475A-9994-90B300044F2F}"/>
              </a:ext>
            </a:extLst>
          </p:cNvPr>
          <p:cNvSpPr>
            <a:spLocks noGrp="1"/>
          </p:cNvSpPr>
          <p:nvPr/>
        </p:nvSpPr>
        <p:spPr>
          <a:xfrm>
            <a:off x="2714625" y="440055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每个实现使用独立进程，避免 CUDA 符号覆盖改变实际执行路径。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DE8E477-5039-4C4D-9C2F-3DC012C8978E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0955421-1479-4804-832F-BCE39BE7F50D}"/>
              </a:ext>
            </a:extLst>
          </p:cNvPr>
          <p:cNvSpPr>
            <a:spLocks noGrp="1"/>
          </p:cNvSpPr>
          <p:nvPr/>
        </p:nvSpPr>
        <p:spPr>
          <a:xfrm>
            <a:off x="1238250" y="4914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双重正确性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7D4211-8E3F-41D1-A368-D45D2A2DE477}"/>
              </a:ext>
            </a:extLst>
          </p:cNvPr>
          <p:cNvSpPr>
            <a:spLocks noGrp="1"/>
          </p:cNvSpPr>
          <p:nvPr/>
        </p:nvSpPr>
        <p:spPr>
          <a:xfrm>
            <a:off x="2714625" y="491490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同时检查输出与最终状态，并覆盖打包、尾块和连续两次调用。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D38E8E-0144-432F-8422-3EA810E43B78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454290-C0E3-4128-872C-4EF5C7F725D8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正式性能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0BB8EF-9B20-41BB-B120-ADEFD2BD7530}"/>
              </a:ext>
            </a:extLst>
          </p:cNvPr>
          <p:cNvSpPr>
            <a:spLocks noGrp="1"/>
          </p:cNvSpPr>
          <p:nvPr/>
        </p:nvSpPr>
        <p:spPr>
          <a:xfrm>
            <a:off x="2714625" y="5429250"/>
            <a:ext cx="828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128959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4294A746-9418-4E9D-869D-E5CE0BEA8E70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06  分析方法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EF26A1-4AE1-483D-A96E-6345AE1D7CA8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双分支公平比较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D5D5B19E-7F33-49FE-9019-1B58692D895C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3A4A2B-ED9F-48B6-9B4F-9DD46B00C020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1B5F7A-A29B-4B51-BED6-3B6BD861E91B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952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只把优化后的新路径与未优化旧路径比较，会把架构收益和搜索努力混在一起。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AC36C1-110F-4FDB-8A35-85466ADB390B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HMMA 兼容分支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A9551CFD-AB34-42D1-9FD6-3FD503591979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1381125" cy="0"/>
          </a:xfrm>
          <a:prstGeom prst="line">
            <a:avLst/>
          </a:prstGeom>
          <a:noFill/>
          <a:ln w="19050">
            <a:solidFill>
              <a:srgbClr val="2C5F91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AC7F142-2BA7-4F30-9084-FEC2C857409F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1714500" cy="781050"/>
          </a:xfrm>
          <a:prstGeom prst="roundRect">
            <a:avLst>
              <a:gd name="adj" fmla="val 3659"/>
            </a:avLst>
          </a:prstGeom>
          <a:solidFill>
            <a:srgbClr val="E9EFF6"/>
          </a:solidFill>
          <a:ln w="9525">
            <a:solidFill>
              <a:srgbClr val="2C5F91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53A928-B1AA-4910-A499-6F7F6EE444A7}"/>
              </a:ext>
            </a:extLst>
          </p:cNvPr>
          <p:cNvSpPr>
            <a:spLocks noGrp="1"/>
          </p:cNvSpPr>
          <p:nvPr/>
        </p:nvSpPr>
        <p:spPr>
          <a:xfrm>
            <a:off x="904875" y="28194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H0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官方 HMMA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A808A16-6BFD-499F-AB38-2C5DE4F44B46}"/>
              </a:ext>
            </a:extLst>
          </p:cNvPr>
          <p:cNvSpPr>
            <a:spLocks noGrp="1"/>
          </p:cNvSpPr>
          <p:nvPr/>
        </p:nvSpPr>
        <p:spPr>
          <a:xfrm>
            <a:off x="3714750" y="2724150"/>
            <a:ext cx="1714500" cy="7810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4288">
            <a:solidFill>
              <a:srgbClr val="2C5F91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A273F3-F907-4054-9930-F598A0588941}"/>
              </a:ext>
            </a:extLst>
          </p:cNvPr>
          <p:cNvSpPr>
            <a:spLocks noGrp="1"/>
          </p:cNvSpPr>
          <p:nvPr/>
        </p:nvSpPr>
        <p:spPr>
          <a:xfrm>
            <a:off x="3857625" y="28194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H1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最优 HMMA</a:t>
            </a: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2C8680FF-93D0-4147-BFE2-29650B09B5E6}"/>
              </a:ext>
            </a:extLst>
          </p:cNvPr>
          <p:cNvSpPr>
            <a:spLocks noGrp="1"/>
          </p:cNvSpPr>
          <p:nvPr/>
        </p:nvSpPr>
        <p:spPr>
          <a:xfrm>
            <a:off x="2476500" y="3114675"/>
            <a:ext cx="1238250" cy="0"/>
          </a:xfrm>
          <a:prstGeom prst="line">
            <a:avLst/>
          </a:prstGeom>
          <a:noFill/>
          <a:ln w="19050">
            <a:solidFill>
              <a:srgbClr val="2C5F91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0B45040-3439-4F24-9BBC-69B70AB6D826}"/>
              </a:ext>
            </a:extLst>
          </p:cNvPr>
          <p:cNvSpPr>
            <a:spLocks noGrp="1"/>
          </p:cNvSpPr>
          <p:nvPr/>
        </p:nvSpPr>
        <p:spPr>
          <a:xfrm>
            <a:off x="3676650" y="30765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C5F91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1F29F1-797C-46DC-B31D-E3E485C0F3E3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tcgen05 原生分支</a:t>
            </a: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DA19B25B-8E30-4583-8181-569F6C3D631B}"/>
              </a:ext>
            </a:extLst>
          </p:cNvPr>
          <p:cNvSpPr>
            <a:spLocks noGrp="1"/>
          </p:cNvSpPr>
          <p:nvPr/>
        </p:nvSpPr>
        <p:spPr>
          <a:xfrm>
            <a:off x="762000" y="4295775"/>
            <a:ext cx="1476375" cy="0"/>
          </a:xfrm>
          <a:prstGeom prst="line">
            <a:avLst/>
          </a:prstGeom>
          <a:noFill/>
          <a:ln w="19050">
            <a:solidFill>
              <a:srgbClr val="C66A3D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DFC2501-F246-4244-8FA3-5A766E7A0148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1714500" cy="781050"/>
          </a:xfrm>
          <a:prstGeom prst="roundRect">
            <a:avLst>
              <a:gd name="adj" fmla="val 3659"/>
            </a:avLst>
          </a:prstGeom>
          <a:solidFill>
            <a:srgbClr val="F5EAE3"/>
          </a:solidFill>
          <a:ln w="9525">
            <a:solidFill>
              <a:srgbClr val="C66A3D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3E2E8A-0555-4B0D-9F7F-BF9DF4A54AB8}"/>
              </a:ext>
            </a:extLst>
          </p:cNvPr>
          <p:cNvSpPr>
            <a:spLocks noGrp="1"/>
          </p:cNvSpPr>
          <p:nvPr/>
        </p:nvSpPr>
        <p:spPr>
          <a:xfrm>
            <a:off x="904875" y="46482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T0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同预算 tcgen05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3EA65CC7-646F-401C-B716-D0AF06B019B0}"/>
              </a:ext>
            </a:extLst>
          </p:cNvPr>
          <p:cNvSpPr>
            <a:spLocks noGrp="1"/>
          </p:cNvSpPr>
          <p:nvPr/>
        </p:nvSpPr>
        <p:spPr>
          <a:xfrm>
            <a:off x="3714750" y="4552950"/>
            <a:ext cx="1714500" cy="78105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4288">
            <a:solidFill>
              <a:srgbClr val="C66A3D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511161-0DEE-41C3-B7D6-FAEB3087BAC3}"/>
              </a:ext>
            </a:extLst>
          </p:cNvPr>
          <p:cNvSpPr>
            <a:spLocks noGrp="1"/>
          </p:cNvSpPr>
          <p:nvPr/>
        </p:nvSpPr>
        <p:spPr>
          <a:xfrm>
            <a:off x="3857625" y="46482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T1 / T2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最优原生路径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7011237C-207E-41FB-8565-2C31E8F554EF}"/>
              </a:ext>
            </a:extLst>
          </p:cNvPr>
          <p:cNvSpPr>
            <a:spLocks noGrp="1"/>
          </p:cNvSpPr>
          <p:nvPr/>
        </p:nvSpPr>
        <p:spPr>
          <a:xfrm>
            <a:off x="2476500" y="4943475"/>
            <a:ext cx="1238250" cy="0"/>
          </a:xfrm>
          <a:prstGeom prst="line">
            <a:avLst/>
          </a:prstGeom>
          <a:noFill/>
          <a:ln w="19050">
            <a:solidFill>
              <a:srgbClr val="C66A3D"/>
            </a:solidFill>
            <a:prstDash val="solid"/>
          </a:ln>
        </p:spPr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2890984-374C-4BC8-80E4-BB109781355C}"/>
              </a:ext>
            </a:extLst>
          </p:cNvPr>
          <p:cNvSpPr>
            <a:spLocks noGrp="1"/>
          </p:cNvSpPr>
          <p:nvPr/>
        </p:nvSpPr>
        <p:spPr>
          <a:xfrm>
            <a:off x="3676650" y="49053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66A3D"/>
          </a:solidFill>
          <a:ln w="0">
            <a:noFill/>
            <a:prstDash val="solid"/>
          </a:ln>
        </p:spPr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F3E07F30-A0E4-4351-A306-434FBF1270D4}"/>
              </a:ext>
            </a:extLst>
          </p:cNvPr>
          <p:cNvSpPr>
            <a:spLocks noGrp="1"/>
          </p:cNvSpPr>
          <p:nvPr/>
        </p:nvSpPr>
        <p:spPr>
          <a:xfrm>
            <a:off x="6191250" y="1952625"/>
            <a:ext cx="0" cy="381000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1B8B313-DAB1-401E-85B7-FC4D1ADFE5D9}"/>
              </a:ext>
            </a:extLst>
          </p:cNvPr>
          <p:cNvSpPr>
            <a:spLocks noGrp="1"/>
          </p:cNvSpPr>
          <p:nvPr/>
        </p:nvSpPr>
        <p:spPr>
          <a:xfrm>
            <a:off x="6762750" y="22098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共享实验合同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9A193D-FE11-47AB-8480-9204A5157D38}"/>
              </a:ext>
            </a:extLst>
          </p:cNvPr>
          <p:cNvSpPr>
            <a:spLocks noGrp="1"/>
          </p:cNvSpPr>
          <p:nvPr/>
        </p:nvSpPr>
        <p:spPr>
          <a:xfrm>
            <a:off x="6762750" y="2876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同一工作负载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CBEB8C-9846-44DC-8A58-6339563DB178}"/>
              </a:ext>
            </a:extLst>
          </p:cNvPr>
          <p:cNvSpPr>
            <a:spLocks noGrp="1"/>
          </p:cNvSpPr>
          <p:nvPr/>
        </p:nvSpPr>
        <p:spPr>
          <a:xfrm>
            <a:off x="6762750" y="317182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q / k / v / 状态 / 打包边界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1B42AD-9310-4BFB-B7C2-956898E6C624}"/>
              </a:ext>
            </a:extLst>
          </p:cNvPr>
          <p:cNvSpPr>
            <a:spLocks noGrp="1"/>
          </p:cNvSpPr>
          <p:nvPr/>
        </p:nvSpPr>
        <p:spPr>
          <a:xfrm>
            <a:off x="6762750" y="36195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同一机会预算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EABC353-CE01-4A72-A7CE-86BD90329AE5}"/>
              </a:ext>
            </a:extLst>
          </p:cNvPr>
          <p:cNvSpPr>
            <a:spLocks noGrp="1"/>
          </p:cNvSpPr>
          <p:nvPr/>
        </p:nvSpPr>
        <p:spPr>
          <a:xfrm>
            <a:off x="6762750" y="391477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每轮候选与搜索机会匹配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ED40E8E-ABA8-4742-B7CD-0511A09981CB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同一证据门槛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EE481F-EE85-48B1-88CF-F67D5612EDCB}"/>
              </a:ext>
            </a:extLst>
          </p:cNvPr>
          <p:cNvSpPr>
            <a:spLocks noGrp="1"/>
          </p:cNvSpPr>
          <p:nvPr/>
        </p:nvSpPr>
        <p:spPr>
          <a:xfrm>
            <a:off x="6762750" y="4657725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实际路径、正确性与完整接口计时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9DB942-6834-4CA0-8A13-71435F0A6AC0}"/>
              </a:ext>
            </a:extLst>
          </p:cNvPr>
          <p:cNvSpPr>
            <a:spLocks noGrp="1"/>
          </p:cNvSpPr>
          <p:nvPr/>
        </p:nvSpPr>
        <p:spPr>
          <a:xfrm>
            <a:off x="6762750" y="5191125"/>
            <a:ext cx="4000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公平问题  </a:t>
            </a:r>
            <a:r>
              <a:rPr>
                <a:solidFill>
                  <a:srgbClr val="151A21"/>
                </a:solidFill>
              </a:rPr>
              <a:t>比较的是同预算最优边界，而不是新旧指令的静态标签。</a:t>
            </a:r>
          </a:p>
        </p:txBody>
      </p:sp>
    </p:spTree>
    <p:extLst>
      <p:ext uri="{BB962C8B-B14F-4D97-AF65-F5344CB8AC3E}">
        <p14:creationId xmlns:p14="http://schemas.microsoft.com/office/powerpoint/2010/main" val="137395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3C4E0B17-BDAC-43C6-B96C-8888435EF5CC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07  分析方法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ED51B0-1D84-48C9-9304-445173C45CF1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MARPE 探索闭环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1258DCDD-C781-424D-9E3E-F2005B8957E9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367B87-4513-4C7C-8926-B4DAE069104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DB044C3-1607-4CDF-993A-3620855BFA6B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MARPE：多智能体运行时画像演化（Multi-Agent Runtime Profile Evolution）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8298C8-A028-4B9E-AFAA-15BA75FEE312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0054BE-3FCF-47CA-B321-4D0BD3DC221B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开放提案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7C80EB-12C5-4AC1-8552-43BAF4ED9BAA}"/>
              </a:ext>
            </a:extLst>
          </p:cNvPr>
          <p:cNvSpPr>
            <a:spLocks noGrp="1"/>
          </p:cNvSpPr>
          <p:nvPr/>
        </p:nvSpPr>
        <p:spPr>
          <a:xfrm>
            <a:off x="666750" y="2514600"/>
            <a:ext cx="176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代码补丁、结构扩展</a:t>
            </a:r>
          </a:p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与机制探针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FBE9E4C5-1F11-421F-8BD9-1CB1A87FB88E}"/>
              </a:ext>
            </a:extLst>
          </p:cNvPr>
          <p:cNvSpPr>
            <a:spLocks noGrp="1"/>
          </p:cNvSpPr>
          <p:nvPr/>
        </p:nvSpPr>
        <p:spPr>
          <a:xfrm>
            <a:off x="2457450" y="2238375"/>
            <a:ext cx="304800" cy="0"/>
          </a:xfrm>
          <a:prstGeom prst="line">
            <a:avLst/>
          </a:prstGeom>
          <a:noFill/>
          <a:ln w="15240">
            <a:solidFill>
              <a:srgbClr val="D9D6C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505687D0-A8AD-42E4-AC5B-73C043D612F9}"/>
              </a:ext>
            </a:extLst>
          </p:cNvPr>
          <p:cNvSpPr>
            <a:spLocks noGrp="1"/>
          </p:cNvSpPr>
          <p:nvPr/>
        </p:nvSpPr>
        <p:spPr>
          <a:xfrm>
            <a:off x="2724150" y="2200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1F47EC-B6FE-4C0A-B638-8D74E949814B}"/>
              </a:ext>
            </a:extLst>
          </p:cNvPr>
          <p:cNvSpPr>
            <a:spLocks noGrp="1"/>
          </p:cNvSpPr>
          <p:nvPr/>
        </p:nvSpPr>
        <p:spPr>
          <a:xfrm>
            <a:off x="2933700" y="16954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6837D8-8AE2-42D4-B4BE-7DAAEB8BB784}"/>
              </a:ext>
            </a:extLst>
          </p:cNvPr>
          <p:cNvSpPr>
            <a:spLocks noGrp="1"/>
          </p:cNvSpPr>
          <p:nvPr/>
        </p:nvSpPr>
        <p:spPr>
          <a:xfrm>
            <a:off x="2933700" y="20764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候选分配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F857D2-E7F5-4FA1-92CB-3D13F29D03BA}"/>
              </a:ext>
            </a:extLst>
          </p:cNvPr>
          <p:cNvSpPr>
            <a:spLocks noGrp="1"/>
          </p:cNvSpPr>
          <p:nvPr/>
        </p:nvSpPr>
        <p:spPr>
          <a:xfrm>
            <a:off x="2933700" y="2514600"/>
            <a:ext cx="176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HMMA 兼容分支与 tcgen05 原生分支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94FB615A-26B5-4EB8-ACB5-FA6430D676C7}"/>
              </a:ext>
            </a:extLst>
          </p:cNvPr>
          <p:cNvSpPr>
            <a:spLocks noGrp="1"/>
          </p:cNvSpPr>
          <p:nvPr/>
        </p:nvSpPr>
        <p:spPr>
          <a:xfrm>
            <a:off x="4724400" y="2238375"/>
            <a:ext cx="304800" cy="0"/>
          </a:xfrm>
          <a:prstGeom prst="line">
            <a:avLst/>
          </a:prstGeom>
          <a:noFill/>
          <a:ln w="15240">
            <a:solidFill>
              <a:srgbClr val="D9D6CF"/>
            </a:solidFill>
            <a:prstDash val="solid"/>
          </a:ln>
        </p:spPr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F06FF93-51C7-4562-A7F6-10751E00C532}"/>
              </a:ext>
            </a:extLst>
          </p:cNvPr>
          <p:cNvSpPr>
            <a:spLocks noGrp="1"/>
          </p:cNvSpPr>
          <p:nvPr/>
        </p:nvSpPr>
        <p:spPr>
          <a:xfrm>
            <a:off x="4991100" y="2200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202995-B4FF-4E46-94B4-6FF195E4FD13}"/>
              </a:ext>
            </a:extLst>
          </p:cNvPr>
          <p:cNvSpPr>
            <a:spLocks noGrp="1"/>
          </p:cNvSpPr>
          <p:nvPr/>
        </p:nvSpPr>
        <p:spPr>
          <a:xfrm>
            <a:off x="5200650" y="16954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C5ED15-BC03-49C2-B78D-1B126F6D0E54}"/>
              </a:ext>
            </a:extLst>
          </p:cNvPr>
          <p:cNvSpPr>
            <a:spLocks noGrp="1"/>
          </p:cNvSpPr>
          <p:nvPr/>
        </p:nvSpPr>
        <p:spPr>
          <a:xfrm>
            <a:off x="5200650" y="20764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隔离执行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A4A044-B387-49B1-BD0A-8B2CDD55B43D}"/>
              </a:ext>
            </a:extLst>
          </p:cNvPr>
          <p:cNvSpPr>
            <a:spLocks noGrp="1"/>
          </p:cNvSpPr>
          <p:nvPr/>
        </p:nvSpPr>
        <p:spPr>
          <a:xfrm>
            <a:off x="5200650" y="2514600"/>
            <a:ext cx="176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独立 GPU、性能分析</a:t>
            </a:r>
          </a:p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与实验快照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26019F13-C459-4DA2-9A38-06E2A8CFB9A9}"/>
              </a:ext>
            </a:extLst>
          </p:cNvPr>
          <p:cNvSpPr>
            <a:spLocks noGrp="1"/>
          </p:cNvSpPr>
          <p:nvPr/>
        </p:nvSpPr>
        <p:spPr>
          <a:xfrm>
            <a:off x="6991350" y="2238375"/>
            <a:ext cx="304800" cy="0"/>
          </a:xfrm>
          <a:prstGeom prst="line">
            <a:avLst/>
          </a:prstGeom>
          <a:noFill/>
          <a:ln w="15240">
            <a:solidFill>
              <a:srgbClr val="D9D6CF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0D66586-89E2-4438-B800-CFF5CF995A82}"/>
              </a:ext>
            </a:extLst>
          </p:cNvPr>
          <p:cNvSpPr>
            <a:spLocks noGrp="1"/>
          </p:cNvSpPr>
          <p:nvPr/>
        </p:nvSpPr>
        <p:spPr>
          <a:xfrm>
            <a:off x="7258050" y="2200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F036B21-5190-4146-A652-B1799BAD93D2}"/>
              </a:ext>
            </a:extLst>
          </p:cNvPr>
          <p:cNvSpPr>
            <a:spLocks noGrp="1"/>
          </p:cNvSpPr>
          <p:nvPr/>
        </p:nvSpPr>
        <p:spPr>
          <a:xfrm>
            <a:off x="7467600" y="16954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1F715E-6134-408D-A170-019E561B0255}"/>
              </a:ext>
            </a:extLst>
          </p:cNvPr>
          <p:cNvSpPr>
            <a:spLocks noGrp="1"/>
          </p:cNvSpPr>
          <p:nvPr/>
        </p:nvSpPr>
        <p:spPr>
          <a:xfrm>
            <a:off x="7467600" y="20764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证据晋级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B3467A-C55A-4725-ACBB-FD89563BE890}"/>
              </a:ext>
            </a:extLst>
          </p:cNvPr>
          <p:cNvSpPr>
            <a:spLocks noGrp="1"/>
          </p:cNvSpPr>
          <p:nvPr/>
        </p:nvSpPr>
        <p:spPr>
          <a:xfrm>
            <a:off x="7467600" y="2514600"/>
            <a:ext cx="176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实际路径、正确性</a:t>
            </a:r>
          </a:p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与 ABBA 复测</a:t>
            </a:r>
          </a:p>
        </p:txBody>
      </p:sp>
      <p:sp>
        <p:nvSpPr>
          <p:cNvPr id="24" name="直线连接符 23">
            <a:extLst>
              <a:ext uri="{FF2B5EF4-FFF2-40B4-BE49-F238E27FC236}">
                <a16:creationId xmlns:a16="http://schemas.microsoft.com/office/drawing/2014/main" id="{23FFD46C-F7D5-4CAB-99DA-DB6CB463ACF2}"/>
              </a:ext>
            </a:extLst>
          </p:cNvPr>
          <p:cNvSpPr>
            <a:spLocks noGrp="1"/>
          </p:cNvSpPr>
          <p:nvPr/>
        </p:nvSpPr>
        <p:spPr>
          <a:xfrm>
            <a:off x="9258300" y="2238375"/>
            <a:ext cx="304800" cy="0"/>
          </a:xfrm>
          <a:prstGeom prst="line">
            <a:avLst/>
          </a:prstGeom>
          <a:noFill/>
          <a:ln w="15240">
            <a:solidFill>
              <a:srgbClr val="D9D6CF"/>
            </a:solidFill>
            <a:prstDash val="solid"/>
          </a:ln>
        </p:spPr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76448CE-4E42-4D18-9DBD-9A3785118359}"/>
              </a:ext>
            </a:extLst>
          </p:cNvPr>
          <p:cNvSpPr>
            <a:spLocks noGrp="1"/>
          </p:cNvSpPr>
          <p:nvPr/>
        </p:nvSpPr>
        <p:spPr>
          <a:xfrm>
            <a:off x="9525000" y="2200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41736C-B2D1-4EE6-9EAF-3A2AE9226A5E}"/>
              </a:ext>
            </a:extLst>
          </p:cNvPr>
          <p:cNvSpPr>
            <a:spLocks noGrp="1"/>
          </p:cNvSpPr>
          <p:nvPr/>
        </p:nvSpPr>
        <p:spPr>
          <a:xfrm>
            <a:off x="9734550" y="16954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99F691-A17F-49F3-8E31-76C8EE43E7ED}"/>
              </a:ext>
            </a:extLst>
          </p:cNvPr>
          <p:cNvSpPr>
            <a:spLocks noGrp="1"/>
          </p:cNvSpPr>
          <p:nvPr/>
        </p:nvSpPr>
        <p:spPr>
          <a:xfrm>
            <a:off x="9734550" y="2076450"/>
            <a:ext cx="179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双层写回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A1F31B-57E8-4858-A9AB-2A4081A10996}"/>
              </a:ext>
            </a:extLst>
          </p:cNvPr>
          <p:cNvSpPr>
            <a:spLocks noGrp="1"/>
          </p:cNvSpPr>
          <p:nvPr/>
        </p:nvSpPr>
        <p:spPr>
          <a:xfrm>
            <a:off x="9734550" y="2514600"/>
            <a:ext cx="17621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程序 IR 与经验 IR</a:t>
            </a:r>
          </a:p>
        </p:txBody>
      </p:sp>
      <p:sp>
        <p:nvSpPr>
          <p:cNvPr id="29" name="直线连接符 28">
            <a:extLst>
              <a:ext uri="{FF2B5EF4-FFF2-40B4-BE49-F238E27FC236}">
                <a16:creationId xmlns:a16="http://schemas.microsoft.com/office/drawing/2014/main" id="{696579D4-558E-4341-9984-4D78FDB2B09A}"/>
              </a:ext>
            </a:extLst>
          </p:cNvPr>
          <p:cNvSpPr>
            <a:spLocks noGrp="1"/>
          </p:cNvSpPr>
          <p:nvPr/>
        </p:nvSpPr>
        <p:spPr>
          <a:xfrm>
            <a:off x="666750" y="3600450"/>
            <a:ext cx="1081087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B7A594-A4E4-43A3-A0CC-4C65C66F2458}"/>
              </a:ext>
            </a:extLst>
          </p:cNvPr>
          <p:cNvSpPr>
            <a:spLocks noGrp="1"/>
          </p:cNvSpPr>
          <p:nvPr/>
        </p:nvSpPr>
        <p:spPr>
          <a:xfrm>
            <a:off x="704850" y="39433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写回的两类产物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C82B01-09CA-4BA9-9C80-76777033DF73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数据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E57944C-FB8E-4C33-8FAE-7FDE7781D9B5}"/>
              </a:ext>
            </a:extLst>
          </p:cNvPr>
          <p:cNvSpPr>
            <a:spLocks noGrp="1"/>
          </p:cNvSpPr>
          <p:nvPr/>
        </p:nvSpPr>
        <p:spPr>
          <a:xfrm>
            <a:off x="1714500" y="4533900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时延样本、正确性、二进制指令、路径凭据与硬件计数器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282B1CB-F4BE-4B4C-BCB0-EFF9F2A834C4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857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知识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AE7DCB3-D790-4C84-9466-BBACAD591BFF}"/>
              </a:ext>
            </a:extLst>
          </p:cNvPr>
          <p:cNvSpPr>
            <a:spLocks noGrp="1"/>
          </p:cNvSpPr>
          <p:nvPr/>
        </p:nvSpPr>
        <p:spPr>
          <a:xfrm>
            <a:off x="1714500" y="5086350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机制解释 · 失败边界 · 适用范围 · 允许复用方式 · 下一轮高价值提案</a:t>
            </a:r>
          </a:p>
        </p:txBody>
      </p:sp>
      <p:sp>
        <p:nvSpPr>
          <p:cNvPr id="35" name="直线连接符 34">
            <a:extLst>
              <a:ext uri="{FF2B5EF4-FFF2-40B4-BE49-F238E27FC236}">
                <a16:creationId xmlns:a16="http://schemas.microsoft.com/office/drawing/2014/main" id="{B05E6C79-4D15-46CD-A98F-F8DD3A5F12C5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81087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B7DF830-6150-4B36-A9AA-EDAA6D44C4F7}"/>
              </a:ext>
            </a:extLst>
          </p:cNvPr>
          <p:cNvSpPr>
            <a:spLocks noGrp="1"/>
          </p:cNvSpPr>
          <p:nvPr/>
        </p:nvSpPr>
        <p:spPr>
          <a:xfrm>
            <a:off x="704850" y="6000750"/>
            <a:ext cx="1066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PIKE  分支搜索与候选分配     Atrex  隔离执行、性能分析与 ABBA     本文  双分支 IR、公平预算与证据晋级</a:t>
            </a:r>
          </a:p>
        </p:txBody>
      </p:sp>
    </p:spTree>
    <p:extLst>
      <p:ext uri="{BB962C8B-B14F-4D97-AF65-F5344CB8AC3E}">
        <p14:creationId xmlns:p14="http://schemas.microsoft.com/office/powerpoint/2010/main" val="1884659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2FAB3657-5D09-4973-A3A2-270D52001CD5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08  分析方法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4FB7B2-B03E-4419-8CF6-99A0F6DCE6CB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双层 IR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427D6D60-0C78-4944-B3B4-955AC1DC36A0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7C99E1-19F0-4582-884B-72BC4094FF3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0B584F-38A9-4F45-BBA2-0BEDF683D804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程序中间表示（Program IR）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F8FC9964-5897-4AEA-8FFB-B41F0C9EDBE4}"/>
              </a:ext>
            </a:extLst>
          </p:cNvPr>
          <p:cNvSpPr>
            <a:spLocks noGrp="1"/>
          </p:cNvSpPr>
          <p:nvPr/>
        </p:nvSpPr>
        <p:spPr>
          <a:xfrm>
            <a:off x="742950" y="1781175"/>
            <a:ext cx="2095500" cy="0"/>
          </a:xfrm>
          <a:prstGeom prst="line">
            <a:avLst/>
          </a:prstGeom>
          <a:noFill/>
          <a:ln w="1905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68FB24-D5A0-4416-A619-798A1ED336D0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回答：实际执行了什么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29F492-2C8E-44E2-920C-59AFA905B5CD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050B5A-3189-49B2-B798-E37DC91E664C}"/>
              </a:ext>
            </a:extLst>
          </p:cNvPr>
          <p:cNvSpPr>
            <a:spLocks noGrp="1"/>
          </p:cNvSpPr>
          <p:nvPr/>
        </p:nvSpPr>
        <p:spPr>
          <a:xfrm>
            <a:off x="1190625" y="2476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算子约束与实际路径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3A175E-D34E-4B52-8EE9-3A81A07A4CBA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834DAC-7031-46B5-9555-D55F356CB90A}"/>
              </a:ext>
            </a:extLst>
          </p:cNvPr>
          <p:cNvSpPr>
            <a:spLocks noGrp="1"/>
          </p:cNvSpPr>
          <p:nvPr/>
        </p:nvSpPr>
        <p:spPr>
          <a:xfrm>
            <a:off x="1190625" y="2933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源码、头文件、动态库与哈希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1449AE-C182-40F5-B461-A0E34F86C010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079A9C-2332-4371-B8D8-8A5AB91CB575}"/>
              </a:ext>
            </a:extLst>
          </p:cNvPr>
          <p:cNvSpPr>
            <a:spLocks noGrp="1"/>
          </p:cNvSpPr>
          <p:nvPr/>
        </p:nvSpPr>
        <p:spPr>
          <a:xfrm>
            <a:off x="1190625" y="33909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硬件架构、编译器与路由条件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334822-B617-456F-B66F-0851BDE41734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3064E8-09D8-4AAB-ADF9-472A1E4CA986}"/>
              </a:ext>
            </a:extLst>
          </p:cNvPr>
          <p:cNvSpPr>
            <a:spLocks noGrp="1"/>
          </p:cNvSpPr>
          <p:nvPr/>
        </p:nvSpPr>
        <p:spPr>
          <a:xfrm>
            <a:off x="1190625" y="38481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调度、布局与同步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B96327-22E6-45EC-8C98-2700A7D69A76}"/>
              </a:ext>
            </a:extLst>
          </p:cNvPr>
          <p:cNvSpPr>
            <a:spLocks noGrp="1"/>
          </p:cNvSpPr>
          <p:nvPr/>
        </p:nvSpPr>
        <p:spPr>
          <a:xfrm>
            <a:off x="762000" y="43434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F6AE93-39D0-4D3E-9741-54221F5809F2}"/>
              </a:ext>
            </a:extLst>
          </p:cNvPr>
          <p:cNvSpPr>
            <a:spLocks noGrp="1"/>
          </p:cNvSpPr>
          <p:nvPr/>
        </p:nvSpPr>
        <p:spPr>
          <a:xfrm>
            <a:off x="1190625" y="43053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Python 解释器、导入来源与搜索路径</a:t>
            </a:r>
          </a:p>
        </p:txBody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31521919-4838-4FD2-A79E-FFBD27ADAC8B}"/>
              </a:ext>
            </a:extLst>
          </p:cNvPr>
          <p:cNvSpPr>
            <a:spLocks noGrp="1"/>
          </p:cNvSpPr>
          <p:nvPr/>
        </p:nvSpPr>
        <p:spPr>
          <a:xfrm>
            <a:off x="5905500" y="1524000"/>
            <a:ext cx="0" cy="367665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9BA71DD-22EB-4A22-B324-63006219FBD6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经验中间表示（Experience IR）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1446F979-667B-4C47-BAC2-A3643E16E1F7}"/>
              </a:ext>
            </a:extLst>
          </p:cNvPr>
          <p:cNvSpPr>
            <a:spLocks noGrp="1"/>
          </p:cNvSpPr>
          <p:nvPr/>
        </p:nvSpPr>
        <p:spPr>
          <a:xfrm>
            <a:off x="6572250" y="1781175"/>
            <a:ext cx="2286000" cy="0"/>
          </a:xfrm>
          <a:prstGeom prst="line">
            <a:avLst/>
          </a:prstGeom>
          <a:noFill/>
          <a:ln w="19050">
            <a:solidFill>
              <a:srgbClr val="C66A3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C58D19-F878-4EAD-A4CE-342AB111482C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回答：这条证据能在哪里复用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6C908E-0BF7-410B-9B06-C8D8B70215EF}"/>
              </a:ext>
            </a:extLst>
          </p:cNvPr>
          <p:cNvSpPr>
            <a:spLocks noGrp="1"/>
          </p:cNvSpPr>
          <p:nvPr/>
        </p:nvSpPr>
        <p:spPr>
          <a:xfrm>
            <a:off x="6591300" y="25146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8C09FF-2A16-4C25-959E-3989CF0F6F18}"/>
              </a:ext>
            </a:extLst>
          </p:cNvPr>
          <p:cNvSpPr>
            <a:spLocks noGrp="1"/>
          </p:cNvSpPr>
          <p:nvPr/>
        </p:nvSpPr>
        <p:spPr>
          <a:xfrm>
            <a:off x="7019925" y="24765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候选提案、结果与不确定性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B35BE5C-DB9A-4662-B340-085C2DD40250}"/>
              </a:ext>
            </a:extLst>
          </p:cNvPr>
          <p:cNvSpPr>
            <a:spLocks noGrp="1"/>
          </p:cNvSpPr>
          <p:nvPr/>
        </p:nvSpPr>
        <p:spPr>
          <a:xfrm>
            <a:off x="6591300" y="29718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BE2D1E-1D5C-4722-B037-ECC146F17533}"/>
              </a:ext>
            </a:extLst>
          </p:cNvPr>
          <p:cNvSpPr>
            <a:spLocks noGrp="1"/>
          </p:cNvSpPr>
          <p:nvPr/>
        </p:nvSpPr>
        <p:spPr>
          <a:xfrm>
            <a:off x="7019925" y="29337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机制状态与失败原因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E171D60-D704-4226-BC31-CA4F3D798EEE}"/>
              </a:ext>
            </a:extLst>
          </p:cNvPr>
          <p:cNvSpPr>
            <a:spLocks noGrp="1"/>
          </p:cNvSpPr>
          <p:nvPr/>
        </p:nvSpPr>
        <p:spPr>
          <a:xfrm>
            <a:off x="6591300" y="34290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01002D1-7975-4CEC-9128-833051950B0B}"/>
              </a:ext>
            </a:extLst>
          </p:cNvPr>
          <p:cNvSpPr>
            <a:spLocks noGrp="1"/>
          </p:cNvSpPr>
          <p:nvPr/>
        </p:nvSpPr>
        <p:spPr>
          <a:xfrm>
            <a:off x="7019925" y="33909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执行路径、架构与注意力头数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D5EAEC-8B1C-4614-9443-DAD0CB544863}"/>
              </a:ext>
            </a:extLst>
          </p:cNvPr>
          <p:cNvSpPr>
            <a:spLocks noGrp="1"/>
          </p:cNvSpPr>
          <p:nvPr/>
        </p:nvSpPr>
        <p:spPr>
          <a:xfrm>
            <a:off x="6591300" y="38862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391BB6A-F076-4D40-B96F-42270ADEA8F4}"/>
              </a:ext>
            </a:extLst>
          </p:cNvPr>
          <p:cNvSpPr>
            <a:spLocks noGrp="1"/>
          </p:cNvSpPr>
          <p:nvPr/>
        </p:nvSpPr>
        <p:spPr>
          <a:xfrm>
            <a:off x="7019925" y="38481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工作负载、阶段与计时范围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A7FCD3-508C-458E-B1C3-5B25FE0A4D77}"/>
              </a:ext>
            </a:extLst>
          </p:cNvPr>
          <p:cNvSpPr>
            <a:spLocks noGrp="1"/>
          </p:cNvSpPr>
          <p:nvPr/>
        </p:nvSpPr>
        <p:spPr>
          <a:xfrm>
            <a:off x="6591300" y="434340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B114CA7-8621-488C-A103-557A6213EBD6}"/>
              </a:ext>
            </a:extLst>
          </p:cNvPr>
          <p:cNvSpPr>
            <a:spLocks noGrp="1"/>
          </p:cNvSpPr>
          <p:nvPr/>
        </p:nvSpPr>
        <p:spPr>
          <a:xfrm>
            <a:off x="7019925" y="43053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允许复用范围与必须重测条件</a:t>
            </a:r>
          </a:p>
        </p:txBody>
      </p:sp>
      <p:sp>
        <p:nvSpPr>
          <p:cNvPr id="32" name="直线连接符 31">
            <a:extLst>
              <a:ext uri="{FF2B5EF4-FFF2-40B4-BE49-F238E27FC236}">
                <a16:creationId xmlns:a16="http://schemas.microsoft.com/office/drawing/2014/main" id="{2B1F57DB-DBBB-493B-B8D3-A77C50D2638C}"/>
              </a:ext>
            </a:extLst>
          </p:cNvPr>
          <p:cNvSpPr>
            <a:spLocks noGrp="1"/>
          </p:cNvSpPr>
          <p:nvPr/>
        </p:nvSpPr>
        <p:spPr>
          <a:xfrm>
            <a:off x="723900" y="5391150"/>
            <a:ext cx="1071562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E40B766-B4E6-4DB8-92CF-75655B7F21B0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1028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例 1  </a:t>
            </a:r>
            <a:r>
              <a:t>V16 核心探针 1.615× 只说明首选布局有潜力，不能直接写成公开路径赢家。</a:t>
            </a:r>
          </a:p>
          <a:p>
            <a:pPr algn="l"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A84D47"/>
                </a:solidFill>
              </a:rPr>
              <a:t>例 2  </a:t>
            </a:r>
            <a:r>
              <a:t>HMMA nseq3 的 1.076× 不外推到 nseq4；后者实测为 0.962×。</a:t>
            </a:r>
          </a:p>
        </p:txBody>
      </p:sp>
    </p:spTree>
    <p:extLst>
      <p:ext uri="{BB962C8B-B14F-4D97-AF65-F5344CB8AC3E}">
        <p14:creationId xmlns:p14="http://schemas.microsoft.com/office/powerpoint/2010/main" val="87725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BA0D7B75-B7EA-4053-8322-A9D5AE83C70F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09  分析结论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2E96AF-7A0A-47BC-85D4-C5C0F8B315DC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三个关键结论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35A9EBC6-C699-498B-892E-C44AAB598828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AA322B-8C0F-4394-9FB2-EDD3C68AC5B3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E911A-1F1B-41CB-BEA3-0C2452A443A7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Q1 · Q5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6A677-CF9E-4D5E-92DA-D44C9D90750A}"/>
              </a:ext>
            </a:extLst>
          </p:cNvPr>
          <p:cNvSpPr>
            <a:spLocks noGrp="1"/>
          </p:cNvSpPr>
          <p:nvPr/>
        </p:nvSpPr>
        <p:spPr>
          <a:xfrm>
            <a:off x="2000250" y="15240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数值约束决定分块设计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B46E1B-4677-4B28-9D1A-0AA380074A6E}"/>
              </a:ext>
            </a:extLst>
          </p:cNvPr>
          <p:cNvSpPr>
            <a:spLocks noGrp="1"/>
          </p:cNvSpPr>
          <p:nvPr/>
        </p:nvSpPr>
        <p:spPr>
          <a:xfrm>
            <a:off x="2000250" y="1990725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DC910A-1D40-43B3-9C57-7551E7C75E53}"/>
              </a:ext>
            </a:extLst>
          </p:cNvPr>
          <p:cNvSpPr>
            <a:spLocks noGrp="1"/>
          </p:cNvSpPr>
          <p:nvPr/>
        </p:nvSpPr>
        <p:spPr>
          <a:xfrm>
            <a:off x="9048750" y="1771650"/>
            <a:ext cx="2333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27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输出、最终状态、连续两次调用</a:t>
            </a:r>
          </a:p>
        </p:txBody>
      </p:sp>
      <p:sp>
        <p:nvSpPr>
          <p:cNvPr id="9" name="直线连接符 8">
            <a:extLst>
              <a:ext uri="{FF2B5EF4-FFF2-40B4-BE49-F238E27FC236}">
                <a16:creationId xmlns:a16="http://schemas.microsoft.com/office/drawing/2014/main" id="{F0B80822-BF7B-4E9E-A8F8-026EBB0410B3}"/>
              </a:ext>
            </a:extLst>
          </p:cNvPr>
          <p:cNvSpPr>
            <a:spLocks noGrp="1"/>
          </p:cNvSpPr>
          <p:nvPr/>
        </p:nvSpPr>
        <p:spPr>
          <a:xfrm>
            <a:off x="2000250" y="2819400"/>
            <a:ext cx="938212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CFD8C6-E4FE-433E-9D96-1ED17D1F1805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Q2 · Q4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355849-76A5-43F5-95DC-0926B71ABD5C}"/>
              </a:ext>
            </a:extLst>
          </p:cNvPr>
          <p:cNvSpPr>
            <a:spLocks noGrp="1"/>
          </p:cNvSpPr>
          <p:nvPr/>
        </p:nvSpPr>
        <p:spPr>
          <a:xfrm>
            <a:off x="2000250" y="306705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分块合法不等于整体高效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920749-5E9E-4D6D-AE5F-07F2B9D022B4}"/>
              </a:ext>
            </a:extLst>
          </p:cNvPr>
          <p:cNvSpPr>
            <a:spLocks noGrp="1"/>
          </p:cNvSpPr>
          <p:nvPr/>
        </p:nvSpPr>
        <p:spPr>
          <a:xfrm>
            <a:off x="2000250" y="3533775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CF1223-78AA-449B-80FA-D7D63BA4E6D9}"/>
              </a:ext>
            </a:extLst>
          </p:cNvPr>
          <p:cNvSpPr>
            <a:spLocks noGrp="1"/>
          </p:cNvSpPr>
          <p:nvPr/>
        </p:nvSpPr>
        <p:spPr>
          <a:xfrm>
            <a:off x="9048750" y="3314700"/>
            <a:ext cx="2333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27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V128 0.920×   计算/显存 2.64%/1.24%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51E3D735-A366-43AD-A9B4-FD363CC1C5A8}"/>
              </a:ext>
            </a:extLst>
          </p:cNvPr>
          <p:cNvSpPr>
            <a:spLocks noGrp="1"/>
          </p:cNvSpPr>
          <p:nvPr/>
        </p:nvSpPr>
        <p:spPr>
          <a:xfrm>
            <a:off x="2000250" y="4362450"/>
            <a:ext cx="938212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AC55AF-9979-4A00-8CBD-2413740101EA}"/>
              </a:ext>
            </a:extLst>
          </p:cNvPr>
          <p:cNvSpPr>
            <a:spLocks noGrp="1"/>
          </p:cNvSpPr>
          <p:nvPr/>
        </p:nvSpPr>
        <p:spPr>
          <a:xfrm>
            <a:off x="762000" y="464820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Q3 · Q6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F8CAEA-8367-462F-B77A-F4051CA58365}"/>
              </a:ext>
            </a:extLst>
          </p:cNvPr>
          <p:cNvSpPr>
            <a:spLocks noGrp="1"/>
          </p:cNvSpPr>
          <p:nvPr/>
        </p:nvSpPr>
        <p:spPr>
          <a:xfrm>
            <a:off x="2000250" y="4610100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并行机会决定迁移和部署方式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F45FF-AD70-478B-92A2-DD1B1BBDF568}"/>
              </a:ext>
            </a:extLst>
          </p:cNvPr>
          <p:cNvSpPr>
            <a:spLocks noGrp="1"/>
          </p:cNvSpPr>
          <p:nvPr/>
        </p:nvSpPr>
        <p:spPr>
          <a:xfrm>
            <a:off x="2000250" y="5076825"/>
            <a:ext cx="685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D05AD7-7BBE-4800-96CF-1AC600E295B1}"/>
              </a:ext>
            </a:extLst>
          </p:cNvPr>
          <p:cNvSpPr>
            <a:spLocks noGrp="1"/>
          </p:cNvSpPr>
          <p:nvPr/>
        </p:nvSpPr>
        <p:spPr>
          <a:xfrm>
            <a:off x="9048750" y="4857750"/>
            <a:ext cx="2333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27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H12 value 切片时延 −27.0%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E514C7F9-F858-4440-A330-4881CE607F42}"/>
              </a:ext>
            </a:extLst>
          </p:cNvPr>
          <p:cNvSpPr>
            <a:spLocks noGrp="1"/>
          </p:cNvSpPr>
          <p:nvPr/>
        </p:nvSpPr>
        <p:spPr>
          <a:xfrm>
            <a:off x="2000250" y="5905500"/>
            <a:ext cx="9382125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1176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6C2061A6-C866-4D3F-9092-68B70DC26AA9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10  挑战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31F50A-7743-4D2F-BDC4-260D3D047027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四条挑战路径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1E4A53E8-6622-4ABE-AC5A-7A73EDF0D6C1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FACCA8-F0DB-4DFA-8675-DC428886244A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3ECD0F-26A2-4498-800A-13F3B9683803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0739CC-51EA-4A4D-976D-F25CDE0E132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Direct 直接替换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416098FB-B3F0-410B-8009-CDE226A972BA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2143125" cy="0"/>
          </a:xfrm>
          <a:prstGeom prst="line">
            <a:avLst/>
          </a:prstGeom>
          <a:noFill/>
          <a:ln w="28575">
            <a:solidFill>
              <a:srgbClr val="A84D4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556678-CD18-47D1-8D61-3F80331AC5F8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V128，只替换矩阵乘加单元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D01069-1C2A-4AA7-A19B-4216DD391227}"/>
              </a:ext>
            </a:extLst>
          </p:cNvPr>
          <p:cNvSpPr>
            <a:spLocks noGrp="1"/>
          </p:cNvSpPr>
          <p:nvPr/>
        </p:nvSpPr>
        <p:spPr>
          <a:xfrm>
            <a:off x="762000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0.920×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CED06645-F496-482F-860D-6DE742427BBA}"/>
              </a:ext>
            </a:extLst>
          </p:cNvPr>
          <p:cNvSpPr>
            <a:spLocks noGrp="1"/>
          </p:cNvSpPr>
          <p:nvPr/>
        </p:nvSpPr>
        <p:spPr>
          <a:xfrm>
            <a:off x="2952750" y="2571750"/>
            <a:ext cx="38100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16CAA33-8085-4E1C-83FE-FFF645079765}"/>
              </a:ext>
            </a:extLst>
          </p:cNvPr>
          <p:cNvSpPr>
            <a:spLocks noGrp="1"/>
          </p:cNvSpPr>
          <p:nvPr/>
        </p:nvSpPr>
        <p:spPr>
          <a:xfrm>
            <a:off x="3295650" y="2533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523C9B-1028-4E37-AA17-EE53F566779B}"/>
              </a:ext>
            </a:extLst>
          </p:cNvPr>
          <p:cNvSpPr>
            <a:spLocks noGrp="1"/>
          </p:cNvSpPr>
          <p:nvPr/>
        </p:nvSpPr>
        <p:spPr>
          <a:xfrm>
            <a:off x="3476625" y="1714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678330-42D2-422B-9AA8-744FC43344B5}"/>
              </a:ext>
            </a:extLst>
          </p:cNvPr>
          <p:cNvSpPr>
            <a:spLocks noGrp="1"/>
          </p:cNvSpPr>
          <p:nvPr/>
        </p:nvSpPr>
        <p:spPr>
          <a:xfrm>
            <a:off x="3476625" y="21145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V16 布局探针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0EDAA154-2116-4915-88D3-E71D19A39153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2143125" cy="0"/>
          </a:xfrm>
          <a:prstGeom prst="line">
            <a:avLst/>
          </a:prstGeom>
          <a:noFill/>
          <a:ln w="28575">
            <a:solidFill>
              <a:srgbClr val="C66A3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304A7E-081A-43C5-9BD4-9605403C50F6}"/>
              </a:ext>
            </a:extLst>
          </p:cNvPr>
          <p:cNvSpPr>
            <a:spLocks noGrp="1"/>
          </p:cNvSpPr>
          <p:nvPr/>
        </p:nvSpPr>
        <p:spPr>
          <a:xfrm>
            <a:off x="3476625" y="28765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拆分核心计算与承载层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1B5BE1-24E8-4C0E-A0A7-2833D1C7B298}"/>
              </a:ext>
            </a:extLst>
          </p:cNvPr>
          <p:cNvSpPr>
            <a:spLocks noGrp="1"/>
          </p:cNvSpPr>
          <p:nvPr/>
        </p:nvSpPr>
        <p:spPr>
          <a:xfrm>
            <a:off x="3476625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1.615× / 0.779×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670E0C18-0083-4A51-A131-9845CF1862E7}"/>
              </a:ext>
            </a:extLst>
          </p:cNvPr>
          <p:cNvSpPr>
            <a:spLocks noGrp="1"/>
          </p:cNvSpPr>
          <p:nvPr/>
        </p:nvSpPr>
        <p:spPr>
          <a:xfrm>
            <a:off x="5667375" y="2571750"/>
            <a:ext cx="38100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B417E97-5065-4014-9A4B-207D4575326D}"/>
              </a:ext>
            </a:extLst>
          </p:cNvPr>
          <p:cNvSpPr>
            <a:spLocks noGrp="1"/>
          </p:cNvSpPr>
          <p:nvPr/>
        </p:nvSpPr>
        <p:spPr>
          <a:xfrm>
            <a:off x="6010275" y="2533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0921C8-8E96-4479-A66A-4B669D5F48A7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39D07B-69CD-4BEF-B4F0-817A99A86698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H3 数据流重排</a:t>
            </a:r>
          </a:p>
        </p:txBody>
      </p:sp>
      <p:sp>
        <p:nvSpPr>
          <p:cNvPr id="21" name="直线连接符 20">
            <a:extLst>
              <a:ext uri="{FF2B5EF4-FFF2-40B4-BE49-F238E27FC236}">
                <a16:creationId xmlns:a16="http://schemas.microsoft.com/office/drawing/2014/main" id="{ED972CBE-4E79-4C09-81E5-D5A301B72F70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2143125" cy="0"/>
          </a:xfrm>
          <a:prstGeom prst="line">
            <a:avLst/>
          </a:prstGeom>
          <a:noFill/>
          <a:ln w="28575">
            <a:solidFill>
              <a:srgbClr val="A84D4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49E295-F86D-456F-B599-79D461571C0D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重排代数与串行路径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7D0D24-971C-4A33-9078-706D5B60356C}"/>
              </a:ext>
            </a:extLst>
          </p:cNvPr>
          <p:cNvSpPr>
            <a:spLocks noGrp="1"/>
          </p:cNvSpPr>
          <p:nvPr/>
        </p:nvSpPr>
        <p:spPr>
          <a:xfrm>
            <a:off x="6191250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H12 0.906×</a:t>
            </a:r>
          </a:p>
        </p:txBody>
      </p:sp>
      <p:sp>
        <p:nvSpPr>
          <p:cNvPr id="24" name="直线连接符 23">
            <a:extLst>
              <a:ext uri="{FF2B5EF4-FFF2-40B4-BE49-F238E27FC236}">
                <a16:creationId xmlns:a16="http://schemas.microsoft.com/office/drawing/2014/main" id="{8DE6077D-7146-48B7-8BC5-5DCFA15BB9A6}"/>
              </a:ext>
            </a:extLst>
          </p:cNvPr>
          <p:cNvSpPr>
            <a:spLocks noGrp="1"/>
          </p:cNvSpPr>
          <p:nvPr/>
        </p:nvSpPr>
        <p:spPr>
          <a:xfrm>
            <a:off x="8382000" y="2571750"/>
            <a:ext cx="381000" cy="0"/>
          </a:xfrm>
          <a:prstGeom prst="line">
            <a:avLst/>
          </a:prstGeom>
          <a:noFill/>
          <a:ln w="14288">
            <a:solidFill>
              <a:srgbClr val="D9D6CF"/>
            </a:solidFill>
            <a:prstDash val="solid"/>
          </a:ln>
        </p:spPr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5631AA2B-A0B1-4D07-8CD1-2A8D780631D7}"/>
              </a:ext>
            </a:extLst>
          </p:cNvPr>
          <p:cNvSpPr>
            <a:spLocks noGrp="1"/>
          </p:cNvSpPr>
          <p:nvPr/>
        </p:nvSpPr>
        <p:spPr>
          <a:xfrm>
            <a:off x="8724900" y="2533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D9D6CF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2A552A7-CE4E-4E62-9F42-229E5F4623D4}"/>
              </a:ext>
            </a:extLst>
          </p:cNvPr>
          <p:cNvSpPr>
            <a:spLocks noGrp="1"/>
          </p:cNvSpPr>
          <p:nvPr/>
        </p:nvSpPr>
        <p:spPr>
          <a:xfrm>
            <a:off x="8905875" y="1714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AD6FFE-86CB-4B01-9901-8809C183C051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CAKE 全栈协同</a:t>
            </a:r>
          </a:p>
        </p:txBody>
      </p:sp>
      <p:sp>
        <p:nvSpPr>
          <p:cNvPr id="28" name="直线连接符 27">
            <a:extLst>
              <a:ext uri="{FF2B5EF4-FFF2-40B4-BE49-F238E27FC236}">
                <a16:creationId xmlns:a16="http://schemas.microsoft.com/office/drawing/2014/main" id="{ED385F3B-5561-42A4-A655-0B530DFDD674}"/>
              </a:ext>
            </a:extLst>
          </p:cNvPr>
          <p:cNvSpPr>
            <a:spLocks noGrp="1"/>
          </p:cNvSpPr>
          <p:nvPr/>
        </p:nvSpPr>
        <p:spPr>
          <a:xfrm>
            <a:off x="8905875" y="2571750"/>
            <a:ext cx="2143125" cy="0"/>
          </a:xfrm>
          <a:prstGeom prst="line">
            <a:avLst/>
          </a:prstGeom>
          <a:noFill/>
          <a:ln w="28575">
            <a:solidFill>
              <a:srgbClr val="2F7A68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320231-DB0C-492D-9BBF-7472E922B0CD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219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驻留、角色、流水、布局与分发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FC5EC84-E33E-423B-8E84-8EAFCEB90414}"/>
              </a:ext>
            </a:extLst>
          </p:cNvPr>
          <p:cNvSpPr>
            <a:spLocks noGrp="1"/>
          </p:cNvSpPr>
          <p:nvPr/>
        </p:nvSpPr>
        <p:spPr>
          <a:xfrm>
            <a:off x="8905875" y="38290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H12 2.482×</a:t>
            </a:r>
          </a:p>
        </p:txBody>
      </p:sp>
      <p:sp>
        <p:nvSpPr>
          <p:cNvPr id="31" name="直线连接符 30">
            <a:extLst>
              <a:ext uri="{FF2B5EF4-FFF2-40B4-BE49-F238E27FC236}">
                <a16:creationId xmlns:a16="http://schemas.microsoft.com/office/drawing/2014/main" id="{F38A9951-DCBB-4631-AA65-C855B362B276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1057275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5B0C1C-F20A-46C0-88D2-79410AB6FDCF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每条路径都经过同一五步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E93F989-0D7E-41E7-AE59-A8FF14C08EBF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38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42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问题定义     候选实现     正确性门槛     计时范围     下一轮知识写回</a:t>
            </a:r>
          </a:p>
        </p:txBody>
      </p:sp>
    </p:spTree>
    <p:extLst>
      <p:ext uri="{BB962C8B-B14F-4D97-AF65-F5344CB8AC3E}">
        <p14:creationId xmlns:p14="http://schemas.microsoft.com/office/powerpoint/2010/main" val="173079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324C728F-D706-4D2F-B9A3-88C1D2920764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11  挑战结果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71713B-22B1-491E-8AA8-C90EE5499BA2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tcgen05 的承载成本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0224044-5720-4F14-9EBD-64CA77771EAE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92121C-23ED-4F22-9855-79D93A08EA36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33A988-80D9-4324-B29F-CF01F280D53A}"/>
              </a:ext>
            </a:extLst>
          </p:cNvPr>
          <p:cNvSpPr>
            <a:spLocks noGrp="1"/>
          </p:cNvSpPr>
          <p:nvPr/>
        </p:nvSpPr>
        <p:spPr>
          <a:xfrm>
            <a:off x="723900" y="14668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每一行使用自己的基线和计时范围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FD5C0D3C-18B7-403A-9828-639D298D6BC9}"/>
              </a:ext>
            </a:extLst>
          </p:cNvPr>
          <p:cNvSpPr>
            <a:spLocks noGrp="1"/>
          </p:cNvSpPr>
          <p:nvPr/>
        </p:nvSpPr>
        <p:spPr>
          <a:xfrm>
            <a:off x="3238500" y="1866900"/>
            <a:ext cx="0" cy="9525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8CB4C3-F571-4406-BBE3-300724E79117}"/>
              </a:ext>
            </a:extLst>
          </p:cNvPr>
          <p:cNvSpPr>
            <a:spLocks noGrp="1"/>
          </p:cNvSpPr>
          <p:nvPr/>
        </p:nvSpPr>
        <p:spPr>
          <a:xfrm>
            <a:off x="3000375" y="1628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0.0×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62DCD5C4-558C-4610-BAA1-A04EE71D2796}"/>
              </a:ext>
            </a:extLst>
          </p:cNvPr>
          <p:cNvSpPr>
            <a:spLocks noGrp="1"/>
          </p:cNvSpPr>
          <p:nvPr/>
        </p:nvSpPr>
        <p:spPr>
          <a:xfrm>
            <a:off x="5064125" y="1866900"/>
            <a:ext cx="0" cy="9525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24475-6482-41A0-AB98-BCD32C4C21B9}"/>
              </a:ext>
            </a:extLst>
          </p:cNvPr>
          <p:cNvSpPr>
            <a:spLocks noGrp="1"/>
          </p:cNvSpPr>
          <p:nvPr/>
        </p:nvSpPr>
        <p:spPr>
          <a:xfrm>
            <a:off x="4826000" y="1628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0.5×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A795B8A8-9D24-4FCE-A08C-545EF7A60E7D}"/>
              </a:ext>
            </a:extLst>
          </p:cNvPr>
          <p:cNvSpPr>
            <a:spLocks noGrp="1"/>
          </p:cNvSpPr>
          <p:nvPr/>
        </p:nvSpPr>
        <p:spPr>
          <a:xfrm>
            <a:off x="6889750" y="1866900"/>
            <a:ext cx="0" cy="9525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6E0178-8DA9-43A1-AAC5-AE41176E1152}"/>
              </a:ext>
            </a:extLst>
          </p:cNvPr>
          <p:cNvSpPr>
            <a:spLocks noGrp="1"/>
          </p:cNvSpPr>
          <p:nvPr/>
        </p:nvSpPr>
        <p:spPr>
          <a:xfrm>
            <a:off x="6651625" y="1628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1.0×</a:t>
            </a:r>
          </a:p>
        </p:txBody>
      </p:sp>
      <p:sp>
        <p:nvSpPr>
          <p:cNvPr id="12" name="直线连接符 11">
            <a:extLst>
              <a:ext uri="{FF2B5EF4-FFF2-40B4-BE49-F238E27FC236}">
                <a16:creationId xmlns:a16="http://schemas.microsoft.com/office/drawing/2014/main" id="{ABF54BF3-A223-4618-8F97-4FDC63F5582A}"/>
              </a:ext>
            </a:extLst>
          </p:cNvPr>
          <p:cNvSpPr>
            <a:spLocks noGrp="1"/>
          </p:cNvSpPr>
          <p:nvPr/>
        </p:nvSpPr>
        <p:spPr>
          <a:xfrm>
            <a:off x="8715375" y="1866900"/>
            <a:ext cx="0" cy="9525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76153B-A578-4419-B276-DF02ECC3DF32}"/>
              </a:ext>
            </a:extLst>
          </p:cNvPr>
          <p:cNvSpPr>
            <a:spLocks noGrp="1"/>
          </p:cNvSpPr>
          <p:nvPr/>
        </p:nvSpPr>
        <p:spPr>
          <a:xfrm>
            <a:off x="8477250" y="162877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1.5×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CEB04645-21EA-471A-AD16-C89CA03A1554}"/>
              </a:ext>
            </a:extLst>
          </p:cNvPr>
          <p:cNvSpPr>
            <a:spLocks noGrp="1"/>
          </p:cNvSpPr>
          <p:nvPr/>
        </p:nvSpPr>
        <p:spPr>
          <a:xfrm>
            <a:off x="6889750" y="1971675"/>
            <a:ext cx="0" cy="3429000"/>
          </a:xfrm>
          <a:prstGeom prst="line">
            <a:avLst/>
          </a:prstGeom>
          <a:noFill/>
          <a:ln w="12383">
            <a:solidFill>
              <a:srgbClr val="151A21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891454-1827-4A90-8A55-6F765A5BAE8A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Direct V128 直接替换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ACCEDA-52D9-483E-B914-3A60CB1BB7E8}"/>
              </a:ext>
            </a:extLst>
          </p:cNvPr>
          <p:cNvSpPr>
            <a:spLocks noGrp="1"/>
          </p:cNvSpPr>
          <p:nvPr/>
        </p:nvSpPr>
        <p:spPr>
          <a:xfrm>
            <a:off x="742950" y="2438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完整承载层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2CBB480C-9D11-42D1-B555-7B944F635CB4}"/>
              </a:ext>
            </a:extLst>
          </p:cNvPr>
          <p:cNvSpPr>
            <a:spLocks noGrp="1"/>
          </p:cNvSpPr>
          <p:nvPr/>
        </p:nvSpPr>
        <p:spPr>
          <a:xfrm>
            <a:off x="3238500" y="2095500"/>
            <a:ext cx="3358208" cy="361950"/>
          </a:xfrm>
          <a:prstGeom prst="roundRect">
            <a:avLst>
              <a:gd name="adj" fmla="val 7895"/>
            </a:avLst>
          </a:prstGeom>
          <a:solidFill>
            <a:srgbClr val="A84D47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78FC86-593B-48C5-9F36-FA9AA8F5D128}"/>
              </a:ext>
            </a:extLst>
          </p:cNvPr>
          <p:cNvSpPr>
            <a:spLocks noGrp="1"/>
          </p:cNvSpPr>
          <p:nvPr/>
        </p:nvSpPr>
        <p:spPr>
          <a:xfrm>
            <a:off x="6711008" y="2095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0.920×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9FF998-9677-4F63-98F5-0413BF5CD74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V16 首选布局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0A4D2D-243B-470D-9A09-97ED39081E76}"/>
              </a:ext>
            </a:extLst>
          </p:cNvPr>
          <p:cNvSpPr>
            <a:spLocks noGrp="1"/>
          </p:cNvSpPr>
          <p:nvPr/>
        </p:nvSpPr>
        <p:spPr>
          <a:xfrm>
            <a:off x="742950" y="3581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核心探针 L0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4B22A984-B193-461F-8DDB-47A5D5B6FC60}"/>
              </a:ext>
            </a:extLst>
          </p:cNvPr>
          <p:cNvSpPr>
            <a:spLocks noGrp="1"/>
          </p:cNvSpPr>
          <p:nvPr/>
        </p:nvSpPr>
        <p:spPr>
          <a:xfrm>
            <a:off x="3238500" y="3238500"/>
            <a:ext cx="5896845" cy="361950"/>
          </a:xfrm>
          <a:prstGeom prst="roundRect">
            <a:avLst>
              <a:gd name="adj" fmla="val 7895"/>
            </a:avLst>
          </a:prstGeom>
          <a:solidFill>
            <a:srgbClr val="2F7A68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4F134DE-F29E-4972-AACD-274E14EB020B}"/>
              </a:ext>
            </a:extLst>
          </p:cNvPr>
          <p:cNvSpPr>
            <a:spLocks noGrp="1"/>
          </p:cNvSpPr>
          <p:nvPr/>
        </p:nvSpPr>
        <p:spPr>
          <a:xfrm>
            <a:off x="9249645" y="3238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1.615×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0C6F73-0A5E-4C8D-A174-120A8F53E79C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V16 标量重构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FEF7181-410B-464B-ADCF-6DD04CE3A648}"/>
              </a:ext>
            </a:extLst>
          </p:cNvPr>
          <p:cNvSpPr>
            <a:spLocks noGrp="1"/>
          </p:cNvSpPr>
          <p:nvPr/>
        </p:nvSpPr>
        <p:spPr>
          <a:xfrm>
            <a:off x="742950" y="4724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承载层 L1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1AB7EEB-ED91-428E-AD61-C616AC4B51EA}"/>
              </a:ext>
            </a:extLst>
          </p:cNvPr>
          <p:cNvSpPr>
            <a:spLocks noGrp="1"/>
          </p:cNvSpPr>
          <p:nvPr/>
        </p:nvSpPr>
        <p:spPr>
          <a:xfrm>
            <a:off x="3238500" y="4381500"/>
            <a:ext cx="2842582" cy="361950"/>
          </a:xfrm>
          <a:prstGeom prst="roundRect">
            <a:avLst>
              <a:gd name="adj" fmla="val 7895"/>
            </a:avLst>
          </a:prstGeom>
          <a:solidFill>
            <a:srgbClr val="A84D47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379FEE8-CC33-4F34-8215-61D848AC1526}"/>
              </a:ext>
            </a:extLst>
          </p:cNvPr>
          <p:cNvSpPr>
            <a:spLocks noGrp="1"/>
          </p:cNvSpPr>
          <p:nvPr/>
        </p:nvSpPr>
        <p:spPr>
          <a:xfrm>
            <a:off x="6195382" y="4381500"/>
            <a:ext cx="1047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0.779×</a:t>
            </a:r>
          </a:p>
        </p:txBody>
      </p:sp>
      <p:sp>
        <p:nvSpPr>
          <p:cNvPr id="27" name="直线连接符 26">
            <a:extLst>
              <a:ext uri="{FF2B5EF4-FFF2-40B4-BE49-F238E27FC236}">
                <a16:creationId xmlns:a16="http://schemas.microsoft.com/office/drawing/2014/main" id="{3BC129E3-9680-4A10-8C79-3D2FADC502DB}"/>
              </a:ext>
            </a:extLst>
          </p:cNvPr>
          <p:cNvSpPr>
            <a:spLocks noGrp="1"/>
          </p:cNvSpPr>
          <p:nvPr/>
        </p:nvSpPr>
        <p:spPr>
          <a:xfrm>
            <a:off x="10287000" y="1771650"/>
            <a:ext cx="0" cy="369570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23A6804-B0C2-4473-B166-50BF8CB3E3E9}"/>
              </a:ext>
            </a:extLst>
          </p:cNvPr>
          <p:cNvSpPr>
            <a:spLocks noGrp="1"/>
          </p:cNvSpPr>
          <p:nvPr/>
        </p:nvSpPr>
        <p:spPr>
          <a:xfrm>
            <a:off x="10458450" y="19812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承载层成本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8D2795-5826-4AC1-9B64-6278922617D2}"/>
              </a:ext>
            </a:extLst>
          </p:cNvPr>
          <p:cNvSpPr>
            <a:spLocks noGrp="1"/>
          </p:cNvSpPr>
          <p:nvPr/>
        </p:nvSpPr>
        <p:spPr>
          <a:xfrm>
            <a:off x="10458450" y="25717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地址描述符</a:t>
            </a:r>
          </a:p>
        </p:txBody>
      </p:sp>
      <p:sp>
        <p:nvSpPr>
          <p:cNvPr id="30" name="直线连接符 29">
            <a:extLst>
              <a:ext uri="{FF2B5EF4-FFF2-40B4-BE49-F238E27FC236}">
                <a16:creationId xmlns:a16="http://schemas.microsoft.com/office/drawing/2014/main" id="{DB1C716C-A539-42B5-8052-9B2D9D417CBB}"/>
              </a:ext>
            </a:extLst>
          </p:cNvPr>
          <p:cNvSpPr>
            <a:spLocks noGrp="1"/>
          </p:cNvSpPr>
          <p:nvPr/>
        </p:nvSpPr>
        <p:spPr>
          <a:xfrm>
            <a:off x="10572750" y="2933700"/>
            <a:ext cx="91440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A06F26-2D07-47D0-8697-47D40E05DC97}"/>
              </a:ext>
            </a:extLst>
          </p:cNvPr>
          <p:cNvSpPr>
            <a:spLocks noGrp="1"/>
          </p:cNvSpPr>
          <p:nvPr/>
        </p:nvSpPr>
        <p:spPr>
          <a:xfrm>
            <a:off x="10458450" y="30670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张量内存</a:t>
            </a:r>
          </a:p>
        </p:txBody>
      </p:sp>
      <p:sp>
        <p:nvSpPr>
          <p:cNvPr id="32" name="直线连接符 31">
            <a:extLst>
              <a:ext uri="{FF2B5EF4-FFF2-40B4-BE49-F238E27FC236}">
                <a16:creationId xmlns:a16="http://schemas.microsoft.com/office/drawing/2014/main" id="{2547C97B-F4DE-4A7C-8D5E-347ABE49BDBD}"/>
              </a:ext>
            </a:extLst>
          </p:cNvPr>
          <p:cNvSpPr>
            <a:spLocks noGrp="1"/>
          </p:cNvSpPr>
          <p:nvPr/>
        </p:nvSpPr>
        <p:spPr>
          <a:xfrm>
            <a:off x="10572750" y="3429000"/>
            <a:ext cx="91440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4BD127-891B-47D5-89DE-986D15089C77}"/>
              </a:ext>
            </a:extLst>
          </p:cNvPr>
          <p:cNvSpPr>
            <a:spLocks noGrp="1"/>
          </p:cNvSpPr>
          <p:nvPr/>
        </p:nvSpPr>
        <p:spPr>
          <a:xfrm>
            <a:off x="10458450" y="35623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提交 / 等待</a:t>
            </a:r>
          </a:p>
        </p:txBody>
      </p:sp>
      <p:sp>
        <p:nvSpPr>
          <p:cNvPr id="34" name="直线连接符 33">
            <a:extLst>
              <a:ext uri="{FF2B5EF4-FFF2-40B4-BE49-F238E27FC236}">
                <a16:creationId xmlns:a16="http://schemas.microsoft.com/office/drawing/2014/main" id="{0871AC27-3B46-4630-A9EA-355C617BA0A3}"/>
              </a:ext>
            </a:extLst>
          </p:cNvPr>
          <p:cNvSpPr>
            <a:spLocks noGrp="1"/>
          </p:cNvSpPr>
          <p:nvPr/>
        </p:nvSpPr>
        <p:spPr>
          <a:xfrm>
            <a:off x="10572750" y="3924300"/>
            <a:ext cx="91440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F2F159-48DC-4F9E-858E-0D7C6D754F92}"/>
              </a:ext>
            </a:extLst>
          </p:cNvPr>
          <p:cNvSpPr>
            <a:spLocks noGrp="1"/>
          </p:cNvSpPr>
          <p:nvPr/>
        </p:nvSpPr>
        <p:spPr>
          <a:xfrm>
            <a:off x="10458450" y="40576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结果读回</a:t>
            </a:r>
          </a:p>
        </p:txBody>
      </p:sp>
      <p:sp>
        <p:nvSpPr>
          <p:cNvPr id="36" name="直线连接符 35">
            <a:extLst>
              <a:ext uri="{FF2B5EF4-FFF2-40B4-BE49-F238E27FC236}">
                <a16:creationId xmlns:a16="http://schemas.microsoft.com/office/drawing/2014/main" id="{3C5AAC94-A3EA-4B4B-BE88-B39E9E3FC38D}"/>
              </a:ext>
            </a:extLst>
          </p:cNvPr>
          <p:cNvSpPr>
            <a:spLocks noGrp="1"/>
          </p:cNvSpPr>
          <p:nvPr/>
        </p:nvSpPr>
        <p:spPr>
          <a:xfrm>
            <a:off x="10572750" y="4419600"/>
            <a:ext cx="91440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35FDBBE-0AFA-4AE7-9EBA-EFB6C926451A}"/>
              </a:ext>
            </a:extLst>
          </p:cNvPr>
          <p:cNvSpPr>
            <a:spLocks noGrp="1"/>
          </p:cNvSpPr>
          <p:nvPr/>
        </p:nvSpPr>
        <p:spPr>
          <a:xfrm>
            <a:off x="10458450" y="4552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数据布局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8F529B-A9BB-4F36-9243-59C7C549A44A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981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91758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6356C38-EED4-45C3-B465-B11DDA3CB57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12  挑战结果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7EF3BB-FBB1-42C0-92DD-9567AFD3A3A6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 dirty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CAKE </a:t>
            </a: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全栈路径</a:t>
            </a:r>
            <a:endParaRPr sz="3150" b="1" i="0" dirty="0">
              <a:solidFill>
                <a:srgbClr val="151A21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5BA39D11-FADE-48FC-B2D3-DB7673795412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3C909F-E773-43BD-A0BA-3183AA1592D6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2EDE50-4C02-4F90-86F2-BD1AA162D840}"/>
              </a:ext>
            </a:extLst>
          </p:cNvPr>
          <p:cNvSpPr>
            <a:spLocks noGrp="1"/>
          </p:cNvSpPr>
          <p:nvPr/>
        </p:nvSpPr>
        <p:spPr>
          <a:xfrm>
            <a:off x="742950" y="146685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公开接口完整加速比 = 官方时延 / 候选时延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EC676A-A5BC-4CEA-8F26-2AB46FE0DD9B}"/>
              </a:ext>
            </a:extLst>
          </p:cNvPr>
          <p:cNvSpPr>
            <a:spLocks noGrp="1"/>
          </p:cNvSpPr>
          <p:nvPr/>
        </p:nvSpPr>
        <p:spPr>
          <a:xfrm>
            <a:off x="6953250" y="1466850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图示代表工作负载；H3 为局部重排，CAKE 为全栈协同</a:t>
            </a:r>
          </a:p>
        </p:txBody>
      </p:sp>
      <p:sp>
        <p:nvSpPr>
          <p:cNvPr id="7" name="直线连接符 6">
            <a:extLst>
              <a:ext uri="{FF2B5EF4-FFF2-40B4-BE49-F238E27FC236}">
                <a16:creationId xmlns:a16="http://schemas.microsoft.com/office/drawing/2014/main" id="{AB35ED5A-2808-4039-A43C-46FDEC9B9AC6}"/>
              </a:ext>
            </a:extLst>
          </p:cNvPr>
          <p:cNvSpPr>
            <a:spLocks noGrp="1"/>
          </p:cNvSpPr>
          <p:nvPr/>
        </p:nvSpPr>
        <p:spPr>
          <a:xfrm>
            <a:off x="6066692" y="1885950"/>
            <a:ext cx="0" cy="3390900"/>
          </a:xfrm>
          <a:prstGeom prst="line">
            <a:avLst/>
          </a:prstGeom>
          <a:noFill/>
          <a:ln w="12383">
            <a:solidFill>
              <a:srgbClr val="151A21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5B5F36-DD7F-4774-B8AB-15BCB7BB48E4}"/>
              </a:ext>
            </a:extLst>
          </p:cNvPr>
          <p:cNvSpPr>
            <a:spLocks noGrp="1"/>
          </p:cNvSpPr>
          <p:nvPr/>
        </p:nvSpPr>
        <p:spPr>
          <a:xfrm>
            <a:off x="5876192" y="53340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97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1.0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880301-414B-4DFB-9A4B-1672BD27D1F7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H3 · H12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5DB5B5-8791-45D4-8E1C-A1CDB8CBBC16}"/>
              </a:ext>
            </a:extLst>
          </p:cNvPr>
          <p:cNvSpPr>
            <a:spLocks noGrp="1"/>
          </p:cNvSpPr>
          <p:nvPr/>
        </p:nvSpPr>
        <p:spPr>
          <a:xfrm>
            <a:off x="762000" y="2343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公开接口完整计时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146B51A-7495-4895-A224-684359D739A5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2388430" cy="342900"/>
          </a:xfrm>
          <a:prstGeom prst="roundRect">
            <a:avLst>
              <a:gd name="adj" fmla="val 8333"/>
            </a:avLst>
          </a:prstGeom>
          <a:solidFill>
            <a:srgbClr val="A84D47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DF2C18-25A9-4583-B075-449080C4BA25}"/>
              </a:ext>
            </a:extLst>
          </p:cNvPr>
          <p:cNvSpPr>
            <a:spLocks noGrp="1"/>
          </p:cNvSpPr>
          <p:nvPr/>
        </p:nvSpPr>
        <p:spPr>
          <a:xfrm>
            <a:off x="5931730" y="20383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0.905×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8E939B-BE37-47D5-B3B3-D174F09DAACD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H3 · H96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2E9904-52D3-4DA9-A5FC-9A605BA191FD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公开接口完整计时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E7E3405-6E28-4747-939F-637F3EA4FB9C}"/>
              </a:ext>
            </a:extLst>
          </p:cNvPr>
          <p:cNvSpPr>
            <a:spLocks noGrp="1"/>
          </p:cNvSpPr>
          <p:nvPr/>
        </p:nvSpPr>
        <p:spPr>
          <a:xfrm>
            <a:off x="3429000" y="2914650"/>
            <a:ext cx="1999635" cy="342900"/>
          </a:xfrm>
          <a:prstGeom prst="roundRect">
            <a:avLst>
              <a:gd name="adj" fmla="val 8333"/>
            </a:avLst>
          </a:prstGeom>
          <a:solidFill>
            <a:srgbClr val="A84D47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B4C065-C3D8-4845-B72D-BF4FE861C55E}"/>
              </a:ext>
            </a:extLst>
          </p:cNvPr>
          <p:cNvSpPr>
            <a:spLocks noGrp="1"/>
          </p:cNvSpPr>
          <p:nvPr/>
        </p:nvSpPr>
        <p:spPr>
          <a:xfrm>
            <a:off x="5542935" y="29146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0.758×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1009F6-CA0F-4C1C-A0A1-FB33FE1720EA}"/>
              </a:ext>
            </a:extLst>
          </p:cNvPr>
          <p:cNvSpPr>
            <a:spLocks noGrp="1"/>
          </p:cNvSpPr>
          <p:nvPr/>
        </p:nvSpPr>
        <p:spPr>
          <a:xfrm>
            <a:off x="762000" y="39243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CAKE · H12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2AE042-CB22-4190-BA75-E709664488E6}"/>
              </a:ext>
            </a:extLst>
          </p:cNvPr>
          <p:cNvSpPr>
            <a:spLocks noGrp="1"/>
          </p:cNvSpPr>
          <p:nvPr/>
        </p:nvSpPr>
        <p:spPr>
          <a:xfrm>
            <a:off x="762000" y="4248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完整计时 · T2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DB13FB7-F994-4FCE-8A42-6864CD51F201}"/>
              </a:ext>
            </a:extLst>
          </p:cNvPr>
          <p:cNvSpPr>
            <a:spLocks noGrp="1"/>
          </p:cNvSpPr>
          <p:nvPr/>
        </p:nvSpPr>
        <p:spPr>
          <a:xfrm>
            <a:off x="3429000" y="3943350"/>
            <a:ext cx="6547544" cy="342900"/>
          </a:xfrm>
          <a:prstGeom prst="roundRect">
            <a:avLst>
              <a:gd name="adj" fmla="val 8333"/>
            </a:avLst>
          </a:prstGeom>
          <a:solidFill>
            <a:srgbClr val="2F7A68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BB5A0-155E-42B4-B2BC-751F385DB893}"/>
              </a:ext>
            </a:extLst>
          </p:cNvPr>
          <p:cNvSpPr>
            <a:spLocks noGrp="1"/>
          </p:cNvSpPr>
          <p:nvPr/>
        </p:nvSpPr>
        <p:spPr>
          <a:xfrm>
            <a:off x="10090844" y="39433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2.482×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5BB811-E1C1-430E-A501-23F0EE71638A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CAKE · H96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1C014D-A173-466A-89F7-DED770863FB6}"/>
              </a:ext>
            </a:extLst>
          </p:cNvPr>
          <p:cNvSpPr>
            <a:spLocks noGrp="1"/>
          </p:cNvSpPr>
          <p:nvPr/>
        </p:nvSpPr>
        <p:spPr>
          <a:xfrm>
            <a:off x="762000" y="51244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完整计时 · T2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E96003D2-55FE-428A-88A1-7B9F1E2AB1D9}"/>
              </a:ext>
            </a:extLst>
          </p:cNvPr>
          <p:cNvSpPr>
            <a:spLocks noGrp="1"/>
          </p:cNvSpPr>
          <p:nvPr/>
        </p:nvSpPr>
        <p:spPr>
          <a:xfrm>
            <a:off x="3429000" y="4819650"/>
            <a:ext cx="5943248" cy="342900"/>
          </a:xfrm>
          <a:prstGeom prst="roundRect">
            <a:avLst>
              <a:gd name="adj" fmla="val 8333"/>
            </a:avLst>
          </a:prstGeom>
          <a:solidFill>
            <a:srgbClr val="2F7A68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5BF102-F10D-483A-BF77-890800DD3617}"/>
              </a:ext>
            </a:extLst>
          </p:cNvPr>
          <p:cNvSpPr>
            <a:spLocks noGrp="1"/>
          </p:cNvSpPr>
          <p:nvPr/>
        </p:nvSpPr>
        <p:spPr>
          <a:xfrm>
            <a:off x="9486548" y="4819650"/>
            <a:ext cx="1047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2.253×</a:t>
            </a:r>
          </a:p>
        </p:txBody>
      </p:sp>
      <p:sp>
        <p:nvSpPr>
          <p:cNvPr id="25" name="直线连接符 24">
            <a:extLst>
              <a:ext uri="{FF2B5EF4-FFF2-40B4-BE49-F238E27FC236}">
                <a16:creationId xmlns:a16="http://schemas.microsoft.com/office/drawing/2014/main" id="{F1791FE1-DC9B-4079-A76D-03059EBA43E2}"/>
              </a:ext>
            </a:extLst>
          </p:cNvPr>
          <p:cNvSpPr>
            <a:spLocks noGrp="1"/>
          </p:cNvSpPr>
          <p:nvPr/>
        </p:nvSpPr>
        <p:spPr>
          <a:xfrm>
            <a:off x="762000" y="5695950"/>
            <a:ext cx="1057275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2B3817-B7B3-4D58-AA66-A554859D900C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74923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169FC15D-0396-44D6-A0B0-C47483432BB6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13  挑战结果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764D93-42D2-48E9-92BF-147742F4F4C5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八轮探索结果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41795CF4-C3CE-4A65-BEBF-BDE1D02C7272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D460F-78E0-46A5-9A4D-8BC0077D62A7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268EBB-BFE2-4F69-868A-143D34B307B9}"/>
              </a:ext>
            </a:extLst>
          </p:cNvPr>
          <p:cNvSpPr>
            <a:spLocks noGrp="1"/>
          </p:cNvSpPr>
          <p:nvPr/>
        </p:nvSpPr>
        <p:spPr>
          <a:xfrm>
            <a:off x="742950" y="1485900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HMMA 兼容分支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98A61445-E380-44B7-95C8-4A42818EAD66}"/>
              </a:ext>
            </a:extLst>
          </p:cNvPr>
          <p:cNvSpPr>
            <a:spLocks noGrp="1"/>
          </p:cNvSpPr>
          <p:nvPr/>
        </p:nvSpPr>
        <p:spPr>
          <a:xfrm>
            <a:off x="742950" y="1743075"/>
            <a:ext cx="1381125" cy="0"/>
          </a:xfrm>
          <a:prstGeom prst="line">
            <a:avLst/>
          </a:prstGeom>
          <a:noFill/>
          <a:ln w="1905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9FA73B-08C1-460E-A265-C0BBEFFA7DE6}"/>
              </a:ext>
            </a:extLst>
          </p:cNvPr>
          <p:cNvSpPr>
            <a:spLocks noGrp="1"/>
          </p:cNvSpPr>
          <p:nvPr/>
        </p:nvSpPr>
        <p:spPr>
          <a:xfrm>
            <a:off x="6553200" y="1485900"/>
            <a:ext cx="1476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tcgen05 原生分支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258C56B7-B5C4-4CDA-AD66-2C199819831F}"/>
              </a:ext>
            </a:extLst>
          </p:cNvPr>
          <p:cNvSpPr>
            <a:spLocks noGrp="1"/>
          </p:cNvSpPr>
          <p:nvPr/>
        </p:nvSpPr>
        <p:spPr>
          <a:xfrm>
            <a:off x="6553200" y="1743075"/>
            <a:ext cx="1476375" cy="0"/>
          </a:xfrm>
          <a:prstGeom prst="line">
            <a:avLst/>
          </a:prstGeom>
          <a:noFill/>
          <a:ln w="19050">
            <a:solidFill>
              <a:srgbClr val="C66A3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7D3FC3-F1CD-4774-9A8E-81A76B0E2E14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nseq3  V32/V64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88FAB2-6B48-424F-A574-41E0253F3E2D}"/>
              </a:ext>
            </a:extLst>
          </p:cNvPr>
          <p:cNvSpPr>
            <a:spLocks noGrp="1"/>
          </p:cNvSpPr>
          <p:nvPr/>
        </p:nvSpPr>
        <p:spPr>
          <a:xfrm>
            <a:off x="4333875" y="20955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1.076×</a:t>
            </a:r>
          </a:p>
        </p:txBody>
      </p:sp>
      <p:sp>
        <p:nvSpPr>
          <p:cNvPr id="11" name="直线连接符 10">
            <a:extLst>
              <a:ext uri="{FF2B5EF4-FFF2-40B4-BE49-F238E27FC236}">
                <a16:creationId xmlns:a16="http://schemas.microsoft.com/office/drawing/2014/main" id="{1BA80808-149B-4633-97CC-D280B0172429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466725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544205E-EFBC-4653-8FD5-AD25854A5169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skew3  V32/V64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CFD1C5-87F5-42FD-80F7-16780766B9BD}"/>
              </a:ext>
            </a:extLst>
          </p:cNvPr>
          <p:cNvSpPr>
            <a:spLocks noGrp="1"/>
          </p:cNvSpPr>
          <p:nvPr/>
        </p:nvSpPr>
        <p:spPr>
          <a:xfrm>
            <a:off x="4333875" y="26860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1.077×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DE8FAEFF-8051-4310-88B6-A97D4A4B70B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466725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50B5EA-3BC3-48FA-AD9A-AD9F41746B17}"/>
              </a:ext>
            </a:extLst>
          </p:cNvPr>
          <p:cNvSpPr>
            <a:spLocks noGrp="1"/>
          </p:cNvSpPr>
          <p:nvPr/>
        </p:nvSpPr>
        <p:spPr>
          <a:xfrm>
            <a:off x="742950" y="32766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nseq4  V32/V64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587DF2-65BA-4FA5-9449-7D9E633A269E}"/>
              </a:ext>
            </a:extLst>
          </p:cNvPr>
          <p:cNvSpPr>
            <a:spLocks noGrp="1"/>
          </p:cNvSpPr>
          <p:nvPr/>
        </p:nvSpPr>
        <p:spPr>
          <a:xfrm>
            <a:off x="4333875" y="32766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75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0.962×</a:t>
            </a:r>
          </a:p>
        </p:txBody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1F1A8FF3-2CE1-46DB-B45B-1F3C61494C30}"/>
              </a:ext>
            </a:extLst>
          </p:cNvPr>
          <p:cNvSpPr>
            <a:spLocks noGrp="1"/>
          </p:cNvSpPr>
          <p:nvPr/>
        </p:nvSpPr>
        <p:spPr>
          <a:xfrm>
            <a:off x="742950" y="3657600"/>
            <a:ext cx="4667250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85A37F-E0B0-4E1A-A8A8-17973BBD38F4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H96  s173 相对 CAKE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DFEF64D-91AE-4057-AD33-A7E99600077F}"/>
              </a:ext>
            </a:extLst>
          </p:cNvPr>
          <p:cNvSpPr>
            <a:spLocks noGrp="1"/>
          </p:cNvSpPr>
          <p:nvPr/>
        </p:nvSpPr>
        <p:spPr>
          <a:xfrm>
            <a:off x="10239375" y="20955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1.033×</a:t>
            </a:r>
          </a:p>
        </p:txBody>
      </p:sp>
      <p:sp>
        <p:nvSpPr>
          <p:cNvPr id="20" name="直线连接符 19">
            <a:extLst>
              <a:ext uri="{FF2B5EF4-FFF2-40B4-BE49-F238E27FC236}">
                <a16:creationId xmlns:a16="http://schemas.microsoft.com/office/drawing/2014/main" id="{5D989A12-2D62-4DF7-B184-F57B7F72E3B0}"/>
              </a:ext>
            </a:extLst>
          </p:cNvPr>
          <p:cNvSpPr>
            <a:spLocks noGrp="1"/>
          </p:cNvSpPr>
          <p:nvPr/>
        </p:nvSpPr>
        <p:spPr>
          <a:xfrm>
            <a:off x="6553200" y="2438400"/>
            <a:ext cx="4733925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EB34A5-AC55-48CE-A483-805C09704866}"/>
              </a:ext>
            </a:extLst>
          </p:cNvPr>
          <p:cNvSpPr>
            <a:spLocks noGrp="1"/>
          </p:cNvSpPr>
          <p:nvPr/>
        </p:nvSpPr>
        <p:spPr>
          <a:xfrm>
            <a:off x="6553200" y="25908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负载极小化调度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65B2BC-3B0A-415D-ABA8-B8987BB1484E}"/>
              </a:ext>
            </a:extLst>
          </p:cNvPr>
          <p:cNvSpPr>
            <a:spLocks noGrp="1"/>
          </p:cNvSpPr>
          <p:nvPr/>
        </p:nvSpPr>
        <p:spPr>
          <a:xfrm>
            <a:off x="10239375" y="2590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0.938×</a:t>
            </a:r>
          </a:p>
        </p:txBody>
      </p:sp>
      <p:sp>
        <p:nvSpPr>
          <p:cNvPr id="23" name="直线连接符 22">
            <a:extLst>
              <a:ext uri="{FF2B5EF4-FFF2-40B4-BE49-F238E27FC236}">
                <a16:creationId xmlns:a16="http://schemas.microsoft.com/office/drawing/2014/main" id="{CDD6C1EA-36D1-4051-A6BB-724ECB481F54}"/>
              </a:ext>
            </a:extLst>
          </p:cNvPr>
          <p:cNvSpPr>
            <a:spLocks noGrp="1"/>
          </p:cNvSpPr>
          <p:nvPr/>
        </p:nvSpPr>
        <p:spPr>
          <a:xfrm>
            <a:off x="6553200" y="2933700"/>
            <a:ext cx="4733925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42F2652-89DD-4F66-9624-580198633295}"/>
              </a:ext>
            </a:extLst>
          </p:cNvPr>
          <p:cNvSpPr>
            <a:spLocks noGrp="1"/>
          </p:cNvSpPr>
          <p:nvPr/>
        </p:nvSpPr>
        <p:spPr>
          <a:xfrm>
            <a:off x="6553200" y="30861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首选布局 / 标量重构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E87024F-AE9B-4016-8731-058D62602A0B}"/>
              </a:ext>
            </a:extLst>
          </p:cNvPr>
          <p:cNvSpPr>
            <a:spLocks noGrp="1"/>
          </p:cNvSpPr>
          <p:nvPr/>
        </p:nvSpPr>
        <p:spPr>
          <a:xfrm>
            <a:off x="10239375" y="30861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1.227×</a:t>
            </a:r>
          </a:p>
        </p:txBody>
      </p:sp>
      <p:sp>
        <p:nvSpPr>
          <p:cNvPr id="26" name="直线连接符 25">
            <a:extLst>
              <a:ext uri="{FF2B5EF4-FFF2-40B4-BE49-F238E27FC236}">
                <a16:creationId xmlns:a16="http://schemas.microsoft.com/office/drawing/2014/main" id="{82999D26-71A2-4472-8628-B09B866FA28E}"/>
              </a:ext>
            </a:extLst>
          </p:cNvPr>
          <p:cNvSpPr>
            <a:spLocks noGrp="1"/>
          </p:cNvSpPr>
          <p:nvPr/>
        </p:nvSpPr>
        <p:spPr>
          <a:xfrm>
            <a:off x="6553200" y="3429000"/>
            <a:ext cx="4733925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8C56FFB-8A9A-409A-BFED-87E105DD6BCA}"/>
              </a:ext>
            </a:extLst>
          </p:cNvPr>
          <p:cNvSpPr>
            <a:spLocks noGrp="1"/>
          </p:cNvSpPr>
          <p:nvPr/>
        </p:nvSpPr>
        <p:spPr>
          <a:xfrm>
            <a:off x="6553200" y="35814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首选布局 / HMMA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20369F-08FB-4564-B823-46320055BD97}"/>
              </a:ext>
            </a:extLst>
          </p:cNvPr>
          <p:cNvSpPr>
            <a:spLocks noGrp="1"/>
          </p:cNvSpPr>
          <p:nvPr/>
        </p:nvSpPr>
        <p:spPr>
          <a:xfrm>
            <a:off x="10239375" y="35814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Microsoft YaHei"/>
                <a:cs typeface="Arial"/>
              </a:rPr>
              <a:t>0.955×</a:t>
            </a:r>
          </a:p>
        </p:txBody>
      </p:sp>
      <p:sp>
        <p:nvSpPr>
          <p:cNvPr id="29" name="直线连接符 28">
            <a:extLst>
              <a:ext uri="{FF2B5EF4-FFF2-40B4-BE49-F238E27FC236}">
                <a16:creationId xmlns:a16="http://schemas.microsoft.com/office/drawing/2014/main" id="{100E553A-7107-4A28-BA6F-EE2C8D8C43D5}"/>
              </a:ext>
            </a:extLst>
          </p:cNvPr>
          <p:cNvSpPr>
            <a:spLocks noGrp="1"/>
          </p:cNvSpPr>
          <p:nvPr/>
        </p:nvSpPr>
        <p:spPr>
          <a:xfrm>
            <a:off x="6553200" y="3924300"/>
            <a:ext cx="4733925" cy="0"/>
          </a:xfrm>
          <a:prstGeom prst="line">
            <a:avLst/>
          </a:prstGeom>
          <a:noFill/>
          <a:ln w="9525">
            <a:solidFill>
              <a:srgbClr val="ECE9E2"/>
            </a:solidFill>
            <a:prstDash val="solid"/>
          </a:ln>
        </p:spPr>
      </p:sp>
      <p:sp>
        <p:nvSpPr>
          <p:cNvPr id="30" name="直线连接符 29">
            <a:extLst>
              <a:ext uri="{FF2B5EF4-FFF2-40B4-BE49-F238E27FC236}">
                <a16:creationId xmlns:a16="http://schemas.microsoft.com/office/drawing/2014/main" id="{EB32E5E3-6C37-4D9D-9221-3BEA820C59A4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106680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37F6762-1D48-4AE2-8C85-B9FA5893DC0D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写入经验 IR 的三条知识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235F42-BA5B-4068-8655-4DBA0049CDCD}"/>
              </a:ext>
            </a:extLst>
          </p:cNvPr>
          <p:cNvSpPr>
            <a:spLocks noGrp="1"/>
          </p:cNvSpPr>
          <p:nvPr/>
        </p:nvSpPr>
        <p:spPr>
          <a:xfrm>
            <a:off x="762000" y="52006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38B209-5390-4567-8637-1AABAC742104}"/>
              </a:ext>
            </a:extLst>
          </p:cNvPr>
          <p:cNvSpPr>
            <a:spLocks noGrp="1"/>
          </p:cNvSpPr>
          <p:nvPr/>
        </p:nvSpPr>
        <p:spPr>
          <a:xfrm>
            <a:off x="1181100" y="51816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HMMA 仍可优化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229974-89C7-418E-BCAD-8F12310797F3}"/>
              </a:ext>
            </a:extLst>
          </p:cNvPr>
          <p:cNvSpPr>
            <a:spLocks noGrp="1"/>
          </p:cNvSpPr>
          <p:nvPr/>
        </p:nvSpPr>
        <p:spPr>
          <a:xfrm>
            <a:off x="3286125" y="5181600"/>
            <a:ext cx="766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nseq3 仍有 7.6% 的可资格收益。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E4D11B5-79DE-400A-A24A-3562A6441518}"/>
              </a:ext>
            </a:extLst>
          </p:cNvPr>
          <p:cNvSpPr>
            <a:spLocks noGrp="1"/>
          </p:cNvSpPr>
          <p:nvPr/>
        </p:nvSpPr>
        <p:spPr>
          <a:xfrm>
            <a:off x="762000" y="55816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FF2EEF-8BCD-4539-89A6-80869BA99802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工作负载决定胜负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E09FD1F-E5A1-4377-9D21-D0EA3D346611}"/>
              </a:ext>
            </a:extLst>
          </p:cNvPr>
          <p:cNvSpPr>
            <a:spLocks noGrp="1"/>
          </p:cNvSpPr>
          <p:nvPr/>
        </p:nvSpPr>
        <p:spPr>
          <a:xfrm>
            <a:off x="3286125" y="5562600"/>
            <a:ext cx="766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同一 V32/V64 在 nseq3 和 nseq4 方向相反。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7BCE27-2A99-4448-B752-A241C5284ACB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30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8845EC1-6F2C-4FF1-A8A2-7B6A55154954}"/>
              </a:ext>
            </a:extLst>
          </p:cNvPr>
          <p:cNvSpPr>
            <a:spLocks noGrp="1"/>
          </p:cNvSpPr>
          <p:nvPr/>
        </p:nvSpPr>
        <p:spPr>
          <a:xfrm>
            <a:off x="1181100" y="594360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局部收益须过门槛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C8FF297-6349-4783-8FFA-73E28032241E}"/>
              </a:ext>
            </a:extLst>
          </p:cNvPr>
          <p:cNvSpPr>
            <a:spLocks noGrp="1"/>
          </p:cNvSpPr>
          <p:nvPr/>
        </p:nvSpPr>
        <p:spPr>
          <a:xfrm>
            <a:off x="3286125" y="5943600"/>
            <a:ext cx="7667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首选布局优于标量重构，但相对匹配 HMMA 仍为 0.955×。</a:t>
            </a:r>
          </a:p>
        </p:txBody>
      </p:sp>
    </p:spTree>
    <p:extLst>
      <p:ext uri="{BB962C8B-B14F-4D97-AF65-F5344CB8AC3E}">
        <p14:creationId xmlns:p14="http://schemas.microsoft.com/office/powerpoint/2010/main" val="185540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C58041F6-6481-4C87-8EF3-6B157F43826B}"/>
              </a:ext>
            </a:extLst>
          </p:cNvPr>
          <p:cNvSpPr>
            <a:spLocks noGrp="1"/>
          </p:cNvSpPr>
          <p:nvPr/>
        </p:nvSpPr>
        <p:spPr>
          <a:xfrm>
            <a:off x="666750" y="3238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14  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2F19DF-96F0-4C47-8394-103F3815BA05}"/>
              </a:ext>
            </a:extLst>
          </p:cNvPr>
          <p:cNvSpPr>
            <a:spLocks noGrp="1"/>
          </p:cNvSpPr>
          <p:nvPr/>
        </p:nvSpPr>
        <p:spPr>
          <a:xfrm>
            <a:off x="666750" y="6477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部署策略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D3E8CED9-22D3-45E0-9FE5-1C9E7A018126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108585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FC5565-9902-4CD8-8336-8A0FAB080C5E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76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7624E75-B450-4C47-AA81-49698E79478D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输入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0A3163-D146-46A3-8884-4F67D89DD4D6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Microsoft YaHei"/>
                <a:cs typeface="Arial"/>
              </a:rPr>
              <a:t>设备与负载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38ABB5-08E1-4607-860C-F12EEC608C09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Microsoft YaHei"/>
                <a:cs typeface="Arial"/>
              </a:rPr>
              <a:t>设备型号、head 数、序列形态</a:t>
            </a:r>
          </a:p>
        </p:txBody>
      </p:sp>
      <p:sp>
        <p:nvSpPr>
          <p:cNvPr id="8" name="直线连接符 7">
            <a:extLst>
              <a:ext uri="{FF2B5EF4-FFF2-40B4-BE49-F238E27FC236}">
                <a16:creationId xmlns:a16="http://schemas.microsoft.com/office/drawing/2014/main" id="{F14682B8-3AD4-4E6F-A277-F6BC9BC996B0}"/>
              </a:ext>
            </a:extLst>
          </p:cNvPr>
          <p:cNvSpPr>
            <a:spLocks noGrp="1"/>
          </p:cNvSpPr>
          <p:nvPr/>
        </p:nvSpPr>
        <p:spPr>
          <a:xfrm>
            <a:off x="762000" y="2895600"/>
            <a:ext cx="2286000" cy="0"/>
          </a:xfrm>
          <a:prstGeom prst="line">
            <a:avLst/>
          </a:prstGeom>
          <a:noFill/>
          <a:ln w="12383">
            <a:solidFill>
              <a:srgbClr val="D9D6C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B0FFF7C-ED38-42F0-9D7D-C2FA62270E9F}"/>
              </a:ext>
            </a:extLst>
          </p:cNvPr>
          <p:cNvSpPr>
            <a:spLocks noGrp="1"/>
          </p:cNvSpPr>
          <p:nvPr/>
        </p:nvSpPr>
        <p:spPr>
          <a:xfrm>
            <a:off x="3714750" y="1638300"/>
            <a:ext cx="3476625" cy="1524000"/>
          </a:xfrm>
          <a:prstGeom prst="roundRect">
            <a:avLst>
              <a:gd name="adj" fmla="val 1875"/>
            </a:avLst>
          </a:prstGeom>
          <a:solidFill>
            <a:srgbClr val="101D2E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5DC321-B376-49D6-949D-331341F9DE3C}"/>
              </a:ext>
            </a:extLst>
          </p:cNvPr>
          <p:cNvSpPr>
            <a:spLocks noGrp="1"/>
          </p:cNvSpPr>
          <p:nvPr/>
        </p:nvSpPr>
        <p:spPr>
          <a:xfrm>
            <a:off x="4000500" y="1809750"/>
            <a:ext cx="2905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资格检查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DB99FC-3346-4B13-B48F-9E7797D3993C}"/>
              </a:ext>
            </a:extLst>
          </p:cNvPr>
          <p:cNvSpPr>
            <a:spLocks noGrp="1"/>
          </p:cNvSpPr>
          <p:nvPr/>
        </p:nvSpPr>
        <p:spPr>
          <a:xfrm>
            <a:off x="4000500" y="2266950"/>
            <a:ext cx="2905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350" b="0" i="0">
                <a:solidFill>
                  <a:srgbClr val="D7E0EA"/>
                </a:solidFill>
                <a:latin typeface="Arial"/>
                <a:ea typeface="Microsoft YaHei"/>
                <a:cs typeface="Arial"/>
              </a:defRPr>
            </a:pPr>
            <a:r>
              <a:rPr sz="1350" b="0" i="0">
                <a:solidFill>
                  <a:srgbClr val="D7E0EA"/>
                </a:solidFill>
                <a:latin typeface="Arial"/>
                <a:ea typeface="Microsoft YaHei"/>
                <a:cs typeface="Arial"/>
              </a:rPr>
              <a:t>B300，且 profile 已认证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E9B532-075B-4536-AB8C-9CDC8EB18C8B}"/>
              </a:ext>
            </a:extLst>
          </p:cNvPr>
          <p:cNvSpPr>
            <a:spLocks noGrp="1"/>
          </p:cNvSpPr>
          <p:nvPr/>
        </p:nvSpPr>
        <p:spPr>
          <a:xfrm>
            <a:off x="4000500" y="2571750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D7E0EA"/>
                </a:solidFill>
                <a:latin typeface="Arial"/>
                <a:ea typeface="Microsoft YaHei"/>
                <a:cs typeface="Arial"/>
              </a:rPr>
              <a:t>输出与状态正确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5A938A-ADF3-4B8A-BC80-BF189743B1E3}"/>
              </a:ext>
            </a:extLst>
          </p:cNvPr>
          <p:cNvSpPr>
            <a:spLocks noGrp="1"/>
          </p:cNvSpPr>
          <p:nvPr/>
        </p:nvSpPr>
        <p:spPr>
          <a:xfrm>
            <a:off x="4000500" y="2838450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D7E0EA"/>
                </a:solidFill>
                <a:latin typeface="Arial"/>
                <a:ea typeface="Microsoft YaHei"/>
                <a:cs typeface="Arial"/>
              </a:rPr>
              <a:t>公开接口完整计时通过</a:t>
            </a:r>
          </a:p>
        </p:txBody>
      </p:sp>
      <p:sp>
        <p:nvSpPr>
          <p:cNvPr id="14" name="直线连接符 13">
            <a:extLst>
              <a:ext uri="{FF2B5EF4-FFF2-40B4-BE49-F238E27FC236}">
                <a16:creationId xmlns:a16="http://schemas.microsoft.com/office/drawing/2014/main" id="{CF589BA0-FB83-45BB-A990-311C796A76E3}"/>
              </a:ext>
            </a:extLst>
          </p:cNvPr>
          <p:cNvSpPr>
            <a:spLocks noGrp="1"/>
          </p:cNvSpPr>
          <p:nvPr/>
        </p:nvSpPr>
        <p:spPr>
          <a:xfrm>
            <a:off x="3048000" y="2400300"/>
            <a:ext cx="666750" cy="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F54DF5B9-244A-401D-A568-FB1207B9B909}"/>
              </a:ext>
            </a:extLst>
          </p:cNvPr>
          <p:cNvSpPr>
            <a:spLocks noGrp="1"/>
          </p:cNvSpPr>
          <p:nvPr/>
        </p:nvSpPr>
        <p:spPr>
          <a:xfrm>
            <a:off x="7191375" y="2400300"/>
            <a:ext cx="495300" cy="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B39AA607-4686-4978-90D9-E1D8A6949635}"/>
              </a:ext>
            </a:extLst>
          </p:cNvPr>
          <p:cNvSpPr>
            <a:spLocks noGrp="1"/>
          </p:cNvSpPr>
          <p:nvPr/>
        </p:nvSpPr>
        <p:spPr>
          <a:xfrm>
            <a:off x="7686675" y="2114550"/>
            <a:ext cx="0" cy="1524000"/>
          </a:xfrm>
          <a:prstGeom prst="line">
            <a:avLst/>
          </a:prstGeom>
          <a:noFill/>
          <a:ln w="17145">
            <a:solidFill>
              <a:srgbClr val="66707A"/>
            </a:solidFill>
            <a:prstDash val="solid"/>
          </a:ln>
        </p:spPr>
      </p:sp>
      <p:sp>
        <p:nvSpPr>
          <p:cNvPr id="17" name="直线连接符 16">
            <a:extLst>
              <a:ext uri="{FF2B5EF4-FFF2-40B4-BE49-F238E27FC236}">
                <a16:creationId xmlns:a16="http://schemas.microsoft.com/office/drawing/2014/main" id="{872A4030-CDBB-4278-A206-21E1CE687A76}"/>
              </a:ext>
            </a:extLst>
          </p:cNvPr>
          <p:cNvSpPr>
            <a:spLocks noGrp="1"/>
          </p:cNvSpPr>
          <p:nvPr/>
        </p:nvSpPr>
        <p:spPr>
          <a:xfrm>
            <a:off x="7686675" y="2114550"/>
            <a:ext cx="409575" cy="0"/>
          </a:xfrm>
          <a:prstGeom prst="line">
            <a:avLst/>
          </a:prstGeom>
          <a:noFill/>
          <a:ln w="19050">
            <a:solidFill>
              <a:srgbClr val="2F7A68"/>
            </a:solidFill>
            <a:prstDash val="solid"/>
          </a:ln>
        </p:spPr>
      </p:sp>
      <p:sp>
        <p:nvSpPr>
          <p:cNvPr id="18" name="直线连接符 17">
            <a:extLst>
              <a:ext uri="{FF2B5EF4-FFF2-40B4-BE49-F238E27FC236}">
                <a16:creationId xmlns:a16="http://schemas.microsoft.com/office/drawing/2014/main" id="{0AD726E7-93BD-472E-B29B-AF7F83AE92B8}"/>
              </a:ext>
            </a:extLst>
          </p:cNvPr>
          <p:cNvSpPr>
            <a:spLocks noGrp="1"/>
          </p:cNvSpPr>
          <p:nvPr/>
        </p:nvSpPr>
        <p:spPr>
          <a:xfrm>
            <a:off x="7686675" y="3638550"/>
            <a:ext cx="409575" cy="0"/>
          </a:xfrm>
          <a:prstGeom prst="line">
            <a:avLst/>
          </a:prstGeom>
          <a:noFill/>
          <a:ln w="19050">
            <a:solidFill>
              <a:srgbClr val="2C5F91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4303B47-9595-433B-A24E-27B11518B42D}"/>
              </a:ext>
            </a:extLst>
          </p:cNvPr>
          <p:cNvSpPr>
            <a:spLocks noGrp="1"/>
          </p:cNvSpPr>
          <p:nvPr/>
        </p:nvSpPr>
        <p:spPr>
          <a:xfrm>
            <a:off x="7486650" y="179070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符合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E4D485-363F-4AAE-9A53-39E59E4CDCF0}"/>
              </a:ext>
            </a:extLst>
          </p:cNvPr>
          <p:cNvSpPr>
            <a:spLocks noGrp="1"/>
          </p:cNvSpPr>
          <p:nvPr/>
        </p:nvSpPr>
        <p:spPr>
          <a:xfrm>
            <a:off x="7486650" y="3752850"/>
            <a:ext cx="52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其余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0486EE70-15E6-43E3-97E7-B29C95EA7794}"/>
              </a:ext>
            </a:extLst>
          </p:cNvPr>
          <p:cNvSpPr>
            <a:spLocks noGrp="1"/>
          </p:cNvSpPr>
          <p:nvPr/>
        </p:nvSpPr>
        <p:spPr>
          <a:xfrm>
            <a:off x="8096250" y="1581150"/>
            <a:ext cx="3238500" cy="1066800"/>
          </a:xfrm>
          <a:prstGeom prst="roundRect">
            <a:avLst>
              <a:gd name="adj" fmla="val 2679"/>
            </a:avLst>
          </a:prstGeom>
          <a:solidFill>
            <a:srgbClr val="E7F1ED"/>
          </a:solidFill>
          <a:ln w="9525">
            <a:solidFill>
              <a:srgbClr val="2F7A6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CD072D-8749-4845-B9EC-9954719AE1DD}"/>
              </a:ext>
            </a:extLst>
          </p:cNvPr>
          <p:cNvSpPr>
            <a:spLocks noGrp="1"/>
          </p:cNvSpPr>
          <p:nvPr/>
        </p:nvSpPr>
        <p:spPr>
          <a:xfrm>
            <a:off x="8334375" y="171450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SM100 专用后端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认证路径 T2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D28A1709-A0C1-48E9-9549-718C4E99F5A0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238500" cy="1066800"/>
          </a:xfrm>
          <a:prstGeom prst="roundRect">
            <a:avLst>
              <a:gd name="adj" fmla="val 2679"/>
            </a:avLst>
          </a:prstGeom>
          <a:solidFill>
            <a:srgbClr val="E9EFF6"/>
          </a:solidFill>
          <a:ln w="9525">
            <a:solidFill>
              <a:srgbClr val="2C5F91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02F162-9CF0-45EF-97DB-EBD46AE67851}"/>
              </a:ext>
            </a:extLst>
          </p:cNvPr>
          <p:cNvSpPr>
            <a:spLocks noGrp="1"/>
          </p:cNvSpPr>
          <p:nvPr/>
        </p:nvSpPr>
        <p:spPr>
          <a:xfrm>
            <a:off x="8334375" y="3238500"/>
            <a:ext cx="2762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HMMA 兼容后端</a:t>
            </a:r>
          </a:p>
          <a:p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80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默认回退</a:t>
            </a:r>
          </a:p>
        </p:txBody>
      </p:sp>
      <p:sp>
        <p:nvSpPr>
          <p:cNvPr id="25" name="直线连接符 24">
            <a:extLst>
              <a:ext uri="{FF2B5EF4-FFF2-40B4-BE49-F238E27FC236}">
                <a16:creationId xmlns:a16="http://schemas.microsoft.com/office/drawing/2014/main" id="{A257C75F-1379-4FE6-A0B8-5EF9CBEAA1D3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0668000" cy="0"/>
          </a:xfrm>
          <a:prstGeom prst="line">
            <a:avLst/>
          </a:prstGeom>
          <a:noFill/>
          <a:ln w="9525">
            <a:solidFill>
              <a:srgbClr val="D9D6CF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845486-7DC0-4973-8727-32D69B708761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2F7A68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2F7A68"/>
                </a:solidFill>
                <a:latin typeface="Arial"/>
                <a:ea typeface="Microsoft YaHei"/>
                <a:cs typeface="Arial"/>
              </a:rPr>
              <a:t>路由规则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6C15701-08B6-454B-BF98-B1B74C04A396}"/>
              </a:ext>
            </a:extLst>
          </p:cNvPr>
          <p:cNvSpPr>
            <a:spLocks noGrp="1"/>
          </p:cNvSpPr>
          <p:nvPr/>
        </p:nvSpPr>
        <p:spPr>
          <a:xfrm>
            <a:off x="2286000" y="50863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B300 的已认证工作负载进入 SM100 T2。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40B40C-7A21-438D-8B7E-767F100E9BAF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2C5F91"/>
                </a:solidFill>
                <a:latin typeface="Arial"/>
                <a:ea typeface="Microsoft YaHei"/>
                <a:cs typeface="Arial"/>
              </a:rPr>
              <a:t>兼容策略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75F7A7-09B8-4368-8BB4-1CC65D26645B}"/>
              </a:ext>
            </a:extLst>
          </p:cNvPr>
          <p:cNvSpPr>
            <a:spLocks noGrp="1"/>
          </p:cNvSpPr>
          <p:nvPr/>
        </p:nvSpPr>
        <p:spPr>
          <a:xfrm>
            <a:off x="2286000" y="55054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其他条件回退 HMMA，保持跨代可用。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C5A810-7104-4625-861A-499212B0710F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Arial"/>
                <a:ea typeface="Microsoft YaHei"/>
                <a:cs typeface="Arial"/>
              </a:defRPr>
            </a:pPr>
            <a:r>
              <a:rPr sz="1350" b="1" i="0">
                <a:solidFill>
                  <a:srgbClr val="C66A3D"/>
                </a:solidFill>
                <a:latin typeface="Arial"/>
                <a:ea typeface="Microsoft YaHei"/>
                <a:cs typeface="Arial"/>
              </a:rPr>
              <a:t>晋级证据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1CB265-C2CC-4C42-A23A-DAAAB46DD16F}"/>
              </a:ext>
            </a:extLst>
          </p:cNvPr>
          <p:cNvSpPr>
            <a:spLocks noGrp="1"/>
          </p:cNvSpPr>
          <p:nvPr/>
        </p:nvSpPr>
        <p:spPr>
          <a:xfrm>
            <a:off x="2286000" y="5924550"/>
            <a:ext cx="819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Microsoft YaHei"/>
                <a:cs typeface="Arial"/>
              </a:rPr>
              <a:t>实际执行路径、输出与状态正确性、公开接口完整计时。</a:t>
            </a:r>
          </a:p>
        </p:txBody>
      </p:sp>
    </p:spTree>
    <p:extLst>
      <p:ext uri="{BB962C8B-B14F-4D97-AF65-F5344CB8AC3E}">
        <p14:creationId xmlns:p14="http://schemas.microsoft.com/office/powerpoint/2010/main" val="1132347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C37BDDA9-6307-409D-8EBD-DB67575BF87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619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Microsoft YaHei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论文方法图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8DB132-6D39-48D3-9BBC-384ABE2E9C5A}"/>
              </a:ext>
            </a:extLst>
          </p:cNvPr>
          <p:cNvSpPr>
            <a:spLocks noGrp="1"/>
          </p:cNvSpPr>
          <p:nvPr/>
        </p:nvSpPr>
        <p:spPr>
          <a:xfrm>
            <a:off x="8572500" y="571500"/>
            <a:ext cx="2914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Arial"/>
                <a:ea typeface="Microsoft YaHei"/>
                <a:cs typeface="Arial"/>
              </a:defRPr>
            </a:pPr>
            <a:r>
              <a:rPr sz="1125" b="0" i="0">
                <a:solidFill>
                  <a:srgbClr val="9AA8B8"/>
                </a:solidFill>
                <a:latin typeface="Arial"/>
                <a:ea typeface="Microsoft YaHei"/>
                <a:cs typeface="Arial"/>
              </a:rPr>
              <a:t>论文图 1  方法框架摘录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64E9D556-E819-4ECC-826B-E002A1BE0F70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6858000" cy="381000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9525">
            <a:solidFill>
              <a:srgbClr val="3443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622247"/>
            <a:ext cx="6572250" cy="317535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62FEECF-166A-4701-B96C-21EC564B10F0}"/>
              </a:ext>
            </a:extLst>
          </p:cNvPr>
          <p:cNvSpPr>
            <a:spLocks noGrp="1"/>
          </p:cNvSpPr>
          <p:nvPr/>
        </p:nvSpPr>
        <p:spPr>
          <a:xfrm>
            <a:off x="8020050" y="14097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Microsoft YaHei"/>
                <a:cs typeface="Arial"/>
              </a:rPr>
              <a:t>图中方法的中文释义</a:t>
            </a:r>
          </a:p>
        </p:txBody>
      </p:sp>
      <p:sp>
        <p:nvSpPr>
          <p:cNvPr id="6" name="直线连接符 5">
            <a:extLst>
              <a:ext uri="{FF2B5EF4-FFF2-40B4-BE49-F238E27FC236}">
                <a16:creationId xmlns:a16="http://schemas.microsoft.com/office/drawing/2014/main" id="{93AB6A2F-FE6C-4C63-9B0D-33607FCA5ADC}"/>
              </a:ext>
            </a:extLst>
          </p:cNvPr>
          <p:cNvSpPr>
            <a:spLocks noGrp="1"/>
          </p:cNvSpPr>
          <p:nvPr/>
        </p:nvSpPr>
        <p:spPr>
          <a:xfrm>
            <a:off x="8020050" y="1666875"/>
            <a:ext cx="1809750" cy="0"/>
          </a:xfrm>
          <a:prstGeom prst="line">
            <a:avLst/>
          </a:prstGeom>
          <a:noFill/>
          <a:ln w="19050">
            <a:solidFill>
              <a:srgbClr val="D2AA5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B40A04-17C1-4BBD-8B74-78F6F1B1DF2A}"/>
              </a:ext>
            </a:extLst>
          </p:cNvPr>
          <p:cNvSpPr>
            <a:spLocks noGrp="1"/>
          </p:cNvSpPr>
          <p:nvPr/>
        </p:nvSpPr>
        <p:spPr>
          <a:xfrm>
            <a:off x="8020050" y="19812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91B7E5"/>
                </a:solidFill>
                <a:latin typeface="Arial"/>
                <a:ea typeface="Microsoft YaHei"/>
                <a:cs typeface="Arial"/>
              </a:rPr>
              <a:t>双分支搜索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8E5F21-5E11-4704-B76C-652DE1A8D5C2}"/>
              </a:ext>
            </a:extLst>
          </p:cNvPr>
          <p:cNvSpPr>
            <a:spLocks noGrp="1"/>
          </p:cNvSpPr>
          <p:nvPr/>
        </p:nvSpPr>
        <p:spPr>
          <a:xfrm>
            <a:off x="8020050" y="23050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rPr>
              <a:t>HMMA 与 tcgen05 独立优化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980F0F-84EA-41C9-90E0-7F5937DCF087}"/>
              </a:ext>
            </a:extLst>
          </p:cNvPr>
          <p:cNvSpPr>
            <a:spLocks noGrp="1"/>
          </p:cNvSpPr>
          <p:nvPr/>
        </p:nvSpPr>
        <p:spPr>
          <a:xfrm>
            <a:off x="8020050" y="27622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F0A07A"/>
                </a:solidFill>
                <a:latin typeface="Arial"/>
                <a:ea typeface="Microsoft YaHei"/>
                <a:cs typeface="Arial"/>
              </a:rPr>
              <a:t>证据式晋级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961934-89E2-4528-A839-1FA432E310CE}"/>
              </a:ext>
            </a:extLst>
          </p:cNvPr>
          <p:cNvSpPr>
            <a:spLocks noGrp="1"/>
          </p:cNvSpPr>
          <p:nvPr/>
        </p:nvSpPr>
        <p:spPr>
          <a:xfrm>
            <a:off x="8020050" y="30861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rPr>
              <a:t>实际路径、正确性、成本同时携带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955966-73DA-4B0C-B910-BB20AA3B4022}"/>
              </a:ext>
            </a:extLst>
          </p:cNvPr>
          <p:cNvSpPr>
            <a:spLocks noGrp="1"/>
          </p:cNvSpPr>
          <p:nvPr/>
        </p:nvSpPr>
        <p:spPr>
          <a:xfrm>
            <a:off x="8020050" y="35433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91B7E5"/>
                </a:solidFill>
                <a:latin typeface="Arial"/>
                <a:ea typeface="Microsoft YaHei"/>
                <a:cs typeface="Arial"/>
              </a:rPr>
              <a:t>双层中间表示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FE0799-1433-45DE-A890-0A0E5B20140B}"/>
              </a:ext>
            </a:extLst>
          </p:cNvPr>
          <p:cNvSpPr>
            <a:spLocks noGrp="1"/>
          </p:cNvSpPr>
          <p:nvPr/>
        </p:nvSpPr>
        <p:spPr>
          <a:xfrm>
            <a:off x="8020050" y="386715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rPr>
              <a:t>把运行数据转成带适用范围的经验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877455-6CA3-443A-94AA-20239DBF5DE8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Arial"/>
                <a:ea typeface="Microsoft YaHei"/>
                <a:cs typeface="Arial"/>
              </a:defRPr>
            </a:pPr>
            <a:r>
              <a:rPr sz="1500" b="1" i="0">
                <a:solidFill>
                  <a:srgbClr val="F0A07A"/>
                </a:solidFill>
                <a:latin typeface="Arial"/>
                <a:ea typeface="Microsoft YaHei"/>
                <a:cs typeface="Arial"/>
              </a:rPr>
              <a:t>部署策略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F0DB66-896B-4570-AA7B-BA382CCF6DF4}"/>
              </a:ext>
            </a:extLst>
          </p:cNvPr>
          <p:cNvSpPr>
            <a:spLocks noGrp="1"/>
          </p:cNvSpPr>
          <p:nvPr/>
        </p:nvSpPr>
        <p:spPr>
          <a:xfrm>
            <a:off x="8020050" y="4648200"/>
            <a:ext cx="3238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Microsoft YaHei"/>
                <a:cs typeface="Arial"/>
              </a:rPr>
              <a:t>已认证 SM100 路径，未覆盖 profile 回退 HMMA</a:t>
            </a:r>
          </a:p>
        </p:txBody>
      </p:sp>
      <p:sp>
        <p:nvSpPr>
          <p:cNvPr id="15" name="直线连接符 14">
            <a:extLst>
              <a:ext uri="{FF2B5EF4-FFF2-40B4-BE49-F238E27FC236}">
                <a16:creationId xmlns:a16="http://schemas.microsoft.com/office/drawing/2014/main" id="{AFA0BCE9-A382-454E-A505-AD8E0C69A51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10875" cy="0"/>
          </a:xfrm>
          <a:prstGeom prst="line">
            <a:avLst/>
          </a:prstGeom>
          <a:noFill/>
          <a:ln w="9525">
            <a:solidFill>
              <a:srgbClr val="39485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26F241-EDCF-44EE-B16F-0BE6D2A2FB78}"/>
              </a:ext>
            </a:extLst>
          </p:cNvPr>
          <p:cNvSpPr>
            <a:spLocks noGrp="1"/>
          </p:cNvSpPr>
          <p:nvPr/>
        </p:nvSpPr>
        <p:spPr>
          <a:xfrm>
            <a:off x="704850" y="5848350"/>
            <a:ext cx="885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 i="0">
                <a:solidFill>
                  <a:srgbClr val="2C333B"/>
                </a:solidFill>
                <a:latin typeface="Arial"/>
                <a:ea typeface="Microsoft YaHei"/>
                <a:cs typeface="Arial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563FAD-B550-4195-9A5E-217FD78C1DF8}"/>
              </a:ext>
            </a:extLst>
          </p:cNvPr>
          <p:cNvSpPr>
            <a:spLocks noGrp="1"/>
          </p:cNvSpPr>
          <p:nvPr/>
        </p:nvSpPr>
        <p:spPr>
          <a:xfrm>
            <a:off x="9620250" y="6362700"/>
            <a:ext cx="1857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Arial"/>
                <a:ea typeface="Microsoft YaHei"/>
                <a:cs typeface="Arial"/>
              </a:defRPr>
            </a:pPr>
            <a:r>
              <a:rPr sz="1200" b="0" i="0">
                <a:solidFill>
                  <a:srgbClr val="AAB6C6"/>
                </a:solidFill>
                <a:latin typeface="Arial"/>
                <a:ea typeface="Microsoft YaHei"/>
                <a:cs typeface="Arial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456538989"/>
      </p:ext>
    </p:extLst>
  </p:cSld>
  <p:clrMapOvr>
    <a:masterClrMapping/>
  </p:clrMapOvr>
</p:sld>
</file>

<file path=ppt/theme/theme1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</Words>
  <Application>Microsoft Macintosh PowerPoint</Application>
  <DocSecurity>0</DocSecurity>
  <PresentationFormat>宽屏</PresentationFormat>
  <Paragraphs>364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Arial</vt:lpstr>
      <vt:lpstr>答辩公开版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FlashKDA SM100 迁移分析</dc:title>
  <dc:creator>奶龙必胜</dc:creator>
  <cp:lastModifiedBy>奶龙必胜</cp:lastModifiedBy>
  <cp:revision>1</cp:revision>
  <dcterms:created xsi:type="dcterms:W3CDTF">2026-09-10T13:43:10Z</dcterms:created>
  <dcterms:modified xsi:type="dcterms:W3CDTF">2026-09-10T13:50:11Z</dcterms:modified>
</cp:coreProperties>
</file>