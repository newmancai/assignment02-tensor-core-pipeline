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35f3f00ed34c3c" /><Relationship Type="http://schemas.openxmlformats.org/officeDocument/2006/relationships/extended-properties" Target="/docProps/app.xml" Id="R4011b33785b14092" /><Relationship Type="http://schemas.openxmlformats.org/officeDocument/2006/relationships/officeDocument" Target="/ppt/presentation.xml" Id="R219fc049de264a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c5105b89d941f0"/>
  </p:sldMasterIdLst>
  <p:notesMasterIdLst>
    <p:notesMasterId xmlns:r="http://schemas.openxmlformats.org/officeDocument/2006/relationships" r:id="R37310135e85448bf"/>
  </p:notesMasterIdLst>
  <p:sldIdLst>
    <p:sldId xmlns:r="http://schemas.openxmlformats.org/officeDocument/2006/relationships" id="256" r:id="R46c7b1f9ceba4621"/>
    <p:sldId xmlns:r="http://schemas.openxmlformats.org/officeDocument/2006/relationships" id="257" r:id="R593f468604894061"/>
    <p:sldId xmlns:r="http://schemas.openxmlformats.org/officeDocument/2006/relationships" id="258" r:id="R4a05b020124949ea"/>
    <p:sldId xmlns:r="http://schemas.openxmlformats.org/officeDocument/2006/relationships" id="259" r:id="R87559f480e894c3f"/>
    <p:sldId xmlns:r="http://schemas.openxmlformats.org/officeDocument/2006/relationships" id="260" r:id="Rddbd580a38f44fbd"/>
    <p:sldId xmlns:r="http://schemas.openxmlformats.org/officeDocument/2006/relationships" id="261" r:id="Rbf0eb3332d3c4d5e"/>
    <p:sldId xmlns:r="http://schemas.openxmlformats.org/officeDocument/2006/relationships" id="262" r:id="R1ec4f2bd7479423a"/>
    <p:sldId xmlns:r="http://schemas.openxmlformats.org/officeDocument/2006/relationships" id="263" r:id="Rf14a058eb7274ee4"/>
    <p:sldId xmlns:r="http://schemas.openxmlformats.org/officeDocument/2006/relationships" id="264" r:id="R49cb2b16fd87445c"/>
    <p:sldId xmlns:r="http://schemas.openxmlformats.org/officeDocument/2006/relationships" id="265" r:id="R962cfd32faae454c"/>
    <p:sldId xmlns:r="http://schemas.openxmlformats.org/officeDocument/2006/relationships" id="266" r:id="R8a7dc3c8886e48d8"/>
    <p:sldId xmlns:r="http://schemas.openxmlformats.org/officeDocument/2006/relationships" id="267" r:id="R28d69f5c68554446"/>
    <p:sldId xmlns:r="http://schemas.openxmlformats.org/officeDocument/2006/relationships" id="268" r:id="R6ea38286a73d4c5b"/>
    <p:sldId xmlns:r="http://schemas.openxmlformats.org/officeDocument/2006/relationships" id="269" r:id="R232e32909392417b"/>
    <p:sldId xmlns:r="http://schemas.openxmlformats.org/officeDocument/2006/relationships" id="270" r:id="R277b97f331154f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36cf4962584470" /><Relationship Type="http://schemas.openxmlformats.org/officeDocument/2006/relationships/slideMaster" Target="/ppt/slideMasters/slideMaster1.xml" Id="R81c5105b89d941f0" /><Relationship Type="http://schemas.openxmlformats.org/officeDocument/2006/relationships/notesMaster" Target="/ppt/notesMasters/notesMaster1.xml" Id="R37310135e85448bf" /><Relationship Type="http://schemas.openxmlformats.org/officeDocument/2006/relationships/presProps" Target="/ppt/presProps.xml" Id="Rb68704b5424f40b5" /><Relationship Type="http://schemas.openxmlformats.org/officeDocument/2006/relationships/tableStyles" Target="/ppt/tableStyles.xml" Id="R832ed73348b4464e" /><Relationship Type="http://schemas.openxmlformats.org/officeDocument/2006/relationships/slide" Target="/ppt/slides/slide1.xml" Id="R46c7b1f9ceba4621" /><Relationship Type="http://schemas.openxmlformats.org/officeDocument/2006/relationships/slide" Target="/ppt/slides/slide2.xml" Id="R593f468604894061" /><Relationship Type="http://schemas.openxmlformats.org/officeDocument/2006/relationships/slide" Target="/ppt/slides/slide3.xml" Id="R4a05b020124949ea" /><Relationship Type="http://schemas.openxmlformats.org/officeDocument/2006/relationships/slide" Target="/ppt/slides/slide4.xml" Id="R87559f480e894c3f" /><Relationship Type="http://schemas.openxmlformats.org/officeDocument/2006/relationships/slide" Target="/ppt/slides/slide5.xml" Id="Rddbd580a38f44fbd" /><Relationship Type="http://schemas.openxmlformats.org/officeDocument/2006/relationships/slide" Target="/ppt/slides/slide6.xml" Id="Rbf0eb3332d3c4d5e" /><Relationship Type="http://schemas.openxmlformats.org/officeDocument/2006/relationships/slide" Target="/ppt/slides/slide7.xml" Id="R1ec4f2bd7479423a" /><Relationship Type="http://schemas.openxmlformats.org/officeDocument/2006/relationships/slide" Target="/ppt/slides/slide8.xml" Id="Rf14a058eb7274ee4" /><Relationship Type="http://schemas.openxmlformats.org/officeDocument/2006/relationships/slide" Target="/ppt/slides/slide9.xml" Id="R49cb2b16fd87445c" /><Relationship Type="http://schemas.openxmlformats.org/officeDocument/2006/relationships/slide" Target="/ppt/slides/slide10.xml" Id="R962cfd32faae454c" /><Relationship Type="http://schemas.openxmlformats.org/officeDocument/2006/relationships/slide" Target="/ppt/slides/slide11.xml" Id="R8a7dc3c8886e48d8" /><Relationship Type="http://schemas.openxmlformats.org/officeDocument/2006/relationships/slide" Target="/ppt/slides/slide12.xml" Id="R28d69f5c68554446" /><Relationship Type="http://schemas.openxmlformats.org/officeDocument/2006/relationships/slide" Target="/ppt/slides/slide13.xml" Id="R6ea38286a73d4c5b" /><Relationship Type="http://schemas.openxmlformats.org/officeDocument/2006/relationships/slide" Target="/ppt/slides/slide14.xml" Id="R232e32909392417b" /><Relationship Type="http://schemas.openxmlformats.org/officeDocument/2006/relationships/slide" Target="/ppt/slides/slide15.xml" Id="R277b97f331154f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4a999978a94d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答辩公开版">
  <a:themeElements>
    <a:clrScheme name="答辩公开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答辩公开版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98d6e538f845d3" /><Relationship Type="http://schemas.openxmlformats.org/officeDocument/2006/relationships/notesMaster" Target="/ppt/notesMasters/notesMaster1.xml" Id="Rdafdbd66515e48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40911a54244548" /><Relationship Type="http://schemas.openxmlformats.org/officeDocument/2006/relationships/notesMaster" Target="/ppt/notesMasters/notesMaster1.xml" Id="Rcce440e1e10741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cf9a0c959b4078" /><Relationship Type="http://schemas.openxmlformats.org/officeDocument/2006/relationships/notesMaster" Target="/ppt/notesMasters/notesMaster1.xml" Id="R885f188c3d5048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799fd71e4c49a8" /><Relationship Type="http://schemas.openxmlformats.org/officeDocument/2006/relationships/notesMaster" Target="/ppt/notesMasters/notesMaster1.xml" Id="Rb756a61f63f54c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e4634b2b654600" /><Relationship Type="http://schemas.openxmlformats.org/officeDocument/2006/relationships/notesMaster" Target="/ppt/notesMasters/notesMaster1.xml" Id="R2fee3c5515f749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2c120437ad4593" /><Relationship Type="http://schemas.openxmlformats.org/officeDocument/2006/relationships/notesMaster" Target="/ppt/notesMasters/notesMaster1.xml" Id="R54815e286c1240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86bd4869b947a9" /><Relationship Type="http://schemas.openxmlformats.org/officeDocument/2006/relationships/notesMaster" Target="/ppt/notesMasters/notesMaster1.xml" Id="R2ee279cc7e5947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2d79760a874fef" /><Relationship Type="http://schemas.openxmlformats.org/officeDocument/2006/relationships/notesMaster" Target="/ppt/notesMasters/notesMaster1.xml" Id="Ra4c0c54d53de4c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4fc7be8c0d4284" /><Relationship Type="http://schemas.openxmlformats.org/officeDocument/2006/relationships/notesMaster" Target="/ppt/notesMasters/notesMaster1.xml" Id="R5c329c7ee95244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10e167c04c489e" /><Relationship Type="http://schemas.openxmlformats.org/officeDocument/2006/relationships/notesMaster" Target="/ppt/notesMasters/notesMaster1.xml" Id="R9794fc65baa140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8af80e1be74dbd" /><Relationship Type="http://schemas.openxmlformats.org/officeDocument/2006/relationships/notesMaster" Target="/ppt/notesMasters/notesMaster1.xml" Id="R3e9ac2ef5cd940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7a7152e9514139" /><Relationship Type="http://schemas.openxmlformats.org/officeDocument/2006/relationships/notesMaster" Target="/ppt/notesMasters/notesMaster1.xml" Id="R669328f4c76444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4996d66ec442a1" /><Relationship Type="http://schemas.openxmlformats.org/officeDocument/2006/relationships/notesMaster" Target="/ppt/notesMasters/notesMaster1.xml" Id="R0f8a12bb0d9742d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ceacb556ab4db4" /><Relationship Type="http://schemas.openxmlformats.org/officeDocument/2006/relationships/notesMaster" Target="/ppt/notesMasters/notesMaster1.xml" Id="Rab81b4eb4e7b45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e536da2a1c43f4" /><Relationship Type="http://schemas.openxmlformats.org/officeDocument/2006/relationships/notesMaster" Target="/ppt/notesMasters/notesMaster1.xml" Id="Rccb4eb88ba1741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9c90984ad64e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9bfa848a434429" /><Relationship Type="http://schemas.openxmlformats.org/officeDocument/2006/relationships/slideLayout" Target="/ppt/slideLayouts/slideLayout1.xml" Id="Rfa601129d1864d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601129d1864d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答辩公开版">
  <a:themeElements>
    <a:clrScheme name="答辩公开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答辩公开版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e41fb370144fd" /><Relationship Type="http://schemas.openxmlformats.org/officeDocument/2006/relationships/notesSlide" Target="/ppt/notesSlides/notesSlide1.xml" Id="R52919db250934a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87aac79ce4980" /><Relationship Type="http://schemas.openxmlformats.org/officeDocument/2006/relationships/notesSlide" Target="/ppt/notesSlides/notesSlide2.xml" Id="Rba79c06c8bdf4c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12cc10c5d4ae5" /><Relationship Type="http://schemas.openxmlformats.org/officeDocument/2006/relationships/notesSlide" Target="/ppt/notesSlides/notesSlide3.xml" Id="Rac45ad220b5540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b6053c60644dd" /><Relationship Type="http://schemas.openxmlformats.org/officeDocument/2006/relationships/notesSlide" Target="/ppt/notesSlides/notesSlide4.xml" Id="R9284e0c93f5b4b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ec4bc02264bca" /><Relationship Type="http://schemas.openxmlformats.org/officeDocument/2006/relationships/notesSlide" Target="/ppt/notesSlides/notesSlide5.xml" Id="R53f5250283554a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18d73a4d74ef7" /><Relationship Type="http://schemas.openxmlformats.org/officeDocument/2006/relationships/notesSlide" Target="/ppt/notesSlides/notesSlide6.xml" Id="R52d64c3dfbaa4f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f6d92f770408b" /><Relationship Type="http://schemas.openxmlformats.org/officeDocument/2006/relationships/image" Target="/ppt/media/image.png" Id="R41dd3a07cd0048c6" /><Relationship Type="http://schemas.openxmlformats.org/officeDocument/2006/relationships/notesSlide" Target="/ppt/notesSlides/notesSlide7.xml" Id="R837a0420ecb041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a02b1cd5c42b4" /><Relationship Type="http://schemas.openxmlformats.org/officeDocument/2006/relationships/image" Target="/ppt/media/image2.png" Id="R01b0e4580a3e435d" /><Relationship Type="http://schemas.openxmlformats.org/officeDocument/2006/relationships/notesSlide" Target="/ppt/notesSlides/notesSlide8.xml" Id="Rabd90813fd654f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7cf479e2644fa" /><Relationship Type="http://schemas.openxmlformats.org/officeDocument/2006/relationships/notesSlide" Target="/ppt/notesSlides/notesSlide9.xml" Id="R7aa03507900f41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2ce7d36474f85" /><Relationship Type="http://schemas.openxmlformats.org/officeDocument/2006/relationships/notesSlide" Target="/ppt/notesSlides/notesSlide10.xml" Id="R2994a1356df241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d19036a1e4f1c" /><Relationship Type="http://schemas.openxmlformats.org/officeDocument/2006/relationships/notesSlide" Target="/ppt/notesSlides/notesSlide11.xml" Id="R5edef5f08c4745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7c294aaa54472" /><Relationship Type="http://schemas.openxmlformats.org/officeDocument/2006/relationships/notesSlide" Target="/ppt/notesSlides/notesSlide12.xml" Id="R1161725ac4ea47e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04e73532a4e42" /><Relationship Type="http://schemas.openxmlformats.org/officeDocument/2006/relationships/image" Target="/ppt/media/image3.png" Id="Rc2351a4d212c4d3c" /><Relationship Type="http://schemas.openxmlformats.org/officeDocument/2006/relationships/notesSlide" Target="/ppt/notesSlides/notesSlide13.xml" Id="Rff1e8746d37148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9c36a46e44db3" /><Relationship Type="http://schemas.openxmlformats.org/officeDocument/2006/relationships/notesSlide" Target="/ppt/notesSlides/notesSlide14.xml" Id="R4c09f6b0e8f647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aecffa4914d7a" /><Relationship Type="http://schemas.openxmlformats.org/officeDocument/2006/relationships/image" Target="/ppt/media/image4.png" Id="R0e47d5e80cc6498f" /><Relationship Type="http://schemas.openxmlformats.org/officeDocument/2006/relationships/notesSlide" Target="/ppt/notesSlides/notesSlide15.xml" Id="R27d4734b81f947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B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50007E-BFFF-47AE-86A3-434F74AA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C1  FlashKDA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C282A98-CDDE-43DB-ACE3-9ADE9502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76350"/>
            <a:ext cx="685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4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4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FlashKDA 迁移到 SM100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4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4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是否值得？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22BCE-5182-465F-B4A1-A61CF5A9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0" i="0">
                <a:solidFill>
                  <a:srgbClr val="B8C1C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i="0">
                <a:solidFill>
                  <a:srgbClr val="B8C1CA"/>
                </a:solidFill>
                <a:latin typeface="Noto Sans CJK SC"/>
                <a:ea typeface="Noto Sans CJK SC"/>
                <a:cs typeface="Noto Sans CJK SC"/>
              </a:rPr>
              <a:t>B300 上的复现、因果分析与双分支探索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8B4A0-2FF2-4F60-9BC1-7006B7E1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048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0" i="0">
                <a:solidFill>
                  <a:srgbClr val="8894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8894A0"/>
                </a:solidFill>
                <a:latin typeface="Noto Sans CJK SC"/>
                <a:ea typeface="Noto Sans CJK SC"/>
                <a:cs typeface="Noto Sans CJK SC"/>
              </a:rPr>
              <a:t>一个问题，两条不对称路径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D8383-F998-411D-9CC6-C895D374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43100"/>
            <a:ext cx="129540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2863">
            <a:solidFill>
              <a:srgbClr val="315F8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D2688A-510C-4C3C-91B0-883FD5A8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57450"/>
            <a:ext cx="135255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4A8D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937F3-88A9-413D-8B32-C2E473C7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495550"/>
            <a:ext cx="99060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88">
            <a:solidFill>
              <a:srgbClr val="66A8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498D0-9A91-450A-8277-AA60D4F3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67050"/>
            <a:ext cx="125730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B3F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9F863-92F0-4952-9CE6-42C6235C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57600"/>
            <a:ext cx="131445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75">
            <a:solidFill>
              <a:srgbClr val="BF5C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7F08A-7D7F-467D-9E89-40D758D3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924300"/>
            <a:ext cx="106680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1438">
            <a:solidFill>
              <a:srgbClr val="E383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647F0-D0B7-4C60-AD58-FDFF2773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28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A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A124D-94B5-466F-828B-B15335DB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B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DC1B69-955C-44CA-B2F1-B5EF646B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003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B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78E0B-96FB-4495-B459-D7869724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623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6DE872-3AE3-4DC6-8E93-F8F383AD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29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21A84-DBB1-4CF1-8F2E-7E024CD8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305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C9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60236-29A5-4FA4-B16F-FB7A1ABB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73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7DB9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7DB9DF"/>
                </a:solidFill>
                <a:latin typeface="Noto Sans CJK SC"/>
                <a:ea typeface="Noto Sans CJK SC"/>
                <a:cs typeface="Noto Sans CJK SC"/>
              </a:rPr>
              <a:t>HMMA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763348-890A-4A1B-B2D8-487722D1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71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F0A0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F0A078"/>
                </a:solidFill>
                <a:latin typeface="Noto Sans CJK SC"/>
                <a:ea typeface="Noto Sans CJK SC"/>
                <a:cs typeface="Noto Sans CJK SC"/>
              </a:rPr>
              <a:t>tcgen05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E1B5E8-3568-43D5-AD83-ABFF4B68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7815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80C9A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80C9AE"/>
                </a:solidFill>
                <a:latin typeface="Noto Sans CJK SC"/>
                <a:ea typeface="Noto Sans CJK SC"/>
                <a:cs typeface="Noto Sans CJK SC"/>
              </a:rPr>
              <a:t>证据合同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E90C78-F5C8-4353-8EF6-2131E749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440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FD885E-CFDF-4DFD-AA5B-671ABA4D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7DB9D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7DB9DF"/>
                </a:solidFill>
                <a:latin typeface="Noto Sans CJK SC"/>
                <a:ea typeface="Noto Sans CJK SC"/>
                <a:cs typeface="Noto Sans CJK SC"/>
              </a:rPr>
              <a:t>01  复现与测量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DA880B-71F0-4A74-859B-7210EFEF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81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02  分析与知识写回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083C52-A1C7-411A-9D98-39CA6133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219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F0A0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F0A078"/>
                </a:solidFill>
                <a:latin typeface="Noto Sans CJK SC"/>
                <a:ea typeface="Noto Sans CJK SC"/>
                <a:cs typeface="Noto Sans CJK SC"/>
              </a:rPr>
              <a:t>03  挑战与条件部署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8C8CF0-0CB8-4E7A-9321-A8B1DE12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0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15F8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FC6511-37D8-4C83-9C7D-68D08157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67300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D2AA5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FBD6BB-A447-47A2-85F1-CFD70616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5054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C66A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EC1E05-B004-43C9-84A4-5ECB3CB7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769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奶龙必胜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4D3852-A754-4D8C-9F0E-BF1E75A3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11505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8FA0B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8FA0B2"/>
                </a:solidFill>
                <a:latin typeface="Noto Sans CJK SC"/>
                <a:ea typeface="Noto Sans CJK SC"/>
                <a:cs typeface="Noto Sans CJK SC"/>
              </a:rPr>
              <a:t>HMMA 兼容路径与 tcgen05 原生路径</a:t>
            </a:r>
          </a:p>
        </p:txBody>
      </p:sp>
    </p:spTree>
    <p:extLst>
      <p:ext uri="{BB962C8B-B14F-4D97-AF65-F5344CB8AC3E}">
        <p14:creationId xmlns:p14="http://schemas.microsoft.com/office/powerpoint/2010/main" val="4752463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8D7DA-9453-4B94-BAB4-DA97EC54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02  主线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D6EEF-489E-4D83-BA88-8375FBBF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C1 研究主线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2A26D-2427-4C0C-ADA1-160A8DA6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44C69-2C47-43E4-AAC4-A9A55633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02918-17CB-473B-AFCF-825F4256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66707A"/>
                </a:solidFill>
              </a:rPr>
              <a:t>研究问题  </a:t>
            </a:r>
            <a:r>
              <a:rPr b="1">
                <a:solidFill>
                  <a:srgbClr val="151A21"/>
                </a:solidFill>
              </a:rPr>
              <a:t>在同一套 FlashKDA 接口与数值约束下，SM100 原生路径能否产生足以覆盖迁移成本的实际收益？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D163F-24A6-493E-8775-DDE93706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CB0AE-7449-48AC-B9EB-5D651BFF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479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复现与测量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E4775-8B22-4A05-849A-E25E5B59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锁定执行身份、正确性与公开接口计时边界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75C5D-6A90-4D81-8371-57B074C8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574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指令身份、利用率与计时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BA5BE-9355-453C-BA00-23273B02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575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54FF3-0485-491A-B567-94EAF2E3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88D402-0F43-4310-8081-E52D7329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956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4A724-DE37-4D59-BB0B-C5430E68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052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用双分支闭环生成可比证据，再把六问收敛为规律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AF5C8D-2189-4969-A3D8-1271FF62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05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双分支 agent 与双层 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C3E5A0-E24F-4B6B-8771-4601FCCB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052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5874DC-6836-49E9-A551-7DFD8C10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1E1783-EAAD-4957-B94A-E0E6100B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434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挑战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E514AC-C581-42DE-AD95-9E2652D8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529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沿四条路径推进候选，并用数据与知识完成晋级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1949E1-190D-4DC0-A2C6-25C1239A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52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替换、布局与全栈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5DA609-EE23-4F88-B59B-F2BC5BA7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530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F90667-E2F0-4D70-9426-1E2334A7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578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2F7A68"/>
                </a:solidFill>
              </a:rPr>
              <a:t>回答  </a:t>
            </a:r>
            <a:r>
              <a:rPr>
                <a:solidFill>
                  <a:srgbClr val="151A21"/>
                </a:solidFill>
              </a:rPr>
              <a:t>在已测 B300 工作负载上，SM100 值得以受条件保护的后端方式加入；有效迁移单位是全栈协同，而不是单独替换矩阵乘加指令。</a:t>
            </a:r>
          </a:p>
        </p:txBody>
      </p:sp>
    </p:spTree>
    <p:extLst>
      <p:ext uri="{BB962C8B-B14F-4D97-AF65-F5344CB8AC3E}">
        <p14:creationId xmlns:p14="http://schemas.microsoft.com/office/powerpoint/2010/main" val="3016908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93CD77-A395-4663-AF50-4E906264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03  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00AB9-672D-4205-AE6C-AA03F510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KDA 递推结构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592D2-5F7C-4F95-8713-6A73E20B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E8F6F-7F27-45FD-8849-3D28D976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6D7B2-6E0B-475A-9620-EBFBAA44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一个 chunk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93CA9-34D4-4528-A4AB-39669E38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0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A1710-74A7-4CED-9BAD-A89D701A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42875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9EFF6"/>
          </a:solidFill>
          <a:ln xmlns:a="http://schemas.openxmlformats.org/drawingml/2006/main" w="9525">
            <a:solidFill>
              <a:srgbClr val="2C5F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58D07-85B5-4A82-B109-479BB55C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200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state t−1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16313-B48E-4754-B308-FA8BFF13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76450"/>
            <a:ext cx="161925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319FE-89A0-4952-8899-BD9E5032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76450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K1  prepare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B86C9-98E2-4612-94A1-FE9229A9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43100"/>
            <a:ext cx="238125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5EAE3"/>
          </a:solidFill>
          <a:ln xmlns:a="http://schemas.openxmlformats.org/drawingml/2006/main" w="9525">
            <a:solidFill>
              <a:srgbClr val="C66A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4B21F-4BCE-40BA-AADC-62029B8A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002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K2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16-step recurrence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552F6-1855-4430-BFFC-4C6679E8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state 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AFE68-96A0-4318-A4E4-0B73A445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28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8D321-7F75-40C6-9D81-CB875E99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4EA176-8DF1-4ED6-B8AE-09D6AAE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E677AC-5B14-4577-A10B-70D0E7FC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ABAFAF-AD03-498F-AD03-31B6D09A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288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67083A-3945-4397-BB47-AED45DDF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90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9F19F5-FA62-4271-938D-C9BCE3AB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288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41586C-2BC6-4889-8A33-F207075F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0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next chunk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69612F-B29A-4A09-8635-C8548228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45D9AE-77F8-46AB-BDB8-43C55108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CHUNK = 16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68BAC2-6F7F-49D2-A560-01761BDD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4810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数值范围、16×16 求解与 SM80 MMA 形状共同形成的设计点。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D1F33A-AFD7-458D-84FF-A69254A9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6245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E7A395-A191-48B4-8648-9D910D9C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递推正确性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42D37D-EC42-42D3-A81B-2B4A5FDA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9105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一次调用要同时验证 output 与 final state；连续调用还要检查 state handoff。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BCE99F-E6CF-42DD-9A03-AF5BF053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054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092877-4772-40A5-ADBC-3B560BB1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可利用并行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66D3F3-F45D-4608-B2A8-D2765968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3400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chunk 内 K2 串行，但 head、value slice、sequence 与角色仍可并行。</a:t>
            </a:r>
          </a:p>
        </p:txBody>
      </p:sp>
    </p:spTree>
    <p:extLst>
      <p:ext uri="{BB962C8B-B14F-4D97-AF65-F5344CB8AC3E}">
        <p14:creationId xmlns:p14="http://schemas.microsoft.com/office/powerpoint/2010/main" val="11558094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26DA33-9DFB-4209-9BC9-73E92135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04  复现与测量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1651D-1F12-4486-A3CC-F1F85195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官方路径仍使用 HMMA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B183F-1ED1-4C90-97AA-AD46FBAF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B93D2-7817-441A-BFD2-7932FE79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2EA23-4845-4510-81DA-BC6ED778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执行身份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7215E-3ABF-4DE9-851C-F8067A5D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5F9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13467-B7D4-44AF-B852-4A9788BB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FlashKDA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D7B03-95BF-48DA-B621-DCBD339F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版本已固定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1749D-2F8A-4EC5-9B7B-39C724BC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37D59-035B-4AC0-ABBA-D7B90D05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05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4DD06-B043-4AAD-802C-0D206CFB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CUTLASS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44E30-8EB4-4867-9523-7668783B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版本已固定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228D3-A1D6-4E2E-8D87-B02BDAD8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E0652-91EF-4100-B15B-5BA2A123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05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475C01-4CDB-45A0-B7BE-C00D0637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目标架构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32D50-393C-4F97-ACAB-BFF25B0F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sm_103a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A17A34-CB61-47EF-BE88-DC3B758D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58E565-E53D-4010-A843-3F7C6AB9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B3A31-74B9-4AE0-AD8B-22074F2E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反汇编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144CD4-6B52-46DF-9AA2-28782F01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实际加载 .so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AE7C79-59D6-46C2-A48A-E9147C96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0" cy="395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B4872F-A2AC-42A8-B0FB-0C46DA4B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3,640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4B4B31-77A9-411D-A02C-94C2EA89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条 HMMA 矩阵乘加指令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16F13D-286B-44C8-91CE-ACEF95B3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20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50F046-4046-4FF7-9B17-8EB05FCC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SM100 原生 tcgen05、UTCMMA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346335-A8D7-4322-983A-53FFCE49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源码命名不是证据；实际加载二进制的指令身份才是。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ECF09B-A553-4FD8-9D66-CE149D29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4646CC-2E4E-4EE3-B020-AC2AB8C1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同一复现同时记录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326407-4EDA-4F70-81AA-866A6C84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5E2C20-91AC-4C39-9DDD-CEF7F911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14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实际加载模块路径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3D49F9-ECCE-44E7-977E-B1EB1EA1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114B8E-7CAB-4DF0-8CA3-1822B4DC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源码与二进制 SHA-256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DE469F-B45C-4ED3-9CBE-0CB41732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D76CF5-33D1-4CA2-B13B-863AC174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38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Python 导入来源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A4A77E-CB6D-4634-B5F3-76E463FC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15F283-B80B-4F50-98F1-5C107F26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00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CUDA 头文件版本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A7E8B1-CF21-4262-BC84-42E873EF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4757C7-F9B3-43BC-9665-B16BD737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62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实际执行路径</a:t>
            </a:r>
          </a:p>
        </p:txBody>
      </p:sp>
    </p:spTree>
    <p:extLst>
      <p:ext uri="{BB962C8B-B14F-4D97-AF65-F5344CB8AC3E}">
        <p14:creationId xmlns:p14="http://schemas.microsoft.com/office/powerpoint/2010/main" val="14259420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FD188B-31F3-414A-A343-232C56DC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05  复现与测量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8183A-B606-4278-8A56-BA522465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计时与正确性边界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B2339-D8EC-453D-A3D9-7562341A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F6998-D3AF-4DAD-80DE-FCD70D13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83C94-6843-473B-B449-65867A1C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计时边界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97827-26AF-49C5-902A-A0295842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C5F9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EDE47-3641-4B79-8E94-4B5E1F90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首次编译与一次性分配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1D447-1CA3-4BF5-B383-5C0D2993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6096000" cy="6096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E9EFF6"/>
          </a:solidFill>
          <a:ln xmlns:a="http://schemas.openxmlformats.org/drawingml/2006/main" w="9525">
            <a:solidFill>
              <a:srgbClr val="2C5F9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3EF2E-9175-4035-BCA0-A47CC32C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布局处理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C9FE8-D772-4185-AAED-769B24AF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677A3-420F-4A0A-981A-5D1C0F62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工作区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5D57E-87B3-4717-81B8-31C58249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57FE6-6AED-4884-8921-B32BA6CF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内核执行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6AD04-C660-4656-8C57-D6211417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A10E4-F803-46B0-A180-8C70C36A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状态回写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4BD329-E74B-4F55-813D-6378252F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76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后续调用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4B9437-617B-48A8-93F2-73F17B90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F5AF73-53CD-4781-964D-22BC4041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743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C333E3-15E2-439E-82AE-79693BC9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813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C5F9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9EAD3-C784-454B-8A5F-A12AD2E6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241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5F9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02BD9A-DE80-40F5-ADAF-19BD6FC4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5F9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746692-0CD9-4483-81A5-CB2D4A2F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计时外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15E5A1-E9F2-4A56-B98A-7910B300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2417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公开接口计时范围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7BB70E-FCEE-454C-AD7E-E6BD6905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C4E795-E7E1-46DB-BC14-67B997A6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C65606-6104-47E3-A349-E08C9029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86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状态一致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79F6E8-DEA0-48C2-A9C4-7EC72F65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862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每次调用使用相同非零初态，重复测量时轮转状态槽位。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63FB9C-E237-412D-AD04-D4282F65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4E7E00-860D-403A-BD9E-49773333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进程隔离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B29703-C396-43A3-BAD3-1A3584DA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005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每个实现使用独立进程，避免 CUDA 符号覆盖改变实际执行路径。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0391D4-D194-41B8-BA79-FD845B7F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9FF111-A41C-4D6C-9833-BE06B921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双重正确性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159C7A-8E41-4579-80D1-68A16E32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14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同时检查输出与最终状态，并覆盖打包、尾块和连续两次调用。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86CFD5-5921-49A4-A91A-06AFF405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142A11-5B1F-4C23-A3D1-AB3F4E96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正式性能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4EE1D3-8ADA-449A-8D4A-8882F1D0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4292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冷 L2、CUDA 性能接口（CUPTI）、平衡顺序与 ABBA 交替复测。</a:t>
            </a:r>
          </a:p>
        </p:txBody>
      </p:sp>
    </p:spTree>
    <p:extLst>
      <p:ext uri="{BB962C8B-B14F-4D97-AF65-F5344CB8AC3E}">
        <p14:creationId xmlns:p14="http://schemas.microsoft.com/office/powerpoint/2010/main" val="5701748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F06ACD-978C-4227-AC5C-327FBD0B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06  分析方法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6F4FB-2E84-4F49-ACC1-82B0812B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双分支的公平性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40EAC-D58A-4F2F-BD5D-E4F8DA82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0F6F6-BBDC-48F3-A0C9-31BF968C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72E9D-9A47-4BA1-AB43-577D1CF6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架构收益只能从“同预算的最优边界”中被分离出来。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D4F2B-CEF1-4DC4-AADB-3C2F6D77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两条支路的搜索能量可以不同，但机会预算与证据门槛必须一致。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9A57B-7543-4D3E-8039-1C19E616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D2E"/>
          </a:solidFill>
          <a:ln xmlns:a="http://schemas.openxmlformats.org/drawingml/2006/main" w="14288">
            <a:solidFill>
              <a:srgbClr val="D2AA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6E351-1BDB-4F39-ACDA-CF07EF25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共同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AD660-3A35-42E4-A54F-30B547F4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33750"/>
            <a:ext cx="121920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9F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1D27A-56DC-40A5-B976-5D5414E4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43300"/>
            <a:ext cx="140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4C86B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A2688-22C1-4B88-8C03-DC399A45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43300"/>
            <a:ext cx="1381125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E9F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F1536-5EF0-45B2-A758-3BE9C57D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09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11332-FFE6-42F0-9579-D1DAFA56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09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543DE-E122-4179-BFB1-B169440C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52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0CFEA-3C92-4595-A3E9-DAE8CD01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71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HMMA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87218-C17A-46CC-B57D-6FE79932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90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H0  官方路径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6D8B1-4605-4698-A5A8-F552F02B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908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H1  同预算最优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7ABF00-9345-408D-A499-47C09A5E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71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局部闭包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04908A-88A1-449B-B5A3-7A8D9B4D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1200150" cy="914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503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008A1-E533-44C3-BBC1-FD7CB3FD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48200"/>
            <a:ext cx="14478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0">
            <a:solidFill>
              <a:srgbClr val="C767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7D57D4-1D30-40FC-91E1-3623CD86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648200"/>
            <a:ext cx="139065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E08A6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A00507-8ED6-4963-B4E0-EB9F4750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14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91003C-34DA-4586-9648-4B385F75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05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0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1F680B-4FBB-4482-B8DB-28FA810E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05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F0700C-A3AC-4FCC-A91D-AF840961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340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tcgen05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F9357A-313D-46EA-B4A7-D4D04169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911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T0  同预算接入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85C4A2-6E4D-413F-8C7D-6A0771B1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38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T1 / T2  布局与全栈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7B295C-B8EA-41D2-A39F-97270474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0" cy="373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561C99-6AA2-4B92-AA45-7FA5EAA5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3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共享证据合同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141794-05F1-476F-9DCB-45656C66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62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6DAEBC-12C7-4582-8E9F-173C1D87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24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工作负载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431CA4-DDBE-469A-A62D-1C339A23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242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q / k / v、状态和打包边界一致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7485B6-9074-4149-BAD7-B7291108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43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2AA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B130FB-22EF-4FE8-9289-3B724094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05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机会预算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1BC257-492B-4243-97E9-301316B2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052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每轮候选数和搜索机会匹配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662246-782A-44CF-A553-92D2F277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244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D5EA60-6668-4FA7-A6CC-42A7E75C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86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证据门槛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FFCE27-43FC-441F-BD0A-BD3B77AF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863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身份、output + final state、public-full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6AFA67-D637-4B9F-8CEC-780881D8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6735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362559-3AD2-4146-A521-4077761C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769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2F7A68"/>
                </a:solidFill>
              </a:rPr>
              <a:t>比较对象  </a:t>
            </a:r>
            <a:r>
              <a:rPr>
                <a:solidFill>
                  <a:srgbClr val="151A21"/>
                </a:solidFill>
              </a:rPr>
              <a:t>同预算的最优边界，不是新旧指令的标签。</a:t>
            </a:r>
          </a:p>
        </p:txBody>
      </p:sp>
    </p:spTree>
    <p:extLst>
      <p:ext uri="{BB962C8B-B14F-4D97-AF65-F5344CB8AC3E}">
        <p14:creationId xmlns:p14="http://schemas.microsoft.com/office/powerpoint/2010/main" val="17206267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d3a07cd0048c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7707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0e4580a3e435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584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7199FC-69BA-43B4-8A4C-92DFB241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09  分析结论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9D7F9-BBEB-4558-8368-23658582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三个关键结论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EFD6D-EE37-4860-A982-3A4890C9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A37CC-EB48-4656-A357-ECB8A7DB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18C95-AC7A-4D39-AD4D-DA9912C8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Q1 · Q5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43F93-A9D7-4265-ACE2-4AF021C2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240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数值约束决定分块设计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22FBD-D389-430E-BE65-C68DC0F2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9072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CHUNK16 同时约束指数恢复、16×16 求解和 BF16 状态舍入；扩大到 C32/C64 需要重新缩放或分块求解。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5B17D-C2CA-44F4-8368-F9A69A17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716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输出、最终状态、连续两次调用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3F2C7-5640-4AB4-8D44-15F8F819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1940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25AFB-3161-4C55-83C1-5B3A5989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Q2 · Q4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0BB24-E81A-4546-A4E6-5A9A5ECE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670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分块合法不等于整体高效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CB612-4177-4E16-BB13-D643372A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3377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tcgen05 还要承担张量内存（TMEM）、地址描述符、同步和读回；H12 受低并行度与关键路径限制。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35FC0-F38E-499F-975C-F8D2D411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147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V128 0.920×   计算/显存 2.64%/1.24%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B4A14-EBD0-4FD3-8BCB-51F7C639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6245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014579-4487-4EB7-9772-5C815113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Q3 · Q6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A41B3-6031-4992-BDD5-9533166F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101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并行机会决定迁移和部署方式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05077-0649-482C-9150-6F82E58D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7682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注意力头、数值维、序列和生产/消费角色仍可并行；收益经工作负载认证后进入条件后端。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B6AA20-11FD-4D31-9D47-564A026E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577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H12 value 切片时延 −27.0%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F23AA-8442-4744-B247-4D9F8903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0550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334938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6B62E9-083D-469D-93E9-DEA2CB09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10  挑战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22769-52AA-4392-A06A-C0FE54E6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四条挑战路径的投入与回报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DA739-AB2A-4353-8ED3-210D39FD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751429-88B0-4433-B768-76A0DD95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893AC-647F-4D9C-BFBD-C76CE4B4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气泡大小表示改造能量，位置表示完整路径的实测回报。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96068-36C4-4873-9327-F38A5207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快速试探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4DCC1-7A85-4B96-8A3B-6184C8B1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8102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全栈改造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FCA8D-B71F-4E94-889A-30E2D754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CCE31-DD99-4DF4-84C7-E210C1C2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9436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改造范围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F5E01-2E3F-4579-B9F8-77E72A11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66950"/>
            <a:ext cx="0" cy="3352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9D6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C8C356-0507-4B53-BCB7-0B8504AE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回报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1FE46-B40E-4C3B-A49D-DF3BD6A3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24350"/>
            <a:ext cx="211455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9655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6389B9-2F69-483B-B881-D1C1C16A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14750"/>
            <a:ext cx="2247900" cy="647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18B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755504-9200-4F1B-B306-E22E8FC5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14750"/>
            <a:ext cx="209550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9B6D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E5ED6A-B992-4CEF-A391-3D4251C5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14600"/>
            <a:ext cx="2057400" cy="1885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5E927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A4C68-CEBE-4137-A9DD-2D19DE29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4335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E6"/>
          </a:solidFill>
          <a:ln xmlns:a="http://schemas.openxmlformats.org/drawingml/2006/main" w="19050">
            <a:solidFill>
              <a:srgbClr val="A84D4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A94E5-3692-4691-BFCD-29D73047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62425"/>
            <a:ext cx="800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0.920×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DC3428-0470-4BF3-9C7D-10C75F5A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33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01  Direct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EEE0DF-339D-461F-B58A-8D49D31B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576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只替换矩阵乘加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580F37-935A-4F68-8EAB-AE7FE92F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09950"/>
            <a:ext cx="1257300" cy="1257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AE3"/>
          </a:solidFill>
          <a:ln xmlns:a="http://schemas.openxmlformats.org/drawingml/2006/main" w="19050">
            <a:solidFill>
              <a:srgbClr val="C66A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BFE3DB-7667-474C-8598-5ECBCBCE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576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1.615×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121055-9A32-4315-9614-10C02B4F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4812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0.779×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914973-1DED-4B4E-A7F1-6DA08C32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02  V16 布局探针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2184B4-093D-405F-B100-033E78E3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480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核心计算有潜力，承载层会吞掉收益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64A926-FB58-44C3-BFED-E1842902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E6"/>
          </a:solidFill>
          <a:ln xmlns:a="http://schemas.openxmlformats.org/drawingml/2006/main" w="19050">
            <a:solidFill>
              <a:srgbClr val="A84D4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B15A5E-3CE5-4DEF-A2C5-76C95258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1028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0.906×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8E0993-2698-4D15-9328-D67D589D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38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03  H3 数据流重排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D93BC0-E9C6-4F68-A8F3-3795BB28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814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正确，但串行路径未缩短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72FCB9-58BD-49F2-A1DC-81350D05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43150"/>
            <a:ext cx="2266950" cy="2266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23813">
            <a:solidFill>
              <a:srgbClr val="2F7A6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F2481D-F29E-46FC-9C76-916E7B54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1937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C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851BD3-AE85-41F0-8540-3BF681F9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0375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55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2.482×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56BF9F-0F9C-4787-8B2D-F0624E4E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242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9 / 9 获益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2462F3-C9E1-41E4-9AE7-46609664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04  CAKE 全栈协同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E381E6-14D8-43F2-9149-485ABDB4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81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驻留、角色、流水、布局与分发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8D9CCB-3379-4159-BA2E-1AB487F7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2935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C66A3D"/>
                </a:solidFill>
              </a:rPr>
              <a:t>轨迹展示的不是线性进步。 </a:t>
            </a:r>
            <a:r>
              <a:rPr>
                <a:solidFill>
                  <a:srgbClr val="151A21"/>
                </a:solidFill>
              </a:rPr>
              <a:t>Direct 和 H3 留下负边界，V16 揭示 carrier 问题，CAKE 才将这些知识组成完整收益。</a:t>
            </a:r>
          </a:p>
        </p:txBody>
      </p:sp>
    </p:spTree>
    <p:extLst>
      <p:ext uri="{BB962C8B-B14F-4D97-AF65-F5344CB8AC3E}">
        <p14:creationId xmlns:p14="http://schemas.microsoft.com/office/powerpoint/2010/main" val="19933351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3EB1E1-A38C-45BD-9631-8AD3939B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11  挑战结果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C9D1A-0028-4658-A7CE-A1291D81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tcgen05 的承载成本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4802F-2236-4B7F-9CD7-24FCB64F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E71FE-35F4-4F13-8FDD-55A59976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789B2-2422-4EAC-B0E3-79BEF6DE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每一行使用自己的基线和计时范围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C0F2D-CF14-43A9-BC6A-A462576E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32BF7-D361-4A87-A768-B4660571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0.0×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ACB21-B707-44E4-A0C8-9CEDC3A0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125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A3EFF-4E19-4E6B-BCD7-8178255D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0.5×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4D172-07F9-4F58-92E1-E69D20BF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750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CC0E3-EA5C-4B43-8AFC-ECE13AA4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625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1.0×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6AA08-75B0-4509-B8EF-DD6FB5E5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6A92FF-01F3-4ED1-A577-51DF5B71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1.5×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39AD6-D899-4267-B6E9-7D490722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750" y="1971675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51A2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6068A-0A3F-412F-AEEC-678F83DD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Direct V128 直接替换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EE011-4DFB-4D4D-9F27-FD0630F1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完整承载层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3AD59-A982-447F-BECD-5D0D1CC4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3358208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6738FD-6995-470A-87BB-276467F8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008" y="2095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0.920×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EEA7B-6C0C-41C8-9ADF-0F392C21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V16 首选布局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FF3F8B-0633-4388-A1AA-1977C914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核心探针 L0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BD9FE3-EEB2-498D-9AB5-35A598F9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5896845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CC909E-12B5-4A49-9B63-7CB9134E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645" y="3238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1.615×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E21582-64A3-4FEF-8155-E2410F49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V16 标量重构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C7809E-9605-405A-BBB2-EF057A28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承载层 L1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B361B3-3CDA-4923-B4C2-01A8C0E2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81500"/>
            <a:ext cx="2842582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1CD54B-9D60-4D46-AE88-434499F7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382" y="4381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0.779×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B71436-54B5-4BC6-A8E1-3A1ED26C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71650"/>
            <a:ext cx="0" cy="369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D09186-E8B6-4024-901D-BB17D692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9812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承载层成本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D85A6B-5B98-4CFE-9183-E84EFF29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571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地址描述符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5F2712-F150-4C2E-8578-8C6402F5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337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94E17B-E9F6-4F84-82FD-84515748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67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张量内存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C3B77A-0F28-4D81-8449-0B19AB0A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290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899ACA-69A3-4E1C-A415-F12BF14C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562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提交 / 等待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4613FE-AAB9-4216-B13A-80D4EA8B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243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13F1E7-EF76-4523-AECF-454429A2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05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结果读回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21B5B8-093C-49DE-A684-DCEE9523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196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B20B98-CD6C-4352-A409-924ACD3F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52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数据布局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38F5FD-F623-4D61-8491-C30923E5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C66A3D"/>
                </a:solidFill>
              </a:rPr>
              <a:t>知识  </a:t>
            </a:r>
            <a:r>
              <a:rPr>
                <a:solidFill>
                  <a:srgbClr val="151A21"/>
                </a:solidFill>
              </a:rPr>
              <a:t>tcgen05 核心计算有潜力，但布局、张量内存与同步协议决定公开路径是否胜出。</a:t>
            </a:r>
          </a:p>
        </p:txBody>
      </p:sp>
    </p:spTree>
    <p:extLst>
      <p:ext uri="{BB962C8B-B14F-4D97-AF65-F5344CB8AC3E}">
        <p14:creationId xmlns:p14="http://schemas.microsoft.com/office/powerpoint/2010/main" val="10211397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94EC29-3FC6-48DB-9541-82030C7F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12  挑战结果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D809B-E5FB-4675-B7BC-AF9D585C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CAKE 全栈路径：9/9 获益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67F6E2-9D07-4D53-83F4-760ED789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F76A3-AD32-4FD8-A7EB-51818E1A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0C0DA-5A1F-4B38-A058-7916C453E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公开接口完整加速比 = 官方时延 / 候选时延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24550-8CF4-4C9F-82A8-3277CBE6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668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图示代表工作负载；H3 为局部重排，CAKE 为全栈协同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77C57-1674-4BE7-879F-20A5F264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692" y="1885950"/>
            <a:ext cx="0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51A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2408E-06FA-43A4-B169-B34A18AC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192" y="5334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1.0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851A9-D681-4179-B389-4DBDD973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H3 · H12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30F0CF-2C86-48E5-91A6-9AED6C9C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公开接口完整计时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268BF-07FA-431B-BF26-E45BD785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2388430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CC1BF-8A10-4790-AA95-82690CED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730" y="20383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0.905×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AEDD5-3DEC-4F52-934F-ED98E994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H3 · H96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515E6F-7510-491A-8349-A26442D7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公开接口完整计时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C4CB4B-AFF4-43C4-A3F2-C39D2E3A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1999635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7DD0F-97FE-46DC-B6BC-78A46202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935" y="29146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A84D47"/>
                </a:solidFill>
                <a:latin typeface="Noto Sans CJK SC"/>
                <a:ea typeface="Noto Sans CJK SC"/>
                <a:cs typeface="Noto Sans CJK SC"/>
              </a:rPr>
              <a:t>0.758×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1B189C-7529-4870-B2A1-162F2204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CAKE · H12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47031-83B6-4A28-8B4C-39BE8911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完整计时 · T2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BC46B5-4768-42A7-996A-A292970A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43350"/>
            <a:ext cx="6547544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53CE77-5922-4879-A585-5D5BA472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844" y="39433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2.482×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D44763-31E1-4834-9241-C075763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CAKE · H96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A14098-E87F-4653-9C20-59A56EA1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完整计时 · T2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67ABB4-D0CE-4ECC-B527-058DC338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5943248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5B187F-4301-4524-82CD-930DD5F8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548" y="48196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2.253×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9A6D6E-6EA8-4716-8456-012ED43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0698A4-82D2-470C-9CBC-D9E52B99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2F7A68"/>
                </a:solidFill>
              </a:rPr>
              <a:t>知识  </a:t>
            </a:r>
            <a:r>
              <a:rPr>
                <a:solidFill>
                  <a:srgbClr val="151A21"/>
                </a:solidFill>
              </a:rPr>
              <a:t>代数重排不足以缩短完整路径；驻留、角色、同步屏障、流水、布局与分发的协同才形成稳定收益。</a:t>
            </a:r>
          </a:p>
        </p:txBody>
      </p:sp>
    </p:spTree>
    <p:extLst>
      <p:ext uri="{BB962C8B-B14F-4D97-AF65-F5344CB8AC3E}">
        <p14:creationId xmlns:p14="http://schemas.microsoft.com/office/powerpoint/2010/main" val="11295019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51a4d212c4d3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7519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E1C6FF-49BD-40CD-BF21-809453F5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14  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0D493-FAED-4948-9856-4DB58335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证据驱动的条件部署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5C006-9E8E-4100-B4FA-04ED9249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2AFCCB-509E-4D06-9301-F051BDEE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 i="0">
                <a:solidFill>
                  <a:srgbClr val="AAB1B8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174FB-5B46-49D6-88C8-C7813966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151A21"/>
                </a:solidFill>
                <a:latin typeface="Noto Sans CJK SC"/>
                <a:ea typeface="Noto Sans CJK SC"/>
                <a:cs typeface="Noto Sans CJK SC"/>
              </a:rPr>
              <a:t>线上路由不应求一刀切。证据足够的 profile 走 SM100，其余保留 HMMA 回退。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6030D-BA4E-4E0A-B686-FBD758FF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D2E"/>
          </a:solidFill>
          <a:ln xmlns:a="http://schemas.openxmlformats.org/drawingml/2006/main" w="17145">
            <a:solidFill>
              <a:srgbClr val="D2AA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FA791-1BCB-4965-8575-76D46ED0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8610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设备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负载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45BBB-5332-45B0-A15F-34C46883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242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型号 · head 数 · 序列形态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E996B-94E5-44FB-A796-1C12F88B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57550"/>
            <a:ext cx="146685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70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EC235-98E0-466A-A139-E3A10922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47950"/>
            <a:ext cx="2209800" cy="2209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D2E"/>
          </a:solidFill>
          <a:ln xmlns:a="http://schemas.openxmlformats.org/drawingml/2006/main" w="19050">
            <a:solidFill>
              <a:srgbClr val="2F7A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ACB2C-31CE-41C5-BAFA-A54FE8C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9085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资格检查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D448AE-ACF5-40E7-A87C-EAE6521E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623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D6E0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D6E0E8"/>
                </a:solidFill>
                <a:latin typeface="Noto Sans CJK SC"/>
                <a:ea typeface="Noto Sans CJK SC"/>
                <a:cs typeface="Noto Sans CJK SC"/>
              </a:rPr>
              <a:t>B300 且 profile 已认证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B4BA0-721E-4A78-8EC2-851C3F98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1477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D6E0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D6E0E8"/>
                </a:solidFill>
                <a:latin typeface="Noto Sans CJK SC"/>
                <a:ea typeface="Noto Sans CJK SC"/>
                <a:cs typeface="Noto Sans CJK SC"/>
              </a:rPr>
              <a:t>output + final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EBC8B-3BB4-49A0-98FE-928EC11D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481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D6E0E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D6E0E8"/>
                </a:solidFill>
                <a:latin typeface="Noto Sans CJK SC"/>
                <a:ea typeface="Noto Sans CJK SC"/>
                <a:cs typeface="Noto Sans CJK SC"/>
              </a:rPr>
              <a:t>public-full 通过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A5F25E-1052-4B3C-8616-D18A7355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57550"/>
            <a:ext cx="15240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2F7A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B32BE2-18CF-4647-9D90-7C04861B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4805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75">
            <a:solidFill>
              <a:srgbClr val="2F7A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DDE302-7391-44F8-BD08-CE50EA98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95750"/>
            <a:ext cx="146685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C5F9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07AB96-0137-41F4-8780-0D974FD1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053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2C5F9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AD8376-9286-4CB5-BB16-A7C737FF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14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C9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16E96E-7DFF-492C-814D-3FCABA49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72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B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6FEBF1-1DA0-48A2-89D5-A1A476C9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238125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1ED"/>
          </a:solidFill>
          <a:ln xmlns:a="http://schemas.openxmlformats.org/drawingml/2006/main" w="19050">
            <a:solidFill>
              <a:srgbClr val="2F7A6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04E005-EF16-467D-91B2-07F596B1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908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SM100 专用后端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AA82CB-EB06-4F61-AD63-7A6923BB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F7A68"/>
                </a:solidFill>
                <a:latin typeface="Noto Sans CJK SC"/>
                <a:ea typeface="Noto Sans CJK SC"/>
                <a:cs typeface="Noto Sans CJK SC"/>
              </a:rPr>
              <a:t>认证路径 T2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061E32-DA58-410C-94E0-871DCC11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9095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条件成立时启用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80F743-F465-4561-9821-612914DF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24350"/>
            <a:ext cx="238125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FF6"/>
          </a:solidFill>
          <a:ln xmlns:a="http://schemas.openxmlformats.org/drawingml/2006/main" w="19050">
            <a:solidFill>
              <a:srgbClr val="2C5F9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C635CA-FC57-4711-88F1-CE0E5B49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4345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HMMA 兼容后端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F17C61-73CB-4571-98C2-0B5C2FD6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181600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2C5F91"/>
                </a:solidFill>
                <a:latin typeface="Noto Sans CJK SC"/>
                <a:ea typeface="Noto Sans CJK SC"/>
                <a:cs typeface="Noto Sans CJK SC"/>
              </a:rPr>
              <a:t>默认回退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DAB0AC-6097-4AC9-8D75-619B2EFC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54355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66707A"/>
                </a:solidFill>
                <a:latin typeface="Noto Sans CJK SC"/>
                <a:ea typeface="Noto Sans CJK SC"/>
                <a:cs typeface="Noto Sans CJK SC"/>
              </a:rPr>
              <a:t>保持跨代可用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1C626C-C5D3-480B-BA49-2A92CC7C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01DEA6-491C-47AC-974D-A5CC3A79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1" i="0">
                <a:solidFill>
                  <a:srgbClr val="C66A3D"/>
                </a:solidFill>
                <a:latin typeface="Noto Sans CJK SC"/>
                <a:ea typeface="Noto Sans CJK SC"/>
                <a:cs typeface="Noto Sans CJK SC"/>
              </a:rPr>
              <a:t>晋级证据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500BC8-EFF9-40F3-B1F2-249AC7F0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381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实际执行路径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E08DB3-F958-483C-80CE-BB98B332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381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output + final state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9E93F3-779B-4C7A-81C7-10DDC4D8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381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公开接口完整计时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F1275E-97BA-4DC8-9002-9B0B1ABD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8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rPr>
              <a:t>工作负载认证</a:t>
            </a:r>
          </a:p>
        </p:txBody>
      </p:sp>
    </p:spTree>
    <p:extLst>
      <p:ext uri="{BB962C8B-B14F-4D97-AF65-F5344CB8AC3E}">
        <p14:creationId xmlns:p14="http://schemas.microsoft.com/office/powerpoint/2010/main" val="18349007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8BB1D9-8A22-4C81-8404-E1108630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 i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论文方法图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CF675-4F56-401E-9823-2BB0D097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125" b="0" i="0">
                <a:solidFill>
                  <a:srgbClr val="9AA8B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 i="0">
                <a:solidFill>
                  <a:srgbClr val="9AA8B8"/>
                </a:solidFill>
                <a:latin typeface="Noto Sans CJK SC"/>
                <a:ea typeface="Noto Sans CJK SC"/>
                <a:cs typeface="Noto Sans CJK SC"/>
              </a:rPr>
              <a:t>论文图 1  方法框架摘录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A6F18-CEC8-428B-AC7E-46BF9342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6858000" cy="3810000"/>
          </a:xfrm>
          <a:prstGeom xmlns:a="http://schemas.openxmlformats.org/drawingml/2006/main" prst="roundRect">
            <a:avLst>
              <a:gd name="adj" fmla="val 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3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7d5e80cc6498f"/>
          <a:stretch xmlns:a="http://schemas.openxmlformats.org/drawingml/2006/main"/>
        </p:blipFill>
        <p:spPr>
          <a:xfrm xmlns:a="http://schemas.openxmlformats.org/drawingml/2006/main">
            <a:off x="838200" y="1622247"/>
            <a:ext cx="6572250" cy="317535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5F67A-A34D-4EA6-9F76-9D895FC4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09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 i="0">
                <a:solidFill>
                  <a:srgbClr val="D2AA52"/>
                </a:solidFill>
                <a:latin typeface="Noto Sans CJK SC"/>
                <a:ea typeface="Noto Sans CJK SC"/>
                <a:cs typeface="Noto Sans CJK SC"/>
              </a:rPr>
              <a:t>图中方法的中文释义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3659D-3132-4E83-B281-5F6C379A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6687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AA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98EBF-2645-419C-97E6-AB584CF5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91B7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91B7E5"/>
                </a:solidFill>
                <a:latin typeface="Noto Sans CJK SC"/>
                <a:ea typeface="Noto Sans CJK SC"/>
                <a:cs typeface="Noto Sans CJK SC"/>
              </a:rPr>
              <a:t>双分支搜索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B98FA-748B-4AAC-B227-7A2B5E6E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rPr>
              <a:t>HMMA 与 tcgen05 独立优化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D10A3-64A9-4326-8F87-C8B1DAB7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62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F0A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F0A07A"/>
                </a:solidFill>
                <a:latin typeface="Noto Sans CJK SC"/>
                <a:ea typeface="Noto Sans CJK SC"/>
                <a:cs typeface="Noto Sans CJK SC"/>
              </a:rPr>
              <a:t>证据式晋级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CDB1A-D458-4345-9DA6-322ED506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rPr>
              <a:t>实际路径、正确性、成本同时携带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7012B-A0C8-468B-9BC4-538F8F1F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91B7E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91B7E5"/>
                </a:solidFill>
                <a:latin typeface="Noto Sans CJK SC"/>
                <a:ea typeface="Noto Sans CJK SC"/>
                <a:cs typeface="Noto Sans CJK SC"/>
              </a:rPr>
              <a:t>双层中间表示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7C978-6138-4E14-B3DF-3C719CC1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671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rPr>
              <a:t>把运行数据转成带适用范围的经验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0C2B4-FDCE-41AB-86B6-668CBF35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24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F0A0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 i="0">
                <a:solidFill>
                  <a:srgbClr val="F0A07A"/>
                </a:solidFill>
                <a:latin typeface="Noto Sans CJK SC"/>
                <a:ea typeface="Noto Sans CJK SC"/>
                <a:cs typeface="Noto Sans CJK SC"/>
              </a:rPr>
              <a:t>部署策略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5D116-50FC-4000-8F62-7971E6B6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482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 i="0">
                <a:solidFill>
                  <a:srgbClr val="C6CFD9"/>
                </a:solidFill>
                <a:latin typeface="Noto Sans CJK SC"/>
                <a:ea typeface="Noto Sans CJK SC"/>
                <a:cs typeface="Noto Sans CJK SC"/>
              </a:rPr>
              <a:t>已认证 SM100 路径，未覆盖 profile 回退 HMMA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CF50AE-A1F6-4181-BBD8-3BE36198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8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3CBDD-A817-4B4E-A867-8BA14DBC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2C333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b="1">
                <a:solidFill>
                  <a:srgbClr val="D2AA52"/>
                </a:solidFill>
              </a:rPr>
              <a:t>最终回答  </a:t>
            </a:r>
            <a:r>
              <a:rPr b="1">
                <a:solidFill>
                  <a:srgbClr val="FFFFFF"/>
                </a:solidFill>
              </a:rPr>
              <a:t>SM100 值得以受条件保护的后端方式加入 FlashKDA。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E81404-9BC7-4590-82B6-A043462D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627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AAB6C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i="0">
                <a:solidFill>
                  <a:srgbClr val="AAB6C6"/>
                </a:solidFill>
                <a:latin typeface="Noto Sans CJK SC"/>
                <a:ea typeface="Noto Sans CJK SC"/>
                <a:cs typeface="Noto Sans CJK SC"/>
              </a:rPr>
              <a:t>提问　奶龙必胜</a:t>
            </a:r>
          </a:p>
        </p:txBody>
      </p:sp>
    </p:spTree>
    <p:extLst>
      <p:ext uri="{BB962C8B-B14F-4D97-AF65-F5344CB8AC3E}">
        <p14:creationId xmlns:p14="http://schemas.microsoft.com/office/powerpoint/2010/main" val="1154488585"/>
      </p:ext>
    </p:extLst>
  </p:cSld>
</p:sld>
</file>

<file path=ppt/theme/theme1.xml><?xml version="1.0" encoding="utf-8"?>
<a:theme xmlns:a="http://schemas.openxmlformats.org/drawingml/2006/main" name="答辩公开版">
  <a:themeElements>
    <a:clrScheme name="答辩公开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CJK SC"/>
        <a:ea typeface="Noto Sans CJK SC"/>
        <a:cs typeface="Noto Sans CJK SC"/>
      </a:majorFont>
      <a:minorFont>
        <a:latin typeface="Noto Sans CJK SC"/>
        <a:ea typeface="Noto Sans CJK SC"/>
        <a:cs typeface="Noto Sans CJK SC"/>
      </a:minorFont>
    </a:fontScheme>
    <a:fmtScheme name="答辩公开版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奶龙必胜</dc:creator>
  <lastModifiedBy>Walnut Exporter</lastModifiedBy>
  <dc:title>FlashKDA SM100 迁移分析</dc:title>
  <dcterms:created xsi:type="dcterms:W3CDTF">2026-09-11T01:45:59.3370000Z</dcterms:created>
  <dcterms:modified xsi:type="dcterms:W3CDTF">2026-09-11T01:45:59.3380000Z</dcterms:modified>
</coreProperties>
</file>